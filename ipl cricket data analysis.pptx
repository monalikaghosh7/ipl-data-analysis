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handoutMasterIdLst>
    <p:handoutMasterId r:id="rId34"/>
  </p:handoutMasterIdLst>
  <p:sldIdLst>
    <p:sldId id="257" r:id="rId2"/>
    <p:sldId id="256" r:id="rId3"/>
    <p:sldId id="258" r:id="rId4"/>
    <p:sldId id="259" r:id="rId5"/>
    <p:sldId id="260" r:id="rId6"/>
    <p:sldId id="262" r:id="rId7"/>
    <p:sldId id="264" r:id="rId8"/>
    <p:sldId id="263" r:id="rId9"/>
    <p:sldId id="265" r:id="rId10"/>
    <p:sldId id="266" r:id="rId11"/>
    <p:sldId id="267" r:id="rId12"/>
    <p:sldId id="268" r:id="rId13"/>
    <p:sldId id="269" r:id="rId14"/>
    <p:sldId id="270" r:id="rId15"/>
    <p:sldId id="271" r:id="rId16"/>
    <p:sldId id="294" r:id="rId17"/>
    <p:sldId id="295" r:id="rId18"/>
    <p:sldId id="273" r:id="rId19"/>
    <p:sldId id="296" r:id="rId20"/>
    <p:sldId id="297" r:id="rId21"/>
    <p:sldId id="298" r:id="rId22"/>
    <p:sldId id="299" r:id="rId23"/>
    <p:sldId id="300" r:id="rId24"/>
    <p:sldId id="274" r:id="rId25"/>
    <p:sldId id="284" r:id="rId26"/>
    <p:sldId id="285" r:id="rId27"/>
    <p:sldId id="287" r:id="rId28"/>
    <p:sldId id="289" r:id="rId29"/>
    <p:sldId id="291" r:id="rId30"/>
    <p:sldId id="292" r:id="rId31"/>
    <p:sldId id="293" r:id="rId32"/>
  </p:sldIdLst>
  <p:sldSz cx="18288000" cy="10287000"/>
  <p:notesSz cx="6858000" cy="9144000"/>
  <p:embeddedFontLst>
    <p:embeddedFont>
      <p:font typeface="Glacial Indifference" panose="020B0604020202020204" charset="0"/>
      <p:regular r:id="rId35"/>
    </p:embeddedFont>
    <p:embeddedFont>
      <p:font typeface="Glacial Indifference Bold" panose="020B0604020202020204" charset="0"/>
      <p:regular r:id="rId36"/>
    </p:embeddedFont>
    <p:embeddedFont>
      <p:font typeface="Roboto Slab" pitchFamily="2" charset="0"/>
      <p:regular r:id="rId37"/>
      <p:bold r:id="rId38"/>
    </p:embeddedFont>
    <p:embeddedFont>
      <p:font typeface="Wingdings 3" panose="05040102010807070707" pitchFamily="18" charset="2"/>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D4CD"/>
    <a:srgbClr val="E7D798"/>
    <a:srgbClr val="1D5B78"/>
    <a:srgbClr val="57B6B7"/>
    <a:srgbClr val="0C4DA2"/>
    <a:srgbClr val="3B5F80"/>
    <a:srgbClr val="04345C"/>
    <a:srgbClr val="205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41" autoAdjust="0"/>
    <p:restoredTop sz="94449" autoAdjust="0"/>
  </p:normalViewPr>
  <p:slideViewPr>
    <p:cSldViewPr>
      <p:cViewPr varScale="1">
        <p:scale>
          <a:sx n="51" d="100"/>
          <a:sy n="51" d="100"/>
        </p:scale>
        <p:origin x="504"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127" d="100"/>
          <a:sy n="127" d="100"/>
        </p:scale>
        <p:origin x="2616"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5267D8-0132-4A35-B182-77AD05FF1748}" type="doc">
      <dgm:prSet loTypeId="urn:microsoft.com/office/officeart/2009/layout/CircleArrowProcess" loCatId="process" qsTypeId="urn:microsoft.com/office/officeart/2005/8/quickstyle/simple1" qsCatId="simple" csTypeId="urn:microsoft.com/office/officeart/2005/8/colors/colorful1" csCatId="colorful" phldr="1"/>
      <dgm:spPr/>
      <dgm:t>
        <a:bodyPr/>
        <a:lstStyle/>
        <a:p>
          <a:endParaRPr lang="en-SG"/>
        </a:p>
      </dgm:t>
    </dgm:pt>
    <dgm:pt modelId="{8DA7D96F-D428-4F0A-A6DC-9A353E645F90}">
      <dgm:prSet phldrT="[Text]" custT="1"/>
      <dgm:spPr/>
      <dgm:t>
        <a:bodyPr/>
        <a:lstStyle/>
        <a:p>
          <a:r>
            <a:rPr lang="en-US" sz="3200" kern="1200" dirty="0">
              <a:solidFill>
                <a:prstClr val="white"/>
              </a:solidFill>
              <a:latin typeface="Glacial Indifference" panose="020B0604020202020204" charset="0"/>
              <a:ea typeface="+mn-ea"/>
              <a:cs typeface="+mn-cs"/>
            </a:rPr>
            <a:t>Data</a:t>
          </a:r>
          <a:r>
            <a:rPr lang="en-US" sz="2800" b="1" kern="1200" dirty="0"/>
            <a:t> </a:t>
          </a:r>
          <a:r>
            <a:rPr lang="en-US" sz="2800" kern="1200" dirty="0">
              <a:solidFill>
                <a:prstClr val="white"/>
              </a:solidFill>
              <a:latin typeface="Glacial Indifference" panose="020B0604020202020204" charset="0"/>
              <a:ea typeface="+mn-ea"/>
              <a:cs typeface="+mn-cs"/>
            </a:rPr>
            <a:t>Collection</a:t>
          </a:r>
          <a:r>
            <a:rPr lang="en-US" sz="2800" b="1" kern="1200" dirty="0"/>
            <a:t> </a:t>
          </a:r>
          <a:r>
            <a:rPr lang="en-US" sz="2800" b="1" kern="1200" dirty="0">
              <a:solidFill>
                <a:schemeClr val="bg2"/>
              </a:solidFill>
            </a:rPr>
            <a:t>(</a:t>
          </a:r>
          <a:r>
            <a:rPr lang="en-US" sz="3200" kern="1200" dirty="0">
              <a:solidFill>
                <a:prstClr val="white"/>
              </a:solidFill>
              <a:latin typeface="Glacial Indifference" panose="020B0604020202020204" charset="0"/>
              <a:ea typeface="+mn-ea"/>
              <a:cs typeface="+mn-cs"/>
            </a:rPr>
            <a:t>Web</a:t>
          </a:r>
          <a:r>
            <a:rPr lang="en-US" sz="2800" b="1" kern="1200" dirty="0"/>
            <a:t> </a:t>
          </a:r>
          <a:r>
            <a:rPr lang="en-US" sz="3200" kern="1200" dirty="0">
              <a:solidFill>
                <a:prstClr val="white"/>
              </a:solidFill>
              <a:latin typeface="Glacial Indifference" panose="020B0604020202020204" charset="0"/>
              <a:ea typeface="+mn-ea"/>
              <a:cs typeface="+mn-cs"/>
            </a:rPr>
            <a:t>Scraping</a:t>
          </a:r>
          <a:r>
            <a:rPr lang="en-US" sz="2800" b="1" kern="1200" dirty="0">
              <a:solidFill>
                <a:schemeClr val="bg2"/>
              </a:solidFill>
            </a:rPr>
            <a:t>)</a:t>
          </a:r>
          <a:endParaRPr lang="en-SG" sz="2800" kern="1200" dirty="0">
            <a:solidFill>
              <a:schemeClr val="bg2"/>
            </a:solidFill>
            <a:latin typeface="Glacial Indifference" panose="020B0604020202020204" charset="0"/>
          </a:endParaRPr>
        </a:p>
      </dgm:t>
    </dgm:pt>
    <dgm:pt modelId="{DE4C4E63-F226-4233-8216-105E0B6C0D0A}" type="parTrans" cxnId="{9713CEA6-BB26-44B6-9F4A-E7B424B65E21}">
      <dgm:prSet/>
      <dgm:spPr/>
      <dgm:t>
        <a:bodyPr/>
        <a:lstStyle/>
        <a:p>
          <a:endParaRPr lang="en-SG">
            <a:solidFill>
              <a:schemeClr val="bg1"/>
            </a:solidFill>
            <a:latin typeface="Glacial Indifference" panose="020B0604020202020204" charset="0"/>
          </a:endParaRPr>
        </a:p>
      </dgm:t>
    </dgm:pt>
    <dgm:pt modelId="{E89F009B-A14A-43F6-AC0A-354A11FC15A4}" type="sibTrans" cxnId="{9713CEA6-BB26-44B6-9F4A-E7B424B65E21}">
      <dgm:prSet/>
      <dgm:spPr/>
      <dgm:t>
        <a:bodyPr/>
        <a:lstStyle/>
        <a:p>
          <a:endParaRPr lang="en-SG">
            <a:solidFill>
              <a:schemeClr val="bg1"/>
            </a:solidFill>
            <a:latin typeface="Glacial Indifference" panose="020B0604020202020204" charset="0"/>
          </a:endParaRPr>
        </a:p>
      </dgm:t>
    </dgm:pt>
    <dgm:pt modelId="{E8FEBCA1-8934-4647-A987-5F46BB6C9977}">
      <dgm:prSet phldrT="[Text]"/>
      <dgm:spPr/>
      <dgm:t>
        <a:bodyPr/>
        <a:lstStyle/>
        <a:p>
          <a:r>
            <a:rPr lang="en-SG" dirty="0">
              <a:solidFill>
                <a:schemeClr val="bg1"/>
              </a:solidFill>
              <a:latin typeface="Glacial Indifference" panose="020B0604020202020204" charset="0"/>
            </a:rPr>
            <a:t>Gather unstructured data</a:t>
          </a:r>
        </a:p>
      </dgm:t>
    </dgm:pt>
    <dgm:pt modelId="{DC83F3AD-93AD-4D6B-B2AE-1D724FFC5879}" type="parTrans" cxnId="{891452B6-7FCF-49AF-ACCE-B1448178DE8C}">
      <dgm:prSet/>
      <dgm:spPr/>
      <dgm:t>
        <a:bodyPr/>
        <a:lstStyle/>
        <a:p>
          <a:endParaRPr lang="en-SG">
            <a:solidFill>
              <a:schemeClr val="bg1"/>
            </a:solidFill>
            <a:latin typeface="Glacial Indifference" panose="020B0604020202020204" charset="0"/>
          </a:endParaRPr>
        </a:p>
      </dgm:t>
    </dgm:pt>
    <dgm:pt modelId="{2676C998-CF3C-4624-9238-19AB53798AE0}" type="sibTrans" cxnId="{891452B6-7FCF-49AF-ACCE-B1448178DE8C}">
      <dgm:prSet/>
      <dgm:spPr/>
      <dgm:t>
        <a:bodyPr/>
        <a:lstStyle/>
        <a:p>
          <a:endParaRPr lang="en-SG">
            <a:solidFill>
              <a:schemeClr val="bg1"/>
            </a:solidFill>
            <a:latin typeface="Glacial Indifference" panose="020B0604020202020204" charset="0"/>
          </a:endParaRPr>
        </a:p>
      </dgm:t>
    </dgm:pt>
    <dgm:pt modelId="{1F75A9AA-A85C-4CA7-86B4-EB9A728CC3C8}">
      <dgm:prSet phldrT="[Text]"/>
      <dgm:spPr/>
      <dgm:t>
        <a:bodyPr/>
        <a:lstStyle/>
        <a:p>
          <a:r>
            <a:rPr lang="en-SG" dirty="0">
              <a:solidFill>
                <a:schemeClr val="bg1"/>
              </a:solidFill>
              <a:latin typeface="Glacial Indifference" panose="020B0604020202020204" charset="0"/>
            </a:rPr>
            <a:t>Transform and load data</a:t>
          </a:r>
        </a:p>
      </dgm:t>
    </dgm:pt>
    <dgm:pt modelId="{A8EF710A-D83D-4929-8147-A910F95BD074}" type="parTrans" cxnId="{B3610032-357E-4596-9741-BB364EEADBD0}">
      <dgm:prSet/>
      <dgm:spPr/>
      <dgm:t>
        <a:bodyPr/>
        <a:lstStyle/>
        <a:p>
          <a:endParaRPr lang="en-SG">
            <a:solidFill>
              <a:schemeClr val="bg1"/>
            </a:solidFill>
            <a:latin typeface="Glacial Indifference" panose="020B0604020202020204" charset="0"/>
          </a:endParaRPr>
        </a:p>
      </dgm:t>
    </dgm:pt>
    <dgm:pt modelId="{FC0B653E-5503-4909-9F7C-1637A880718F}" type="sibTrans" cxnId="{B3610032-357E-4596-9741-BB364EEADBD0}">
      <dgm:prSet/>
      <dgm:spPr/>
      <dgm:t>
        <a:bodyPr/>
        <a:lstStyle/>
        <a:p>
          <a:endParaRPr lang="en-SG">
            <a:solidFill>
              <a:schemeClr val="bg1"/>
            </a:solidFill>
            <a:latin typeface="Glacial Indifference" panose="020B0604020202020204" charset="0"/>
          </a:endParaRPr>
        </a:p>
      </dgm:t>
    </dgm:pt>
    <dgm:pt modelId="{9BF4FE8D-9D8F-4254-A7F3-62C8323EB0F5}">
      <dgm:prSet phldrT="[Text]"/>
      <dgm:spPr/>
      <dgm:t>
        <a:bodyPr/>
        <a:lstStyle/>
        <a:p>
          <a:r>
            <a:rPr lang="en-SG" dirty="0">
              <a:solidFill>
                <a:schemeClr val="bg1"/>
              </a:solidFill>
              <a:latin typeface="Glacial Indifference" panose="020B0604020202020204" charset="0"/>
            </a:rPr>
            <a:t>Data processing</a:t>
          </a:r>
        </a:p>
      </dgm:t>
    </dgm:pt>
    <dgm:pt modelId="{BEA7B7C6-18EB-4C53-AD7E-9A6C30AB9718}" type="parTrans" cxnId="{C39EFF01-C772-4C92-8418-17B7438CA691}">
      <dgm:prSet/>
      <dgm:spPr/>
      <dgm:t>
        <a:bodyPr/>
        <a:lstStyle/>
        <a:p>
          <a:endParaRPr lang="en-SG">
            <a:solidFill>
              <a:schemeClr val="bg1"/>
            </a:solidFill>
            <a:latin typeface="Glacial Indifference" panose="020B0604020202020204" charset="0"/>
          </a:endParaRPr>
        </a:p>
      </dgm:t>
    </dgm:pt>
    <dgm:pt modelId="{E1EA7E2B-AB5A-485D-8530-B047F475BAA5}" type="sibTrans" cxnId="{C39EFF01-C772-4C92-8418-17B7438CA691}">
      <dgm:prSet/>
      <dgm:spPr/>
      <dgm:t>
        <a:bodyPr/>
        <a:lstStyle/>
        <a:p>
          <a:endParaRPr lang="en-SG">
            <a:solidFill>
              <a:schemeClr val="bg1"/>
            </a:solidFill>
            <a:latin typeface="Glacial Indifference" panose="020B0604020202020204" charset="0"/>
          </a:endParaRPr>
        </a:p>
      </dgm:t>
    </dgm:pt>
    <dgm:pt modelId="{ACCE06C4-8F6D-4375-BFAA-8278CBC4EAFD}">
      <dgm:prSet phldrT="[Text]"/>
      <dgm:spPr/>
      <dgm:t>
        <a:bodyPr/>
        <a:lstStyle/>
        <a:p>
          <a:r>
            <a:rPr lang="en-SG" dirty="0">
              <a:solidFill>
                <a:schemeClr val="bg1"/>
              </a:solidFill>
              <a:latin typeface="Glacial Indifference" panose="020B0604020202020204" charset="0"/>
            </a:rPr>
            <a:t>Clean the data(Pandas)</a:t>
          </a:r>
        </a:p>
      </dgm:t>
    </dgm:pt>
    <dgm:pt modelId="{1DA5317F-B5E2-457B-A9FA-634A2F7852CE}" type="parTrans" cxnId="{F07F917E-CA00-4E02-846D-2251E06EDDBC}">
      <dgm:prSet/>
      <dgm:spPr/>
      <dgm:t>
        <a:bodyPr/>
        <a:lstStyle/>
        <a:p>
          <a:endParaRPr lang="en-SG">
            <a:solidFill>
              <a:schemeClr val="bg1"/>
            </a:solidFill>
            <a:latin typeface="Glacial Indifference" panose="020B0604020202020204" charset="0"/>
          </a:endParaRPr>
        </a:p>
      </dgm:t>
    </dgm:pt>
    <dgm:pt modelId="{BB4429D5-F95A-466D-9851-3EC137D67159}" type="sibTrans" cxnId="{F07F917E-CA00-4E02-846D-2251E06EDDBC}">
      <dgm:prSet/>
      <dgm:spPr/>
      <dgm:t>
        <a:bodyPr/>
        <a:lstStyle/>
        <a:p>
          <a:endParaRPr lang="en-SG">
            <a:solidFill>
              <a:schemeClr val="bg1"/>
            </a:solidFill>
            <a:latin typeface="Glacial Indifference" panose="020B0604020202020204" charset="0"/>
          </a:endParaRPr>
        </a:p>
      </dgm:t>
    </dgm:pt>
    <dgm:pt modelId="{ECD12291-B1EF-4D5C-BE1E-848B72EAD1FA}">
      <dgm:prSet phldrT="[Text]"/>
      <dgm:spPr/>
      <dgm:t>
        <a:bodyPr/>
        <a:lstStyle/>
        <a:p>
          <a:r>
            <a:rPr lang="en-SG" dirty="0">
              <a:solidFill>
                <a:schemeClr val="bg1"/>
              </a:solidFill>
              <a:latin typeface="Glacial Indifference" panose="020B0604020202020204" charset="0"/>
            </a:rPr>
            <a:t>Data Visualization</a:t>
          </a:r>
        </a:p>
      </dgm:t>
    </dgm:pt>
    <dgm:pt modelId="{70EAA957-33C5-42EC-B6E4-098F0E7A68BE}" type="parTrans" cxnId="{73D55F4B-0057-4087-9CA3-B8412639C542}">
      <dgm:prSet/>
      <dgm:spPr/>
      <dgm:t>
        <a:bodyPr/>
        <a:lstStyle/>
        <a:p>
          <a:endParaRPr lang="en-SG">
            <a:solidFill>
              <a:schemeClr val="bg1"/>
            </a:solidFill>
            <a:latin typeface="Glacial Indifference" panose="020B0604020202020204" charset="0"/>
          </a:endParaRPr>
        </a:p>
      </dgm:t>
    </dgm:pt>
    <dgm:pt modelId="{23CF7DEF-FC42-4C40-B711-82CCCA50AE1C}" type="sibTrans" cxnId="{73D55F4B-0057-4087-9CA3-B8412639C542}">
      <dgm:prSet/>
      <dgm:spPr/>
      <dgm:t>
        <a:bodyPr/>
        <a:lstStyle/>
        <a:p>
          <a:endParaRPr lang="en-SG">
            <a:solidFill>
              <a:schemeClr val="bg1"/>
            </a:solidFill>
            <a:latin typeface="Glacial Indifference" panose="020B0604020202020204" charset="0"/>
          </a:endParaRPr>
        </a:p>
      </dgm:t>
    </dgm:pt>
    <dgm:pt modelId="{C4B70EAE-9B24-4584-A5A4-366948349A5A}">
      <dgm:prSet phldrT="[Text]"/>
      <dgm:spPr/>
      <dgm:t>
        <a:bodyPr/>
        <a:lstStyle/>
        <a:p>
          <a:r>
            <a:rPr lang="en-US" b="1" dirty="0">
              <a:solidFill>
                <a:schemeClr val="bg1"/>
              </a:solidFill>
              <a:latin typeface="Glacial Indifference" panose="020B0604020202020204" charset="0"/>
            </a:rPr>
            <a:t>Visualizations (e.g., bar plots) to highlight insights</a:t>
          </a:r>
          <a:endParaRPr lang="en-SG" dirty="0">
            <a:solidFill>
              <a:schemeClr val="bg1"/>
            </a:solidFill>
            <a:latin typeface="Glacial Indifference" panose="020B0604020202020204" charset="0"/>
          </a:endParaRPr>
        </a:p>
      </dgm:t>
    </dgm:pt>
    <dgm:pt modelId="{9080661F-8751-470A-B882-8BC8BD44F368}" type="parTrans" cxnId="{C44D05B0-B91D-4F90-B7BC-4BBDB5547A17}">
      <dgm:prSet/>
      <dgm:spPr/>
      <dgm:t>
        <a:bodyPr/>
        <a:lstStyle/>
        <a:p>
          <a:endParaRPr lang="en-SG">
            <a:solidFill>
              <a:schemeClr val="bg1"/>
            </a:solidFill>
            <a:latin typeface="Glacial Indifference" panose="020B0604020202020204" charset="0"/>
          </a:endParaRPr>
        </a:p>
      </dgm:t>
    </dgm:pt>
    <dgm:pt modelId="{2029A3A0-4CAC-48DB-8A2C-2A78B64D548C}" type="sibTrans" cxnId="{C44D05B0-B91D-4F90-B7BC-4BBDB5547A17}">
      <dgm:prSet/>
      <dgm:spPr/>
      <dgm:t>
        <a:bodyPr/>
        <a:lstStyle/>
        <a:p>
          <a:endParaRPr lang="en-SG">
            <a:solidFill>
              <a:schemeClr val="bg1"/>
            </a:solidFill>
            <a:latin typeface="Glacial Indifference" panose="020B0604020202020204" charset="0"/>
          </a:endParaRPr>
        </a:p>
      </dgm:t>
    </dgm:pt>
    <dgm:pt modelId="{5FC3A846-A626-457F-93B9-8F3A2C73AE53}">
      <dgm:prSet phldrT="[Text]"/>
      <dgm:spPr/>
      <dgm:t>
        <a:bodyPr/>
        <a:lstStyle/>
        <a:p>
          <a:endParaRPr lang="en-SG" dirty="0">
            <a:solidFill>
              <a:schemeClr val="bg1"/>
            </a:solidFill>
            <a:latin typeface="Glacial Indifference" panose="020B0604020202020204" charset="0"/>
          </a:endParaRPr>
        </a:p>
      </dgm:t>
    </dgm:pt>
    <dgm:pt modelId="{85D69EF3-AD0D-4AAB-A785-6E32DDDD9ED7}" type="parTrans" cxnId="{BF37D3C8-79C8-4143-833A-FC4014CE4472}">
      <dgm:prSet/>
      <dgm:spPr/>
      <dgm:t>
        <a:bodyPr/>
        <a:lstStyle/>
        <a:p>
          <a:endParaRPr lang="en-SG">
            <a:solidFill>
              <a:schemeClr val="bg1"/>
            </a:solidFill>
            <a:latin typeface="Glacial Indifference" panose="020B0604020202020204" charset="0"/>
          </a:endParaRPr>
        </a:p>
      </dgm:t>
    </dgm:pt>
    <dgm:pt modelId="{D0197022-15D8-45F3-9C16-4DDBE2C3A3AC}" type="sibTrans" cxnId="{BF37D3C8-79C8-4143-833A-FC4014CE4472}">
      <dgm:prSet/>
      <dgm:spPr/>
      <dgm:t>
        <a:bodyPr/>
        <a:lstStyle/>
        <a:p>
          <a:endParaRPr lang="en-SG">
            <a:solidFill>
              <a:schemeClr val="bg1"/>
            </a:solidFill>
            <a:latin typeface="Glacial Indifference" panose="020B0604020202020204" charset="0"/>
          </a:endParaRPr>
        </a:p>
      </dgm:t>
    </dgm:pt>
    <dgm:pt modelId="{09A80D1A-E241-4AA6-AC29-B27D62BAD889}">
      <dgm:prSet phldrT="[Text]"/>
      <dgm:spPr/>
      <dgm:t>
        <a:bodyPr/>
        <a:lstStyle/>
        <a:p>
          <a:r>
            <a:rPr lang="en-US" dirty="0">
              <a:solidFill>
                <a:schemeClr val="bg1"/>
              </a:solidFill>
              <a:latin typeface="Glacial Indifference" panose="020B0604020202020204" charset="0"/>
            </a:rPr>
            <a:t>Exploratory data analysis (EDA) (Matplotlib and Seaborn). </a:t>
          </a:r>
          <a:endParaRPr lang="en-SG" dirty="0">
            <a:solidFill>
              <a:schemeClr val="bg1"/>
            </a:solidFill>
            <a:latin typeface="Glacial Indifference" panose="020B0604020202020204" charset="0"/>
          </a:endParaRPr>
        </a:p>
      </dgm:t>
    </dgm:pt>
    <dgm:pt modelId="{85F5EC8D-C330-43B4-AD65-9A312A52E8C7}" type="parTrans" cxnId="{9E600B74-D1E7-471C-BFE1-B55E2D800D3D}">
      <dgm:prSet/>
      <dgm:spPr/>
      <dgm:t>
        <a:bodyPr/>
        <a:lstStyle/>
        <a:p>
          <a:endParaRPr lang="en-SG">
            <a:solidFill>
              <a:schemeClr val="bg1"/>
            </a:solidFill>
            <a:latin typeface="Glacial Indifference" panose="020B0604020202020204" charset="0"/>
          </a:endParaRPr>
        </a:p>
      </dgm:t>
    </dgm:pt>
    <dgm:pt modelId="{F8945203-5592-4537-925F-7173B4202E54}" type="sibTrans" cxnId="{9E600B74-D1E7-471C-BFE1-B55E2D800D3D}">
      <dgm:prSet/>
      <dgm:spPr/>
      <dgm:t>
        <a:bodyPr/>
        <a:lstStyle/>
        <a:p>
          <a:endParaRPr lang="en-SG">
            <a:solidFill>
              <a:schemeClr val="bg1"/>
            </a:solidFill>
            <a:latin typeface="Glacial Indifference" panose="020B0604020202020204" charset="0"/>
          </a:endParaRPr>
        </a:p>
      </dgm:t>
    </dgm:pt>
    <dgm:pt modelId="{F1C14722-F2DF-4DE7-8E51-3E17E4DD88B6}">
      <dgm:prSet phldrT="[Text]"/>
      <dgm:spPr/>
      <dgm:t>
        <a:bodyPr/>
        <a:lstStyle/>
        <a:p>
          <a:r>
            <a:rPr lang="en-US" b="1" dirty="0">
              <a:solidFill>
                <a:schemeClr val="bg1"/>
              </a:solidFill>
              <a:latin typeface="Glacial Indifference" panose="020B0604020202020204" charset="0"/>
            </a:rPr>
            <a:t>Derived insights for forming the "Best XI" players </a:t>
          </a:r>
          <a:endParaRPr lang="en-SG" dirty="0">
            <a:solidFill>
              <a:schemeClr val="bg1"/>
            </a:solidFill>
            <a:latin typeface="Glacial Indifference" panose="020B0604020202020204" charset="0"/>
          </a:endParaRPr>
        </a:p>
      </dgm:t>
    </dgm:pt>
    <dgm:pt modelId="{FED348C5-D20D-45C8-88C9-532ECC46C10C}" type="parTrans" cxnId="{14016319-13C2-4676-ACC5-2717D2B38DDD}">
      <dgm:prSet/>
      <dgm:spPr/>
      <dgm:t>
        <a:bodyPr/>
        <a:lstStyle/>
        <a:p>
          <a:endParaRPr lang="en-SG">
            <a:solidFill>
              <a:schemeClr val="bg1"/>
            </a:solidFill>
            <a:latin typeface="Glacial Indifference" panose="020B0604020202020204" charset="0"/>
          </a:endParaRPr>
        </a:p>
      </dgm:t>
    </dgm:pt>
    <dgm:pt modelId="{4019A2D2-9301-4D6A-9127-F763B571AFEE}" type="sibTrans" cxnId="{14016319-13C2-4676-ACC5-2717D2B38DDD}">
      <dgm:prSet/>
      <dgm:spPr/>
      <dgm:t>
        <a:bodyPr/>
        <a:lstStyle/>
        <a:p>
          <a:endParaRPr lang="en-SG">
            <a:solidFill>
              <a:schemeClr val="bg1"/>
            </a:solidFill>
            <a:latin typeface="Glacial Indifference" panose="020B0604020202020204" charset="0"/>
          </a:endParaRPr>
        </a:p>
      </dgm:t>
    </dgm:pt>
    <dgm:pt modelId="{69AB80B8-1E21-4371-864A-53E659AE0B01}">
      <dgm:prSet phldrT="[Text]"/>
      <dgm:spPr/>
      <dgm:t>
        <a:bodyPr/>
        <a:lstStyle/>
        <a:p>
          <a:endParaRPr lang="en-SG" dirty="0">
            <a:solidFill>
              <a:schemeClr val="bg1"/>
            </a:solidFill>
            <a:latin typeface="Glacial Indifference" panose="020B0604020202020204" charset="0"/>
          </a:endParaRPr>
        </a:p>
      </dgm:t>
    </dgm:pt>
    <dgm:pt modelId="{D6175C84-E8C9-4525-83FD-30761F00DF2B}" type="parTrans" cxnId="{B6DF1DBD-B06B-4A35-BAC7-0C80B4DE157D}">
      <dgm:prSet/>
      <dgm:spPr/>
      <dgm:t>
        <a:bodyPr/>
        <a:lstStyle/>
        <a:p>
          <a:endParaRPr lang="en-IN"/>
        </a:p>
      </dgm:t>
    </dgm:pt>
    <dgm:pt modelId="{D04E58F0-9005-424C-879D-7D617515708E}" type="sibTrans" cxnId="{B6DF1DBD-B06B-4A35-BAC7-0C80B4DE157D}">
      <dgm:prSet/>
      <dgm:spPr/>
      <dgm:t>
        <a:bodyPr/>
        <a:lstStyle/>
        <a:p>
          <a:endParaRPr lang="en-IN"/>
        </a:p>
      </dgm:t>
    </dgm:pt>
    <dgm:pt modelId="{92B0FA42-98DD-4FE0-8D13-B99AB99CF568}">
      <dgm:prSet phldrT="[Text]"/>
      <dgm:spPr/>
      <dgm:t>
        <a:bodyPr/>
        <a:lstStyle/>
        <a:p>
          <a:endParaRPr lang="en-SG" dirty="0">
            <a:solidFill>
              <a:schemeClr val="bg1"/>
            </a:solidFill>
            <a:latin typeface="Glacial Indifference" panose="020B0604020202020204" charset="0"/>
          </a:endParaRPr>
        </a:p>
      </dgm:t>
    </dgm:pt>
    <dgm:pt modelId="{14C020E9-E3C3-44BE-BA80-5C010643D280}" type="parTrans" cxnId="{DCE266F2-7955-49FB-8D0D-10878B5FAEB3}">
      <dgm:prSet/>
      <dgm:spPr/>
      <dgm:t>
        <a:bodyPr/>
        <a:lstStyle/>
        <a:p>
          <a:endParaRPr lang="en-IN"/>
        </a:p>
      </dgm:t>
    </dgm:pt>
    <dgm:pt modelId="{45A842CA-3C48-409A-A193-63C8E86AC073}" type="sibTrans" cxnId="{DCE266F2-7955-49FB-8D0D-10878B5FAEB3}">
      <dgm:prSet/>
      <dgm:spPr/>
      <dgm:t>
        <a:bodyPr/>
        <a:lstStyle/>
        <a:p>
          <a:endParaRPr lang="en-IN"/>
        </a:p>
      </dgm:t>
    </dgm:pt>
    <dgm:pt modelId="{992B05F4-697B-4FF6-B9CE-F62E5A40F4EF}" type="pres">
      <dgm:prSet presAssocID="{685267D8-0132-4A35-B182-77AD05FF1748}" presName="Name0" presStyleCnt="0">
        <dgm:presLayoutVars>
          <dgm:chMax val="7"/>
          <dgm:chPref val="7"/>
          <dgm:dir/>
          <dgm:animLvl val="lvl"/>
        </dgm:presLayoutVars>
      </dgm:prSet>
      <dgm:spPr/>
    </dgm:pt>
    <dgm:pt modelId="{6A6BB064-0F65-40B5-B6F2-15EDF788C447}" type="pres">
      <dgm:prSet presAssocID="{8DA7D96F-D428-4F0A-A6DC-9A353E645F90}" presName="Accent1" presStyleCnt="0"/>
      <dgm:spPr/>
    </dgm:pt>
    <dgm:pt modelId="{EFA61EC6-9599-4BA1-9DFF-F5CF2ACF7BCE}" type="pres">
      <dgm:prSet presAssocID="{8DA7D96F-D428-4F0A-A6DC-9A353E645F90}" presName="Accent" presStyleLbl="node1" presStyleIdx="0" presStyleCnt="3"/>
      <dgm:spPr/>
    </dgm:pt>
    <dgm:pt modelId="{33275A7F-6C1E-4428-B98C-AF1BF732204F}" type="pres">
      <dgm:prSet presAssocID="{8DA7D96F-D428-4F0A-A6DC-9A353E645F90}" presName="Child1" presStyleLbl="revTx" presStyleIdx="0" presStyleCnt="6">
        <dgm:presLayoutVars>
          <dgm:chMax val="0"/>
          <dgm:chPref val="0"/>
          <dgm:bulletEnabled val="1"/>
        </dgm:presLayoutVars>
      </dgm:prSet>
      <dgm:spPr/>
    </dgm:pt>
    <dgm:pt modelId="{036F8F98-3A64-425D-A2DF-E60E24BC25E1}" type="pres">
      <dgm:prSet presAssocID="{8DA7D96F-D428-4F0A-A6DC-9A353E645F90}" presName="Parent1" presStyleLbl="revTx" presStyleIdx="1" presStyleCnt="6" custScaleX="98039" custScaleY="120836" custLinFactNeighborX="-2108" custLinFactNeighborY="-13041">
        <dgm:presLayoutVars>
          <dgm:chMax val="1"/>
          <dgm:chPref val="1"/>
          <dgm:bulletEnabled val="1"/>
        </dgm:presLayoutVars>
      </dgm:prSet>
      <dgm:spPr/>
    </dgm:pt>
    <dgm:pt modelId="{2BB5979C-2FEC-42A1-A544-6037DA264CC2}" type="pres">
      <dgm:prSet presAssocID="{9BF4FE8D-9D8F-4254-A7F3-62C8323EB0F5}" presName="Accent2" presStyleCnt="0"/>
      <dgm:spPr/>
    </dgm:pt>
    <dgm:pt modelId="{F98C6036-DF84-4FF6-B6E1-296EE0D36C65}" type="pres">
      <dgm:prSet presAssocID="{9BF4FE8D-9D8F-4254-A7F3-62C8323EB0F5}" presName="Accent" presStyleLbl="node1" presStyleIdx="1" presStyleCnt="3"/>
      <dgm:spPr/>
    </dgm:pt>
    <dgm:pt modelId="{2D60EBE1-0063-473D-B9F1-540EC7F4F959}" type="pres">
      <dgm:prSet presAssocID="{9BF4FE8D-9D8F-4254-A7F3-62C8323EB0F5}" presName="Child2" presStyleLbl="revTx" presStyleIdx="2" presStyleCnt="6" custScaleX="95653" custScaleY="129951">
        <dgm:presLayoutVars>
          <dgm:chMax val="0"/>
          <dgm:chPref val="0"/>
          <dgm:bulletEnabled val="1"/>
        </dgm:presLayoutVars>
      </dgm:prSet>
      <dgm:spPr/>
    </dgm:pt>
    <dgm:pt modelId="{8A55A278-40C7-4EC2-9E69-1385D4F21219}" type="pres">
      <dgm:prSet presAssocID="{9BF4FE8D-9D8F-4254-A7F3-62C8323EB0F5}" presName="Parent2" presStyleLbl="revTx" presStyleIdx="3" presStyleCnt="6">
        <dgm:presLayoutVars>
          <dgm:chMax val="1"/>
          <dgm:chPref val="1"/>
          <dgm:bulletEnabled val="1"/>
        </dgm:presLayoutVars>
      </dgm:prSet>
      <dgm:spPr/>
    </dgm:pt>
    <dgm:pt modelId="{61CF5870-9800-40C4-8D87-FE082A780CE3}" type="pres">
      <dgm:prSet presAssocID="{ECD12291-B1EF-4D5C-BE1E-848B72EAD1FA}" presName="Accent3" presStyleCnt="0"/>
      <dgm:spPr/>
    </dgm:pt>
    <dgm:pt modelId="{46DFC1D6-9F5A-4C52-A5E6-3D0D45764897}" type="pres">
      <dgm:prSet presAssocID="{ECD12291-B1EF-4D5C-BE1E-848B72EAD1FA}" presName="Accent" presStyleLbl="node1" presStyleIdx="2" presStyleCnt="3"/>
      <dgm:spPr/>
    </dgm:pt>
    <dgm:pt modelId="{6A16879C-ADAD-4DEE-B00A-C2D26C4BD1B3}" type="pres">
      <dgm:prSet presAssocID="{ECD12291-B1EF-4D5C-BE1E-848B72EAD1FA}" presName="Child3" presStyleLbl="revTx" presStyleIdx="4" presStyleCnt="6" custScaleX="117304" custScaleY="128281" custLinFactNeighborX="1380" custLinFactNeighborY="14158">
        <dgm:presLayoutVars>
          <dgm:chMax val="0"/>
          <dgm:chPref val="0"/>
          <dgm:bulletEnabled val="1"/>
        </dgm:presLayoutVars>
      </dgm:prSet>
      <dgm:spPr/>
    </dgm:pt>
    <dgm:pt modelId="{CCFB68C4-33E6-400F-9301-D92EBAD3ADD0}" type="pres">
      <dgm:prSet presAssocID="{ECD12291-B1EF-4D5C-BE1E-848B72EAD1FA}" presName="Parent3" presStyleLbl="revTx" presStyleIdx="5" presStyleCnt="6">
        <dgm:presLayoutVars>
          <dgm:chMax val="1"/>
          <dgm:chPref val="1"/>
          <dgm:bulletEnabled val="1"/>
        </dgm:presLayoutVars>
      </dgm:prSet>
      <dgm:spPr/>
    </dgm:pt>
  </dgm:ptLst>
  <dgm:cxnLst>
    <dgm:cxn modelId="{C39EFF01-C772-4C92-8418-17B7438CA691}" srcId="{685267D8-0132-4A35-B182-77AD05FF1748}" destId="{9BF4FE8D-9D8F-4254-A7F3-62C8323EB0F5}" srcOrd="1" destOrd="0" parTransId="{BEA7B7C6-18EB-4C53-AD7E-9A6C30AB9718}" sibTransId="{E1EA7E2B-AB5A-485D-8530-B047F475BAA5}"/>
    <dgm:cxn modelId="{CEBD3B16-C3AA-448A-BA47-F155E9663CAD}" type="presOf" srcId="{92B0FA42-98DD-4FE0-8D13-B99AB99CF568}" destId="{6A16879C-ADAD-4DEE-B00A-C2D26C4BD1B3}" srcOrd="0" destOrd="1" presId="urn:microsoft.com/office/officeart/2009/layout/CircleArrowProcess"/>
    <dgm:cxn modelId="{14016319-13C2-4676-ACC5-2717D2B38DDD}" srcId="{ECD12291-B1EF-4D5C-BE1E-848B72EAD1FA}" destId="{F1C14722-F2DF-4DE7-8E51-3E17E4DD88B6}" srcOrd="2" destOrd="0" parTransId="{FED348C5-D20D-45C8-88C9-532ECC46C10C}" sibTransId="{4019A2D2-9301-4D6A-9127-F763B571AFEE}"/>
    <dgm:cxn modelId="{5E11762E-CFC0-46B4-BBB6-93F2A930E67E}" type="presOf" srcId="{E8FEBCA1-8934-4647-A987-5F46BB6C9977}" destId="{33275A7F-6C1E-4428-B98C-AF1BF732204F}" srcOrd="0" destOrd="0" presId="urn:microsoft.com/office/officeart/2009/layout/CircleArrowProcess"/>
    <dgm:cxn modelId="{B3610032-357E-4596-9741-BB364EEADBD0}" srcId="{8DA7D96F-D428-4F0A-A6DC-9A353E645F90}" destId="{1F75A9AA-A85C-4CA7-86B4-EB9A728CC3C8}" srcOrd="2" destOrd="0" parTransId="{A8EF710A-D83D-4929-8147-A910F95BD074}" sibTransId="{FC0B653E-5503-4909-9F7C-1637A880718F}"/>
    <dgm:cxn modelId="{D87D8333-C598-43A0-AC1F-28DDC213980E}" type="presOf" srcId="{8DA7D96F-D428-4F0A-A6DC-9A353E645F90}" destId="{036F8F98-3A64-425D-A2DF-E60E24BC25E1}" srcOrd="0" destOrd="0" presId="urn:microsoft.com/office/officeart/2009/layout/CircleArrowProcess"/>
    <dgm:cxn modelId="{A779E05B-40F2-4ACD-A427-D90F248CD4F0}" type="presOf" srcId="{9BF4FE8D-9D8F-4254-A7F3-62C8323EB0F5}" destId="{8A55A278-40C7-4EC2-9E69-1385D4F21219}" srcOrd="0" destOrd="0" presId="urn:microsoft.com/office/officeart/2009/layout/CircleArrowProcess"/>
    <dgm:cxn modelId="{5EF27B43-F30C-40A6-9724-0275A1D09C4C}" type="presOf" srcId="{ECD12291-B1EF-4D5C-BE1E-848B72EAD1FA}" destId="{CCFB68C4-33E6-400F-9301-D92EBAD3ADD0}" srcOrd="0" destOrd="0" presId="urn:microsoft.com/office/officeart/2009/layout/CircleArrowProcess"/>
    <dgm:cxn modelId="{73D55F4B-0057-4087-9CA3-B8412639C542}" srcId="{685267D8-0132-4A35-B182-77AD05FF1748}" destId="{ECD12291-B1EF-4D5C-BE1E-848B72EAD1FA}" srcOrd="2" destOrd="0" parTransId="{70EAA957-33C5-42EC-B6E4-098F0E7A68BE}" sibTransId="{23CF7DEF-FC42-4C40-B711-82CCCA50AE1C}"/>
    <dgm:cxn modelId="{9E600B74-D1E7-471C-BFE1-B55E2D800D3D}" srcId="{9BF4FE8D-9D8F-4254-A7F3-62C8323EB0F5}" destId="{09A80D1A-E241-4AA6-AC29-B27D62BAD889}" srcOrd="2" destOrd="0" parTransId="{85F5EC8D-C330-43B4-AD65-9A312A52E8C7}" sibTransId="{F8945203-5592-4537-925F-7173B4202E54}"/>
    <dgm:cxn modelId="{F07F917E-CA00-4E02-846D-2251E06EDDBC}" srcId="{9BF4FE8D-9D8F-4254-A7F3-62C8323EB0F5}" destId="{ACCE06C4-8F6D-4375-BFAA-8278CBC4EAFD}" srcOrd="0" destOrd="0" parTransId="{1DA5317F-B5E2-457B-A9FA-634A2F7852CE}" sibTransId="{BB4429D5-F95A-466D-9851-3EC137D67159}"/>
    <dgm:cxn modelId="{940C118E-BD54-4DD3-AB78-9EA1D31099BB}" type="presOf" srcId="{C4B70EAE-9B24-4584-A5A4-366948349A5A}" destId="{6A16879C-ADAD-4DEE-B00A-C2D26C4BD1B3}" srcOrd="0" destOrd="0" presId="urn:microsoft.com/office/officeart/2009/layout/CircleArrowProcess"/>
    <dgm:cxn modelId="{B0547EA2-5DA0-417E-8BEB-47FC9072F434}" type="presOf" srcId="{F1C14722-F2DF-4DE7-8E51-3E17E4DD88B6}" destId="{6A16879C-ADAD-4DEE-B00A-C2D26C4BD1B3}" srcOrd="0" destOrd="2" presId="urn:microsoft.com/office/officeart/2009/layout/CircleArrowProcess"/>
    <dgm:cxn modelId="{9713CEA6-BB26-44B6-9F4A-E7B424B65E21}" srcId="{685267D8-0132-4A35-B182-77AD05FF1748}" destId="{8DA7D96F-D428-4F0A-A6DC-9A353E645F90}" srcOrd="0" destOrd="0" parTransId="{DE4C4E63-F226-4233-8216-105E0B6C0D0A}" sibTransId="{E89F009B-A14A-43F6-AC0A-354A11FC15A4}"/>
    <dgm:cxn modelId="{C44D05B0-B91D-4F90-B7BC-4BBDB5547A17}" srcId="{ECD12291-B1EF-4D5C-BE1E-848B72EAD1FA}" destId="{C4B70EAE-9B24-4584-A5A4-366948349A5A}" srcOrd="0" destOrd="0" parTransId="{9080661F-8751-470A-B882-8BC8BD44F368}" sibTransId="{2029A3A0-4CAC-48DB-8A2C-2A78B64D548C}"/>
    <dgm:cxn modelId="{891452B6-7FCF-49AF-ACCE-B1448178DE8C}" srcId="{8DA7D96F-D428-4F0A-A6DC-9A353E645F90}" destId="{E8FEBCA1-8934-4647-A987-5F46BB6C9977}" srcOrd="0" destOrd="0" parTransId="{DC83F3AD-93AD-4D6B-B2AE-1D724FFC5879}" sibTransId="{2676C998-CF3C-4624-9238-19AB53798AE0}"/>
    <dgm:cxn modelId="{716A7EB9-9CBF-4861-9D79-D5F569305635}" type="presOf" srcId="{09A80D1A-E241-4AA6-AC29-B27D62BAD889}" destId="{2D60EBE1-0063-473D-B9F1-540EC7F4F959}" srcOrd="0" destOrd="2" presId="urn:microsoft.com/office/officeart/2009/layout/CircleArrowProcess"/>
    <dgm:cxn modelId="{B6DF1DBD-B06B-4A35-BAC7-0C80B4DE157D}" srcId="{9BF4FE8D-9D8F-4254-A7F3-62C8323EB0F5}" destId="{69AB80B8-1E21-4371-864A-53E659AE0B01}" srcOrd="1" destOrd="0" parTransId="{D6175C84-E8C9-4525-83FD-30761F00DF2B}" sibTransId="{D04E58F0-9005-424C-879D-7D617515708E}"/>
    <dgm:cxn modelId="{8EB6D2C3-29AF-4955-9C19-FEBC9570DCDD}" type="presOf" srcId="{69AB80B8-1E21-4371-864A-53E659AE0B01}" destId="{2D60EBE1-0063-473D-B9F1-540EC7F4F959}" srcOrd="0" destOrd="1" presId="urn:microsoft.com/office/officeart/2009/layout/CircleArrowProcess"/>
    <dgm:cxn modelId="{BF37D3C8-79C8-4143-833A-FC4014CE4472}" srcId="{8DA7D96F-D428-4F0A-A6DC-9A353E645F90}" destId="{5FC3A846-A626-457F-93B9-8F3A2C73AE53}" srcOrd="1" destOrd="0" parTransId="{85D69EF3-AD0D-4AAB-A785-6E32DDDD9ED7}" sibTransId="{D0197022-15D8-45F3-9C16-4DDBE2C3A3AC}"/>
    <dgm:cxn modelId="{2076E0C8-911C-4482-B35F-B9560E7EF4E6}" type="presOf" srcId="{1F75A9AA-A85C-4CA7-86B4-EB9A728CC3C8}" destId="{33275A7F-6C1E-4428-B98C-AF1BF732204F}" srcOrd="0" destOrd="2" presId="urn:microsoft.com/office/officeart/2009/layout/CircleArrowProcess"/>
    <dgm:cxn modelId="{29F468D0-B9D4-4FC0-9D20-A86288FAD3B3}" type="presOf" srcId="{ACCE06C4-8F6D-4375-BFAA-8278CBC4EAFD}" destId="{2D60EBE1-0063-473D-B9F1-540EC7F4F959}" srcOrd="0" destOrd="0" presId="urn:microsoft.com/office/officeart/2009/layout/CircleArrowProcess"/>
    <dgm:cxn modelId="{193A99E9-F53B-4125-B2F5-9A444B3AFE55}" type="presOf" srcId="{5FC3A846-A626-457F-93B9-8F3A2C73AE53}" destId="{33275A7F-6C1E-4428-B98C-AF1BF732204F}" srcOrd="0" destOrd="1" presId="urn:microsoft.com/office/officeart/2009/layout/CircleArrowProcess"/>
    <dgm:cxn modelId="{DCE266F2-7955-49FB-8D0D-10878B5FAEB3}" srcId="{ECD12291-B1EF-4D5C-BE1E-848B72EAD1FA}" destId="{92B0FA42-98DD-4FE0-8D13-B99AB99CF568}" srcOrd="1" destOrd="0" parTransId="{14C020E9-E3C3-44BE-BA80-5C010643D280}" sibTransId="{45A842CA-3C48-409A-A193-63C8E86AC073}"/>
    <dgm:cxn modelId="{053C94FF-A294-4186-8D89-55BEDC76C889}" type="presOf" srcId="{685267D8-0132-4A35-B182-77AD05FF1748}" destId="{992B05F4-697B-4FF6-B9CE-F62E5A40F4EF}" srcOrd="0" destOrd="0" presId="urn:microsoft.com/office/officeart/2009/layout/CircleArrowProcess"/>
    <dgm:cxn modelId="{28549AD2-EEAB-4D8D-8664-E18904F55D7E}" type="presParOf" srcId="{992B05F4-697B-4FF6-B9CE-F62E5A40F4EF}" destId="{6A6BB064-0F65-40B5-B6F2-15EDF788C447}" srcOrd="0" destOrd="0" presId="urn:microsoft.com/office/officeart/2009/layout/CircleArrowProcess"/>
    <dgm:cxn modelId="{8ACA22C1-C9F9-4707-B82A-5445F3F5FDD4}" type="presParOf" srcId="{6A6BB064-0F65-40B5-B6F2-15EDF788C447}" destId="{EFA61EC6-9599-4BA1-9DFF-F5CF2ACF7BCE}" srcOrd="0" destOrd="0" presId="urn:microsoft.com/office/officeart/2009/layout/CircleArrowProcess"/>
    <dgm:cxn modelId="{ACE89FD9-EC39-42F9-80E3-4EECF47E60F5}" type="presParOf" srcId="{992B05F4-697B-4FF6-B9CE-F62E5A40F4EF}" destId="{33275A7F-6C1E-4428-B98C-AF1BF732204F}" srcOrd="1" destOrd="0" presId="urn:microsoft.com/office/officeart/2009/layout/CircleArrowProcess"/>
    <dgm:cxn modelId="{B704EBC6-5AEE-4899-9BEF-8A62907C1C44}" type="presParOf" srcId="{992B05F4-697B-4FF6-B9CE-F62E5A40F4EF}" destId="{036F8F98-3A64-425D-A2DF-E60E24BC25E1}" srcOrd="2" destOrd="0" presId="urn:microsoft.com/office/officeart/2009/layout/CircleArrowProcess"/>
    <dgm:cxn modelId="{FCA4F2A1-7923-4620-A659-F59B440A3686}" type="presParOf" srcId="{992B05F4-697B-4FF6-B9CE-F62E5A40F4EF}" destId="{2BB5979C-2FEC-42A1-A544-6037DA264CC2}" srcOrd="3" destOrd="0" presId="urn:microsoft.com/office/officeart/2009/layout/CircleArrowProcess"/>
    <dgm:cxn modelId="{A0D1FBC3-B1A4-420B-9BD8-C1D02A7C9194}" type="presParOf" srcId="{2BB5979C-2FEC-42A1-A544-6037DA264CC2}" destId="{F98C6036-DF84-4FF6-B6E1-296EE0D36C65}" srcOrd="0" destOrd="0" presId="urn:microsoft.com/office/officeart/2009/layout/CircleArrowProcess"/>
    <dgm:cxn modelId="{597B0A32-0A5A-4390-B09C-82742FE134C1}" type="presParOf" srcId="{992B05F4-697B-4FF6-B9CE-F62E5A40F4EF}" destId="{2D60EBE1-0063-473D-B9F1-540EC7F4F959}" srcOrd="4" destOrd="0" presId="urn:microsoft.com/office/officeart/2009/layout/CircleArrowProcess"/>
    <dgm:cxn modelId="{7FAFE694-405C-4568-870D-30C7E6F4218C}" type="presParOf" srcId="{992B05F4-697B-4FF6-B9CE-F62E5A40F4EF}" destId="{8A55A278-40C7-4EC2-9E69-1385D4F21219}" srcOrd="5" destOrd="0" presId="urn:microsoft.com/office/officeart/2009/layout/CircleArrowProcess"/>
    <dgm:cxn modelId="{5A0CE907-6F44-4D07-B441-EEBAA0856ED9}" type="presParOf" srcId="{992B05F4-697B-4FF6-B9CE-F62E5A40F4EF}" destId="{61CF5870-9800-40C4-8D87-FE082A780CE3}" srcOrd="6" destOrd="0" presId="urn:microsoft.com/office/officeart/2009/layout/CircleArrowProcess"/>
    <dgm:cxn modelId="{085BA515-B9D6-4D28-9B46-A7CA825EF667}" type="presParOf" srcId="{61CF5870-9800-40C4-8D87-FE082A780CE3}" destId="{46DFC1D6-9F5A-4C52-A5E6-3D0D45764897}" srcOrd="0" destOrd="0" presId="urn:microsoft.com/office/officeart/2009/layout/CircleArrowProcess"/>
    <dgm:cxn modelId="{AA5237DB-E488-4475-85D9-AE54E9A9F2BF}" type="presParOf" srcId="{992B05F4-697B-4FF6-B9CE-F62E5A40F4EF}" destId="{6A16879C-ADAD-4DEE-B00A-C2D26C4BD1B3}" srcOrd="7" destOrd="0" presId="urn:microsoft.com/office/officeart/2009/layout/CircleArrowProcess"/>
    <dgm:cxn modelId="{7E0298AB-9254-424F-BA1E-738B780A9491}" type="presParOf" srcId="{992B05F4-697B-4FF6-B9CE-F62E5A40F4EF}" destId="{CCFB68C4-33E6-400F-9301-D92EBAD3ADD0}" srcOrd="8"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61EC6-9599-4BA1-9DFF-F5CF2ACF7BCE}">
      <dsp:nvSpPr>
        <dsp:cNvPr id="0" name=""/>
        <dsp:cNvSpPr/>
      </dsp:nvSpPr>
      <dsp:spPr>
        <a:xfrm>
          <a:off x="1261628" y="0"/>
          <a:ext cx="4144512" cy="4145142"/>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275A7F-6C1E-4428-B98C-AF1BF732204F}">
      <dsp:nvSpPr>
        <dsp:cNvPr id="0" name=""/>
        <dsp:cNvSpPr/>
      </dsp:nvSpPr>
      <dsp:spPr>
        <a:xfrm>
          <a:off x="5406918" y="1235621"/>
          <a:ext cx="2486707" cy="1658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171450" lvl="1" indent="-171450" algn="l" defTabSz="844550">
            <a:lnSpc>
              <a:spcPct val="90000"/>
            </a:lnSpc>
            <a:spcBef>
              <a:spcPct val="0"/>
            </a:spcBef>
            <a:spcAft>
              <a:spcPct val="15000"/>
            </a:spcAft>
            <a:buChar char="•"/>
          </a:pPr>
          <a:r>
            <a:rPr lang="en-SG" sz="1900" kern="1200" dirty="0">
              <a:solidFill>
                <a:schemeClr val="bg1"/>
              </a:solidFill>
              <a:latin typeface="Glacial Indifference" panose="020B0604020202020204" charset="0"/>
            </a:rPr>
            <a:t>Gather unstructured data</a:t>
          </a:r>
        </a:p>
        <a:p>
          <a:pPr marL="171450" lvl="1" indent="-171450" algn="l" defTabSz="844550">
            <a:lnSpc>
              <a:spcPct val="90000"/>
            </a:lnSpc>
            <a:spcBef>
              <a:spcPct val="0"/>
            </a:spcBef>
            <a:spcAft>
              <a:spcPct val="15000"/>
            </a:spcAft>
            <a:buChar char="•"/>
          </a:pPr>
          <a:endParaRPr lang="en-SG" sz="1900" kern="1200" dirty="0">
            <a:solidFill>
              <a:schemeClr val="bg1"/>
            </a:solidFill>
            <a:latin typeface="Glacial Indifference" panose="020B0604020202020204" charset="0"/>
          </a:endParaRPr>
        </a:p>
        <a:p>
          <a:pPr marL="171450" lvl="1" indent="-171450" algn="l" defTabSz="844550">
            <a:lnSpc>
              <a:spcPct val="90000"/>
            </a:lnSpc>
            <a:spcBef>
              <a:spcPct val="0"/>
            </a:spcBef>
            <a:spcAft>
              <a:spcPct val="15000"/>
            </a:spcAft>
            <a:buChar char="•"/>
          </a:pPr>
          <a:r>
            <a:rPr lang="en-SG" sz="1900" kern="1200" dirty="0">
              <a:solidFill>
                <a:schemeClr val="bg1"/>
              </a:solidFill>
              <a:latin typeface="Glacial Indifference" panose="020B0604020202020204" charset="0"/>
            </a:rPr>
            <a:t>Transform and load data</a:t>
          </a:r>
        </a:p>
      </dsp:txBody>
      <dsp:txXfrm>
        <a:off x="5406918" y="1235621"/>
        <a:ext cx="2486707" cy="1658401"/>
      </dsp:txXfrm>
    </dsp:sp>
    <dsp:sp modelId="{036F8F98-3A64-425D-A2DF-E60E24BC25E1}">
      <dsp:nvSpPr>
        <dsp:cNvPr id="0" name=""/>
        <dsp:cNvSpPr/>
      </dsp:nvSpPr>
      <dsp:spPr>
        <a:xfrm>
          <a:off x="2151734" y="1226453"/>
          <a:ext cx="2257863" cy="1391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prstClr val="white"/>
              </a:solidFill>
              <a:latin typeface="Glacial Indifference" panose="020B0604020202020204" charset="0"/>
              <a:ea typeface="+mn-ea"/>
              <a:cs typeface="+mn-cs"/>
            </a:rPr>
            <a:t>Data</a:t>
          </a:r>
          <a:r>
            <a:rPr lang="en-US" sz="2800" b="1" kern="1200" dirty="0"/>
            <a:t> </a:t>
          </a:r>
          <a:r>
            <a:rPr lang="en-US" sz="2800" kern="1200" dirty="0">
              <a:solidFill>
                <a:prstClr val="white"/>
              </a:solidFill>
              <a:latin typeface="Glacial Indifference" panose="020B0604020202020204" charset="0"/>
              <a:ea typeface="+mn-ea"/>
              <a:cs typeface="+mn-cs"/>
            </a:rPr>
            <a:t>Collection</a:t>
          </a:r>
          <a:r>
            <a:rPr lang="en-US" sz="2800" b="1" kern="1200" dirty="0"/>
            <a:t> </a:t>
          </a:r>
          <a:r>
            <a:rPr lang="en-US" sz="2800" b="1" kern="1200" dirty="0">
              <a:solidFill>
                <a:schemeClr val="bg2"/>
              </a:solidFill>
            </a:rPr>
            <a:t>(</a:t>
          </a:r>
          <a:r>
            <a:rPr lang="en-US" sz="3200" kern="1200" dirty="0">
              <a:solidFill>
                <a:prstClr val="white"/>
              </a:solidFill>
              <a:latin typeface="Glacial Indifference" panose="020B0604020202020204" charset="0"/>
              <a:ea typeface="+mn-ea"/>
              <a:cs typeface="+mn-cs"/>
            </a:rPr>
            <a:t>Web</a:t>
          </a:r>
          <a:r>
            <a:rPr lang="en-US" sz="2800" b="1" kern="1200" dirty="0"/>
            <a:t> </a:t>
          </a:r>
          <a:r>
            <a:rPr lang="en-US" sz="3200" kern="1200" dirty="0">
              <a:solidFill>
                <a:prstClr val="white"/>
              </a:solidFill>
              <a:latin typeface="Glacial Indifference" panose="020B0604020202020204" charset="0"/>
              <a:ea typeface="+mn-ea"/>
              <a:cs typeface="+mn-cs"/>
            </a:rPr>
            <a:t>Scraping</a:t>
          </a:r>
          <a:r>
            <a:rPr lang="en-US" sz="2800" b="1" kern="1200" dirty="0">
              <a:solidFill>
                <a:schemeClr val="bg2"/>
              </a:solidFill>
            </a:rPr>
            <a:t>)</a:t>
          </a:r>
          <a:endParaRPr lang="en-SG" sz="2800" kern="1200" dirty="0">
            <a:solidFill>
              <a:schemeClr val="bg2"/>
            </a:solidFill>
            <a:latin typeface="Glacial Indifference" panose="020B0604020202020204" charset="0"/>
          </a:endParaRPr>
        </a:p>
      </dsp:txBody>
      <dsp:txXfrm>
        <a:off x="2151734" y="1226453"/>
        <a:ext cx="2257863" cy="1391109"/>
      </dsp:txXfrm>
    </dsp:sp>
    <dsp:sp modelId="{F98C6036-DF84-4FF6-B6E1-296EE0D36C65}">
      <dsp:nvSpPr>
        <dsp:cNvPr id="0" name=""/>
        <dsp:cNvSpPr/>
      </dsp:nvSpPr>
      <dsp:spPr>
        <a:xfrm>
          <a:off x="110504" y="2381691"/>
          <a:ext cx="4144512" cy="4145142"/>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60EBE1-0063-473D-B9F1-540EC7F4F959}">
      <dsp:nvSpPr>
        <dsp:cNvPr id="0" name=""/>
        <dsp:cNvSpPr/>
      </dsp:nvSpPr>
      <dsp:spPr>
        <a:xfrm>
          <a:off x="4309065" y="3382736"/>
          <a:ext cx="2378610" cy="2155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05" tIns="14605" rIns="14605" bIns="14605" numCol="1" spcCol="1270" anchor="ctr" anchorCtr="0">
          <a:noAutofit/>
        </a:bodyPr>
        <a:lstStyle/>
        <a:p>
          <a:pPr marL="171450" lvl="1" indent="-171450" algn="l" defTabSz="800100">
            <a:lnSpc>
              <a:spcPct val="90000"/>
            </a:lnSpc>
            <a:spcBef>
              <a:spcPct val="0"/>
            </a:spcBef>
            <a:spcAft>
              <a:spcPct val="15000"/>
            </a:spcAft>
            <a:buChar char="•"/>
          </a:pPr>
          <a:r>
            <a:rPr lang="en-SG" sz="1800" kern="1200" dirty="0">
              <a:solidFill>
                <a:schemeClr val="bg1"/>
              </a:solidFill>
              <a:latin typeface="Glacial Indifference" panose="020B0604020202020204" charset="0"/>
            </a:rPr>
            <a:t>Clean the data(Pandas)</a:t>
          </a:r>
        </a:p>
        <a:p>
          <a:pPr marL="171450" lvl="1" indent="-171450" algn="l" defTabSz="800100">
            <a:lnSpc>
              <a:spcPct val="90000"/>
            </a:lnSpc>
            <a:spcBef>
              <a:spcPct val="0"/>
            </a:spcBef>
            <a:spcAft>
              <a:spcPct val="15000"/>
            </a:spcAft>
            <a:buChar char="•"/>
          </a:pPr>
          <a:endParaRPr lang="en-SG" sz="1800" kern="1200" dirty="0">
            <a:solidFill>
              <a:schemeClr val="bg1"/>
            </a:solidFill>
            <a:latin typeface="Glacial Indifference" panose="020B0604020202020204" charset="0"/>
          </a:endParaRPr>
        </a:p>
        <a:p>
          <a:pPr marL="171450" lvl="1" indent="-171450" algn="l" defTabSz="800100">
            <a:lnSpc>
              <a:spcPct val="90000"/>
            </a:lnSpc>
            <a:spcBef>
              <a:spcPct val="0"/>
            </a:spcBef>
            <a:spcAft>
              <a:spcPct val="15000"/>
            </a:spcAft>
            <a:buChar char="•"/>
          </a:pPr>
          <a:r>
            <a:rPr lang="en-US" sz="1800" kern="1200" dirty="0">
              <a:solidFill>
                <a:schemeClr val="bg1"/>
              </a:solidFill>
              <a:latin typeface="Glacial Indifference" panose="020B0604020202020204" charset="0"/>
            </a:rPr>
            <a:t>Exploratory data analysis (EDA) (Matplotlib and Seaborn). </a:t>
          </a:r>
          <a:endParaRPr lang="en-SG" sz="1800" kern="1200" dirty="0">
            <a:solidFill>
              <a:schemeClr val="bg1"/>
            </a:solidFill>
            <a:latin typeface="Glacial Indifference" panose="020B0604020202020204" charset="0"/>
          </a:endParaRPr>
        </a:p>
      </dsp:txBody>
      <dsp:txXfrm>
        <a:off x="4309065" y="3382736"/>
        <a:ext cx="2378610" cy="2155109"/>
      </dsp:txXfrm>
    </dsp:sp>
    <dsp:sp modelId="{8A55A278-40C7-4EC2-9E69-1385D4F21219}">
      <dsp:nvSpPr>
        <dsp:cNvPr id="0" name=""/>
        <dsp:cNvSpPr/>
      </dsp:nvSpPr>
      <dsp:spPr>
        <a:xfrm>
          <a:off x="1031247" y="3891991"/>
          <a:ext cx="2303025" cy="1151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SG" sz="3200" kern="1200" dirty="0">
              <a:solidFill>
                <a:schemeClr val="bg1"/>
              </a:solidFill>
              <a:latin typeface="Glacial Indifference" panose="020B0604020202020204" charset="0"/>
            </a:rPr>
            <a:t>Data processing</a:t>
          </a:r>
        </a:p>
      </dsp:txBody>
      <dsp:txXfrm>
        <a:off x="1031247" y="3891991"/>
        <a:ext cx="2303025" cy="1151237"/>
      </dsp:txXfrm>
    </dsp:sp>
    <dsp:sp modelId="{46DFC1D6-9F5A-4C52-A5E6-3D0D45764897}">
      <dsp:nvSpPr>
        <dsp:cNvPr id="0" name=""/>
        <dsp:cNvSpPr/>
      </dsp:nvSpPr>
      <dsp:spPr>
        <a:xfrm>
          <a:off x="1556608" y="5048394"/>
          <a:ext cx="3560778" cy="3562205"/>
        </a:xfrm>
        <a:prstGeom prst="blockArc">
          <a:avLst>
            <a:gd name="adj1" fmla="val 13500000"/>
            <a:gd name="adj2" fmla="val 10800000"/>
            <a:gd name="adj3" fmla="val 1274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16879C-ADAD-4DEE-B00A-C2D26C4BD1B3}">
      <dsp:nvSpPr>
        <dsp:cNvPr id="0" name=""/>
        <dsp:cNvSpPr/>
      </dsp:nvSpPr>
      <dsp:spPr>
        <a:xfrm>
          <a:off x="5226085" y="6025988"/>
          <a:ext cx="2917007" cy="212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05" tIns="14605" rIns="14605" bIns="14605"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solidFill>
                <a:schemeClr val="bg1"/>
              </a:solidFill>
              <a:latin typeface="Glacial Indifference" panose="020B0604020202020204" charset="0"/>
            </a:rPr>
            <a:t>Visualizations (e.g., bar plots) to highlight insights</a:t>
          </a:r>
          <a:endParaRPr lang="en-SG" sz="1800" kern="1200" dirty="0">
            <a:solidFill>
              <a:schemeClr val="bg1"/>
            </a:solidFill>
            <a:latin typeface="Glacial Indifference" panose="020B0604020202020204" charset="0"/>
          </a:endParaRPr>
        </a:p>
        <a:p>
          <a:pPr marL="171450" lvl="1" indent="-171450" algn="l" defTabSz="800100">
            <a:lnSpc>
              <a:spcPct val="90000"/>
            </a:lnSpc>
            <a:spcBef>
              <a:spcPct val="0"/>
            </a:spcBef>
            <a:spcAft>
              <a:spcPct val="15000"/>
            </a:spcAft>
            <a:buChar char="•"/>
          </a:pPr>
          <a:endParaRPr lang="en-SG" sz="1800" kern="1200" dirty="0">
            <a:solidFill>
              <a:schemeClr val="bg1"/>
            </a:solidFill>
            <a:latin typeface="Glacial Indifference" panose="020B0604020202020204" charset="0"/>
          </a:endParaRPr>
        </a:p>
        <a:p>
          <a:pPr marL="171450" lvl="1" indent="-171450" algn="l" defTabSz="800100">
            <a:lnSpc>
              <a:spcPct val="90000"/>
            </a:lnSpc>
            <a:spcBef>
              <a:spcPct val="0"/>
            </a:spcBef>
            <a:spcAft>
              <a:spcPct val="15000"/>
            </a:spcAft>
            <a:buChar char="•"/>
          </a:pPr>
          <a:r>
            <a:rPr lang="en-US" sz="1800" b="1" kern="1200" dirty="0">
              <a:solidFill>
                <a:schemeClr val="bg1"/>
              </a:solidFill>
              <a:latin typeface="Glacial Indifference" panose="020B0604020202020204" charset="0"/>
            </a:rPr>
            <a:t>Derived insights for forming the "Best XI" players </a:t>
          </a:r>
          <a:endParaRPr lang="en-SG" sz="1800" kern="1200" dirty="0">
            <a:solidFill>
              <a:schemeClr val="bg1"/>
            </a:solidFill>
            <a:latin typeface="Glacial Indifference" panose="020B0604020202020204" charset="0"/>
          </a:endParaRPr>
        </a:p>
      </dsp:txBody>
      <dsp:txXfrm>
        <a:off x="5226085" y="6025988"/>
        <a:ext cx="2917007" cy="2127414"/>
      </dsp:txXfrm>
    </dsp:sp>
    <dsp:sp modelId="{CCFB68C4-33E6-400F-9301-D92EBAD3ADD0}">
      <dsp:nvSpPr>
        <dsp:cNvPr id="0" name=""/>
        <dsp:cNvSpPr/>
      </dsp:nvSpPr>
      <dsp:spPr>
        <a:xfrm>
          <a:off x="2183149" y="6290904"/>
          <a:ext cx="2303025" cy="1151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SG" sz="3200" kern="1200" dirty="0">
              <a:solidFill>
                <a:schemeClr val="bg1"/>
              </a:solidFill>
              <a:latin typeface="Glacial Indifference" panose="020B0604020202020204" charset="0"/>
            </a:rPr>
            <a:t>Data Visualization</a:t>
          </a:r>
        </a:p>
      </dsp:txBody>
      <dsp:txXfrm>
        <a:off x="2183149" y="6290904"/>
        <a:ext cx="2303025" cy="115123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A6CD3A-CE9B-CCCB-B091-50F7A34FBC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06EBCAD3-EB72-ECD6-4CED-C0767F610B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D13D6F-75CD-4549-8AB5-DCFF4250C2F0}" type="datetimeFigureOut">
              <a:rPr lang="en-SG" smtClean="0"/>
              <a:t>11/1/2025</a:t>
            </a:fld>
            <a:endParaRPr lang="en-SG"/>
          </a:p>
        </p:txBody>
      </p:sp>
      <p:sp>
        <p:nvSpPr>
          <p:cNvPr id="4" name="Footer Placeholder 3">
            <a:extLst>
              <a:ext uri="{FF2B5EF4-FFF2-40B4-BE49-F238E27FC236}">
                <a16:creationId xmlns:a16="http://schemas.microsoft.com/office/drawing/2014/main" id="{FFC98C87-74AC-10CB-85D6-6947BE61BD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6B7D2830-B79B-939B-2102-2F82A36D90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77862A-8698-442C-9BA6-AD80E655F06F}" type="slidenum">
              <a:rPr lang="en-SG" smtClean="0"/>
              <a:t>‹#›</a:t>
            </a:fld>
            <a:endParaRPr lang="en-SG"/>
          </a:p>
        </p:txBody>
      </p:sp>
    </p:spTree>
    <p:extLst>
      <p:ext uri="{BB962C8B-B14F-4D97-AF65-F5344CB8AC3E}">
        <p14:creationId xmlns:p14="http://schemas.microsoft.com/office/powerpoint/2010/main" val="32925233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84481C-A00D-4440-9622-7AD85800AA7C}" type="datetimeFigureOut">
              <a:rPr lang="en-SG" smtClean="0"/>
              <a:t>11/1/2025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94507-4772-4E10-B351-29A215CE7185}" type="slidenum">
              <a:rPr lang="en-SG" smtClean="0"/>
              <a:t>‹#›</a:t>
            </a:fld>
            <a:endParaRPr lang="en-SG"/>
          </a:p>
        </p:txBody>
      </p:sp>
    </p:spTree>
    <p:extLst>
      <p:ext uri="{BB962C8B-B14F-4D97-AF65-F5344CB8AC3E}">
        <p14:creationId xmlns:p14="http://schemas.microsoft.com/office/powerpoint/2010/main" val="27822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5">
            <a:extLst>
              <a:ext uri="{FF2B5EF4-FFF2-40B4-BE49-F238E27FC236}">
                <a16:creationId xmlns:a16="http://schemas.microsoft.com/office/drawing/2014/main" id="{D372C95B-0CE6-8CE3-CD7F-7311FAB922BD}"/>
              </a:ext>
            </a:extLst>
          </p:cNvPr>
          <p:cNvGrpSpPr/>
          <p:nvPr userDrawn="1"/>
        </p:nvGrpSpPr>
        <p:grpSpPr>
          <a:xfrm>
            <a:off x="17259300" y="2331504"/>
            <a:ext cx="571500" cy="571500"/>
            <a:chOff x="0" y="0"/>
            <a:chExt cx="6350000" cy="6350000"/>
          </a:xfrm>
        </p:grpSpPr>
        <p:sp>
          <p:nvSpPr>
            <p:cNvPr id="11" name="Freeform 6">
              <a:extLst>
                <a:ext uri="{FF2B5EF4-FFF2-40B4-BE49-F238E27FC236}">
                  <a16:creationId xmlns:a16="http://schemas.microsoft.com/office/drawing/2014/main" id="{E99B734E-1A55-65DA-7062-E0F918CA51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sp>
        <p:nvSpPr>
          <p:cNvPr id="8" name="Freeform 3">
            <a:extLst>
              <a:ext uri="{FF2B5EF4-FFF2-40B4-BE49-F238E27FC236}">
                <a16:creationId xmlns:a16="http://schemas.microsoft.com/office/drawing/2014/main" id="{95E73232-F130-4837-2D18-0060CCEFD7A5}"/>
              </a:ext>
            </a:extLst>
          </p:cNvPr>
          <p:cNvSpPr/>
          <p:nvPr userDrawn="1"/>
        </p:nvSpPr>
        <p:spPr>
          <a:xfrm rot="-3503445">
            <a:off x="16271422" y="-688600"/>
            <a:ext cx="2293248" cy="2376423"/>
          </a:xfrm>
          <a:custGeom>
            <a:avLst/>
            <a:gdLst/>
            <a:ahLst/>
            <a:cxnLst/>
            <a:rect l="l" t="t" r="r" b="b"/>
            <a:pathLst>
              <a:path w="2293248" h="2376423">
                <a:moveTo>
                  <a:pt x="0" y="0"/>
                </a:moveTo>
                <a:lnTo>
                  <a:pt x="2293248" y="0"/>
                </a:lnTo>
                <a:lnTo>
                  <a:pt x="2293248" y="2376423"/>
                </a:lnTo>
                <a:lnTo>
                  <a:pt x="0" y="23764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2">
            <a:extLst>
              <a:ext uri="{FF2B5EF4-FFF2-40B4-BE49-F238E27FC236}">
                <a16:creationId xmlns:a16="http://schemas.microsoft.com/office/drawing/2014/main" id="{7C32B35A-E00B-E3F4-26AF-AD1B1913CEDA}"/>
              </a:ext>
            </a:extLst>
          </p:cNvPr>
          <p:cNvSpPr/>
          <p:nvPr userDrawn="1"/>
        </p:nvSpPr>
        <p:spPr>
          <a:xfrm rot="-3261929">
            <a:off x="9529097" y="-3897920"/>
            <a:ext cx="12406564" cy="12856543"/>
          </a:xfrm>
          <a:custGeom>
            <a:avLst/>
            <a:gdLst/>
            <a:ahLst/>
            <a:cxnLst/>
            <a:rect l="l" t="t" r="r" b="b"/>
            <a:pathLst>
              <a:path w="12406564" h="12856543">
                <a:moveTo>
                  <a:pt x="0" y="0"/>
                </a:moveTo>
                <a:lnTo>
                  <a:pt x="12406564" y="0"/>
                </a:lnTo>
                <a:lnTo>
                  <a:pt x="12406564" y="12856543"/>
                </a:lnTo>
                <a:lnTo>
                  <a:pt x="0" y="12856543"/>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9" name="Freeform 4">
            <a:extLst>
              <a:ext uri="{FF2B5EF4-FFF2-40B4-BE49-F238E27FC236}">
                <a16:creationId xmlns:a16="http://schemas.microsoft.com/office/drawing/2014/main" id="{0DE8B086-C06E-E6BB-D925-7C5BBC597B5A}"/>
              </a:ext>
            </a:extLst>
          </p:cNvPr>
          <p:cNvSpPr/>
          <p:nvPr userDrawn="1"/>
        </p:nvSpPr>
        <p:spPr>
          <a:xfrm rot="6512446">
            <a:off x="2716406" y="428320"/>
            <a:ext cx="10179983" cy="10549205"/>
          </a:xfrm>
          <a:custGeom>
            <a:avLst/>
            <a:gdLst/>
            <a:ahLst/>
            <a:cxnLst/>
            <a:rect l="l" t="t" r="r" b="b"/>
            <a:pathLst>
              <a:path w="10179983" h="10549205">
                <a:moveTo>
                  <a:pt x="0" y="0"/>
                </a:moveTo>
                <a:lnTo>
                  <a:pt x="10179983" y="0"/>
                </a:lnTo>
                <a:lnTo>
                  <a:pt x="10179983" y="10549205"/>
                </a:lnTo>
                <a:lnTo>
                  <a:pt x="0" y="1054920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6" name="Freeform 11">
            <a:extLst>
              <a:ext uri="{FF2B5EF4-FFF2-40B4-BE49-F238E27FC236}">
                <a16:creationId xmlns:a16="http://schemas.microsoft.com/office/drawing/2014/main" id="{061E6236-01D2-52F9-FD2F-B899AF48F368}"/>
              </a:ext>
            </a:extLst>
          </p:cNvPr>
          <p:cNvSpPr/>
          <p:nvPr userDrawn="1"/>
        </p:nvSpPr>
        <p:spPr>
          <a:xfrm rot="-8234702">
            <a:off x="-900014" y="737071"/>
            <a:ext cx="2628319" cy="2723647"/>
          </a:xfrm>
          <a:custGeom>
            <a:avLst/>
            <a:gdLst/>
            <a:ahLst/>
            <a:cxnLst/>
            <a:rect l="l" t="t" r="r" b="b"/>
            <a:pathLst>
              <a:path w="2628319" h="2723647">
                <a:moveTo>
                  <a:pt x="0" y="0"/>
                </a:moveTo>
                <a:lnTo>
                  <a:pt x="2628319" y="0"/>
                </a:lnTo>
                <a:lnTo>
                  <a:pt x="2628319" y="2723647"/>
                </a:lnTo>
                <a:lnTo>
                  <a:pt x="0" y="27236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Title 1"/>
          <p:cNvSpPr>
            <a:spLocks noGrp="1"/>
          </p:cNvSpPr>
          <p:nvPr>
            <p:ph type="ctrTitle"/>
          </p:nvPr>
        </p:nvSpPr>
        <p:spPr>
          <a:xfrm>
            <a:off x="5478424" y="2167991"/>
            <a:ext cx="7772400" cy="1470025"/>
          </a:xfrm>
        </p:spPr>
        <p:txBody>
          <a:bodyPr/>
          <a:lstStyle>
            <a:lvl1pPr algn="ct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5943600" y="6210300"/>
            <a:ext cx="7292322" cy="12954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3" name="TextBox 8">
            <a:extLst>
              <a:ext uri="{FF2B5EF4-FFF2-40B4-BE49-F238E27FC236}">
                <a16:creationId xmlns:a16="http://schemas.microsoft.com/office/drawing/2014/main" id="{154D48F1-2840-9738-A9CD-A9CD9BC6B3D8}"/>
              </a:ext>
            </a:extLst>
          </p:cNvPr>
          <p:cNvSpPr txBox="1"/>
          <p:nvPr userDrawn="1"/>
        </p:nvSpPr>
        <p:spPr>
          <a:xfrm>
            <a:off x="414146" y="6936961"/>
            <a:ext cx="7115133" cy="474489"/>
          </a:xfrm>
          <a:prstGeom prst="rect">
            <a:avLst/>
          </a:prstGeom>
        </p:spPr>
        <p:txBody>
          <a:bodyPr lIns="0" tIns="0" rIns="0" bIns="0" rtlCol="0" anchor="t">
            <a:spAutoFit/>
          </a:bodyPr>
          <a:lstStyle/>
          <a:p>
            <a:pPr>
              <a:lnSpc>
                <a:spcPts val="3730"/>
              </a:lnSpc>
              <a:spcBef>
                <a:spcPct val="0"/>
              </a:spcBef>
            </a:pPr>
            <a:endParaRPr lang="en-US" sz="3108" spc="310" dirty="0">
              <a:solidFill>
                <a:srgbClr val="FFFFFF"/>
              </a:solidFill>
              <a:latin typeface="Glacial Indifference"/>
            </a:endParaRPr>
          </a:p>
        </p:txBody>
      </p:sp>
      <p:sp>
        <p:nvSpPr>
          <p:cNvPr id="14" name="TextBox 9">
            <a:extLst>
              <a:ext uri="{FF2B5EF4-FFF2-40B4-BE49-F238E27FC236}">
                <a16:creationId xmlns:a16="http://schemas.microsoft.com/office/drawing/2014/main" id="{9B5DCFB1-C01E-50F9-EFF9-7280A713CB26}"/>
              </a:ext>
            </a:extLst>
          </p:cNvPr>
          <p:cNvSpPr txBox="1"/>
          <p:nvPr userDrawn="1"/>
        </p:nvSpPr>
        <p:spPr>
          <a:xfrm>
            <a:off x="9364624" y="6936961"/>
            <a:ext cx="8180426" cy="699615"/>
          </a:xfrm>
          <a:prstGeom prst="rect">
            <a:avLst/>
          </a:prstGeom>
        </p:spPr>
        <p:txBody>
          <a:bodyPr lIns="0" tIns="0" rIns="0" bIns="0" rtlCol="0" anchor="t">
            <a:spAutoFit/>
          </a:bodyPr>
          <a:lstStyle/>
          <a:p>
            <a:pPr algn="ctr">
              <a:lnSpc>
                <a:spcPts val="5667"/>
              </a:lnSpc>
              <a:spcBef>
                <a:spcPct val="0"/>
              </a:spcBef>
            </a:pPr>
            <a:endParaRPr lang="en-US" sz="4722" spc="472" dirty="0">
              <a:solidFill>
                <a:srgbClr val="FFFFFF"/>
              </a:solidFill>
              <a:latin typeface="Glacial Indifferenc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62000" y="9715055"/>
            <a:ext cx="2133600" cy="365125"/>
          </a:xfrm>
          <a:prstGeom prst="rect">
            <a:avLst/>
          </a:prstGeom>
        </p:spPr>
        <p:txBody>
          <a:bodyPr/>
          <a:lstStyle/>
          <a:p>
            <a:fld id="{DA83B56E-484A-490E-AFA4-254F1CEDA93A}" type="datetime1">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6BD4CD"/>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647CCA-1FE3-7B12-F57F-80CF2D236779}"/>
              </a:ext>
            </a:extLst>
          </p:cNvPr>
          <p:cNvSpPr>
            <a:spLocks noGrp="1"/>
          </p:cNvSpPr>
          <p:nvPr>
            <p:ph type="ftr" sz="quarter" idx="10"/>
          </p:nvPr>
        </p:nvSpPr>
        <p:spPr/>
        <p:txBody>
          <a:bodyPr/>
          <a:lstStyle/>
          <a:p>
            <a:endParaRPr lang="en-US" dirty="0"/>
          </a:p>
        </p:txBody>
      </p:sp>
      <p:sp>
        <p:nvSpPr>
          <p:cNvPr id="5" name="Freeform 2">
            <a:extLst>
              <a:ext uri="{FF2B5EF4-FFF2-40B4-BE49-F238E27FC236}">
                <a16:creationId xmlns:a16="http://schemas.microsoft.com/office/drawing/2014/main" id="{0B92FA7B-BD62-4F04-0F7A-8B61056AA802}"/>
              </a:ext>
            </a:extLst>
          </p:cNvPr>
          <p:cNvSpPr/>
          <p:nvPr userDrawn="1"/>
        </p:nvSpPr>
        <p:spPr>
          <a:xfrm>
            <a:off x="-1090735" y="936844"/>
            <a:ext cx="9022901" cy="9350156"/>
          </a:xfrm>
          <a:custGeom>
            <a:avLst/>
            <a:gdLst/>
            <a:ahLst/>
            <a:cxnLst/>
            <a:rect l="l" t="t" r="r" b="b"/>
            <a:pathLst>
              <a:path w="9022901" h="9350156">
                <a:moveTo>
                  <a:pt x="0" y="0"/>
                </a:moveTo>
                <a:lnTo>
                  <a:pt x="9022900" y="0"/>
                </a:lnTo>
                <a:lnTo>
                  <a:pt x="9022900" y="9350156"/>
                </a:lnTo>
                <a:lnTo>
                  <a:pt x="0" y="935015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6" name="Freeform 3">
            <a:extLst>
              <a:ext uri="{FF2B5EF4-FFF2-40B4-BE49-F238E27FC236}">
                <a16:creationId xmlns:a16="http://schemas.microsoft.com/office/drawing/2014/main" id="{DB9A23B7-B4D1-9B98-78C5-26EED7A2C936}"/>
              </a:ext>
            </a:extLst>
          </p:cNvPr>
          <p:cNvSpPr/>
          <p:nvPr userDrawn="1"/>
        </p:nvSpPr>
        <p:spPr>
          <a:xfrm rot="-5400000">
            <a:off x="13615654" y="-2642814"/>
            <a:ext cx="5534692" cy="5735432"/>
          </a:xfrm>
          <a:custGeom>
            <a:avLst/>
            <a:gdLst/>
            <a:ahLst/>
            <a:cxnLst/>
            <a:rect l="l" t="t" r="r" b="b"/>
            <a:pathLst>
              <a:path w="5534692" h="5735432">
                <a:moveTo>
                  <a:pt x="0" y="0"/>
                </a:moveTo>
                <a:lnTo>
                  <a:pt x="5534692" y="0"/>
                </a:lnTo>
                <a:lnTo>
                  <a:pt x="5534692" y="5735431"/>
                </a:lnTo>
                <a:lnTo>
                  <a:pt x="0" y="5735431"/>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A9608087-B0E0-55CE-2D83-583C7AFC2309}"/>
              </a:ext>
            </a:extLst>
          </p:cNvPr>
          <p:cNvSpPr/>
          <p:nvPr userDrawn="1"/>
        </p:nvSpPr>
        <p:spPr>
          <a:xfrm rot="-9653010">
            <a:off x="-2329864" y="2214716"/>
            <a:ext cx="8774102" cy="9092333"/>
          </a:xfrm>
          <a:custGeom>
            <a:avLst/>
            <a:gdLst/>
            <a:ahLst/>
            <a:cxnLst/>
            <a:rect l="l" t="t" r="r" b="b"/>
            <a:pathLst>
              <a:path w="8774102" h="9092333">
                <a:moveTo>
                  <a:pt x="0" y="0"/>
                </a:moveTo>
                <a:lnTo>
                  <a:pt x="8774102" y="0"/>
                </a:lnTo>
                <a:lnTo>
                  <a:pt x="8774102" y="9092334"/>
                </a:lnTo>
                <a:lnTo>
                  <a:pt x="0" y="9092334"/>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5">
            <a:extLst>
              <a:ext uri="{FF2B5EF4-FFF2-40B4-BE49-F238E27FC236}">
                <a16:creationId xmlns:a16="http://schemas.microsoft.com/office/drawing/2014/main" id="{84580C52-D308-31C0-077A-29FEA25DB37C}"/>
              </a:ext>
            </a:extLst>
          </p:cNvPr>
          <p:cNvSpPr/>
          <p:nvPr userDrawn="1"/>
        </p:nvSpPr>
        <p:spPr>
          <a:xfrm rot="-896806">
            <a:off x="-1451748" y="4448377"/>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9" name="Freeform 6">
            <a:extLst>
              <a:ext uri="{FF2B5EF4-FFF2-40B4-BE49-F238E27FC236}">
                <a16:creationId xmlns:a16="http://schemas.microsoft.com/office/drawing/2014/main" id="{34EE92C2-110B-483B-84DF-7290173E9EEC}"/>
              </a:ext>
            </a:extLst>
          </p:cNvPr>
          <p:cNvSpPr/>
          <p:nvPr userDrawn="1"/>
        </p:nvSpPr>
        <p:spPr>
          <a:xfrm rot="-1327134">
            <a:off x="16950340" y="6599166"/>
            <a:ext cx="1658546" cy="1718700"/>
          </a:xfrm>
          <a:custGeom>
            <a:avLst/>
            <a:gdLst/>
            <a:ahLst/>
            <a:cxnLst/>
            <a:rect l="l" t="t" r="r" b="b"/>
            <a:pathLst>
              <a:path w="1658546" h="1718700">
                <a:moveTo>
                  <a:pt x="0" y="0"/>
                </a:moveTo>
                <a:lnTo>
                  <a:pt x="1658546" y="0"/>
                </a:lnTo>
                <a:lnTo>
                  <a:pt x="1658546" y="1718700"/>
                </a:lnTo>
                <a:lnTo>
                  <a:pt x="0" y="1718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7">
            <a:extLst>
              <a:ext uri="{FF2B5EF4-FFF2-40B4-BE49-F238E27FC236}">
                <a16:creationId xmlns:a16="http://schemas.microsoft.com/office/drawing/2014/main" id="{62CFC63A-CEBF-4F98-0726-EB66B95DA893}"/>
              </a:ext>
            </a:extLst>
          </p:cNvPr>
          <p:cNvGrpSpPr/>
          <p:nvPr userDrawn="1"/>
        </p:nvGrpSpPr>
        <p:grpSpPr>
          <a:xfrm>
            <a:off x="-152400" y="1028700"/>
            <a:ext cx="1181100" cy="1181100"/>
            <a:chOff x="0" y="0"/>
            <a:chExt cx="6350000" cy="6350000"/>
          </a:xfrm>
        </p:grpSpPr>
        <p:sp>
          <p:nvSpPr>
            <p:cNvPr id="11" name="Freeform 8">
              <a:extLst>
                <a:ext uri="{FF2B5EF4-FFF2-40B4-BE49-F238E27FC236}">
                  <a16:creationId xmlns:a16="http://schemas.microsoft.com/office/drawing/2014/main" id="{A7F8247B-7736-50FE-0E29-9484611577D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grpSp>
        <p:nvGrpSpPr>
          <p:cNvPr id="12" name="Group 9">
            <a:extLst>
              <a:ext uri="{FF2B5EF4-FFF2-40B4-BE49-F238E27FC236}">
                <a16:creationId xmlns:a16="http://schemas.microsoft.com/office/drawing/2014/main" id="{15B9969B-459D-ABE8-3638-837474F6C25A}"/>
              </a:ext>
            </a:extLst>
          </p:cNvPr>
          <p:cNvGrpSpPr/>
          <p:nvPr userDrawn="1"/>
        </p:nvGrpSpPr>
        <p:grpSpPr>
          <a:xfrm>
            <a:off x="16687800" y="8686800"/>
            <a:ext cx="571500" cy="571500"/>
            <a:chOff x="0" y="0"/>
            <a:chExt cx="6350000" cy="6350000"/>
          </a:xfrm>
        </p:grpSpPr>
        <p:sp>
          <p:nvSpPr>
            <p:cNvPr id="13" name="Freeform 10">
              <a:extLst>
                <a:ext uri="{FF2B5EF4-FFF2-40B4-BE49-F238E27FC236}">
                  <a16:creationId xmlns:a16="http://schemas.microsoft.com/office/drawing/2014/main" id="{95EFF988-0D3F-B5A2-7E42-A929D59BD98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sp>
        <p:nvSpPr>
          <p:cNvPr id="2" name="Title 1">
            <a:extLst>
              <a:ext uri="{FF2B5EF4-FFF2-40B4-BE49-F238E27FC236}">
                <a16:creationId xmlns:a16="http://schemas.microsoft.com/office/drawing/2014/main" id="{AB5E24AA-3CAD-C5AF-9F68-9B6BA5500FEC}"/>
              </a:ext>
            </a:extLst>
          </p:cNvPr>
          <p:cNvSpPr>
            <a:spLocks noGrp="1"/>
          </p:cNvSpPr>
          <p:nvPr>
            <p:ph type="title" hasCustomPrompt="1"/>
          </p:nvPr>
        </p:nvSpPr>
        <p:spPr>
          <a:xfrm>
            <a:off x="457200" y="274638"/>
            <a:ext cx="17145000" cy="1143000"/>
          </a:xfrm>
        </p:spPr>
        <p:txBody>
          <a:bodyPr/>
          <a:lstStyle>
            <a:lvl1pPr algn="ctr">
              <a:defRPr>
                <a:solidFill>
                  <a:srgbClr val="04345C"/>
                </a:solidFill>
              </a:defRPr>
            </a:lvl1pPr>
          </a:lstStyle>
          <a:p>
            <a:r>
              <a:rPr lang="en-US" dirty="0"/>
              <a:t>CLICK TO EDIT MASTER TITLE STYLE</a:t>
            </a:r>
            <a:endParaRPr lang="en-SG" dirty="0"/>
          </a:p>
        </p:txBody>
      </p:sp>
      <p:sp>
        <p:nvSpPr>
          <p:cNvPr id="4" name="Slide Number Placeholder 3">
            <a:extLst>
              <a:ext uri="{FF2B5EF4-FFF2-40B4-BE49-F238E27FC236}">
                <a16:creationId xmlns:a16="http://schemas.microsoft.com/office/drawing/2014/main" id="{5423F48C-551B-2AA1-5038-83EE5145D1E0}"/>
              </a:ext>
            </a:extLst>
          </p:cNvPr>
          <p:cNvSpPr>
            <a:spLocks noGrp="1"/>
          </p:cNvSpPr>
          <p:nvPr>
            <p:ph type="sldNum" sz="quarter" idx="11"/>
          </p:nvPr>
        </p:nvSpPr>
        <p:spPr/>
        <p:txBody>
          <a:bodyPr/>
          <a:lstStyle>
            <a:lvl1pPr>
              <a:defRPr>
                <a:solidFill>
                  <a:srgbClr val="04345C"/>
                </a:solidFill>
              </a:defRPr>
            </a:lvl1pPr>
          </a:lstStyle>
          <a:p>
            <a:r>
              <a:rPr lang="en-US" dirty="0"/>
              <a:t>Slide - </a:t>
            </a:r>
            <a:fld id="{B6F15528-21DE-4FAA-801E-634DDDAF4B2B}" type="slidenum">
              <a:rPr lang="en-US" smtClean="0"/>
              <a:pPr/>
              <a:t>‹#›</a:t>
            </a:fld>
            <a:endParaRPr lang="en-US" dirty="0"/>
          </a:p>
        </p:txBody>
      </p:sp>
    </p:spTree>
    <p:extLst>
      <p:ext uri="{BB962C8B-B14F-4D97-AF65-F5344CB8AC3E}">
        <p14:creationId xmlns:p14="http://schemas.microsoft.com/office/powerpoint/2010/main" val="1649292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B5A1-6DF7-54C2-BD8A-F6C56F570CF7}"/>
              </a:ext>
            </a:extLst>
          </p:cNvPr>
          <p:cNvSpPr>
            <a:spLocks noGrp="1"/>
          </p:cNvSpPr>
          <p:nvPr>
            <p:ph type="title" hasCustomPrompt="1"/>
          </p:nvPr>
        </p:nvSpPr>
        <p:spPr/>
        <p:txBody>
          <a:bodyPr/>
          <a:lstStyle/>
          <a:p>
            <a:r>
              <a:rPr lang="en-US" dirty="0"/>
              <a:t>CLICK TO EDIT MASTER TITLE STYLE</a:t>
            </a:r>
            <a:endParaRPr lang="en-SG" dirty="0"/>
          </a:p>
        </p:txBody>
      </p:sp>
      <p:sp>
        <p:nvSpPr>
          <p:cNvPr id="3" name="Footer Placeholder 2">
            <a:extLst>
              <a:ext uri="{FF2B5EF4-FFF2-40B4-BE49-F238E27FC236}">
                <a16:creationId xmlns:a16="http://schemas.microsoft.com/office/drawing/2014/main" id="{E80E2BC2-234D-7976-D012-AFAD488328C3}"/>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283E41F-09E8-0BD2-55C4-60CE9514B08C}"/>
              </a:ext>
            </a:extLst>
          </p:cNvPr>
          <p:cNvSpPr>
            <a:spLocks noGrp="1"/>
          </p:cNvSpPr>
          <p:nvPr>
            <p:ph type="sldNum" sz="quarter" idx="11"/>
          </p:nvPr>
        </p:nvSpPr>
        <p:spPr/>
        <p:txBody>
          <a:bodyPr/>
          <a:lstStyle/>
          <a:p>
            <a:r>
              <a:rPr lang="en-US" dirty="0"/>
              <a:t>Slide - </a:t>
            </a:r>
            <a:fld id="{B6F15528-21DE-4FAA-801E-634DDDAF4B2B}" type="slidenum">
              <a:rPr lang="en-US" smtClean="0"/>
              <a:pPr/>
              <a:t>‹#›</a:t>
            </a:fld>
            <a:endParaRPr lang="en-US" dirty="0"/>
          </a:p>
        </p:txBody>
      </p:sp>
      <p:sp>
        <p:nvSpPr>
          <p:cNvPr id="5" name="Freeform 2">
            <a:extLst>
              <a:ext uri="{FF2B5EF4-FFF2-40B4-BE49-F238E27FC236}">
                <a16:creationId xmlns:a16="http://schemas.microsoft.com/office/drawing/2014/main" id="{8C882092-9E1D-5A28-F6FE-FFFF5131C2B8}"/>
              </a:ext>
            </a:extLst>
          </p:cNvPr>
          <p:cNvSpPr/>
          <p:nvPr userDrawn="1"/>
        </p:nvSpPr>
        <p:spPr>
          <a:xfrm rot="-5692641">
            <a:off x="1859542" y="-2559242"/>
            <a:ext cx="14137151" cy="14649897"/>
          </a:xfrm>
          <a:custGeom>
            <a:avLst/>
            <a:gdLst/>
            <a:ahLst/>
            <a:cxnLst/>
            <a:rect l="l" t="t" r="r" b="b"/>
            <a:pathLst>
              <a:path w="14137151" h="14649897">
                <a:moveTo>
                  <a:pt x="0" y="0"/>
                </a:moveTo>
                <a:lnTo>
                  <a:pt x="14137151" y="0"/>
                </a:lnTo>
                <a:lnTo>
                  <a:pt x="14137151" y="14649897"/>
                </a:lnTo>
                <a:lnTo>
                  <a:pt x="0" y="1464989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6" name="Freeform 3">
            <a:extLst>
              <a:ext uri="{FF2B5EF4-FFF2-40B4-BE49-F238E27FC236}">
                <a16:creationId xmlns:a16="http://schemas.microsoft.com/office/drawing/2014/main" id="{8843816B-873D-C7C6-038B-FF9632D0BE55}"/>
              </a:ext>
            </a:extLst>
          </p:cNvPr>
          <p:cNvSpPr/>
          <p:nvPr userDrawn="1"/>
        </p:nvSpPr>
        <p:spPr>
          <a:xfrm>
            <a:off x="-1816729" y="5468715"/>
            <a:ext cx="5328508" cy="5521770"/>
          </a:xfrm>
          <a:custGeom>
            <a:avLst/>
            <a:gdLst/>
            <a:ahLst/>
            <a:cxnLst/>
            <a:rect l="l" t="t" r="r" b="b"/>
            <a:pathLst>
              <a:path w="5328508" h="5521770">
                <a:moveTo>
                  <a:pt x="0" y="0"/>
                </a:moveTo>
                <a:lnTo>
                  <a:pt x="5328508" y="0"/>
                </a:lnTo>
                <a:lnTo>
                  <a:pt x="5328508" y="5521770"/>
                </a:lnTo>
                <a:lnTo>
                  <a:pt x="0" y="552177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9213DDD3-C60C-C069-BA89-4B79016023A5}"/>
              </a:ext>
            </a:extLst>
          </p:cNvPr>
          <p:cNvSpPr/>
          <p:nvPr userDrawn="1"/>
        </p:nvSpPr>
        <p:spPr>
          <a:xfrm>
            <a:off x="648884" y="8667750"/>
            <a:ext cx="2306858" cy="2390526"/>
          </a:xfrm>
          <a:custGeom>
            <a:avLst/>
            <a:gdLst/>
            <a:ahLst/>
            <a:cxnLst/>
            <a:rect l="l" t="t" r="r" b="b"/>
            <a:pathLst>
              <a:path w="2306858" h="2390526">
                <a:moveTo>
                  <a:pt x="0" y="0"/>
                </a:moveTo>
                <a:lnTo>
                  <a:pt x="2306858" y="0"/>
                </a:lnTo>
                <a:lnTo>
                  <a:pt x="2306858" y="2390526"/>
                </a:lnTo>
                <a:lnTo>
                  <a:pt x="0" y="2390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5">
            <a:extLst>
              <a:ext uri="{FF2B5EF4-FFF2-40B4-BE49-F238E27FC236}">
                <a16:creationId xmlns:a16="http://schemas.microsoft.com/office/drawing/2014/main" id="{20BBB63D-F65B-7EDD-88EA-4F852877E000}"/>
              </a:ext>
            </a:extLst>
          </p:cNvPr>
          <p:cNvSpPr/>
          <p:nvPr userDrawn="1"/>
        </p:nvSpPr>
        <p:spPr>
          <a:xfrm rot="-2700000">
            <a:off x="12967898" y="-2126071"/>
            <a:ext cx="6088708" cy="6309542"/>
          </a:xfrm>
          <a:custGeom>
            <a:avLst/>
            <a:gdLst/>
            <a:ahLst/>
            <a:cxnLst/>
            <a:rect l="l" t="t" r="r" b="b"/>
            <a:pathLst>
              <a:path w="6088708" h="6309542">
                <a:moveTo>
                  <a:pt x="0" y="0"/>
                </a:moveTo>
                <a:lnTo>
                  <a:pt x="6088708" y="0"/>
                </a:lnTo>
                <a:lnTo>
                  <a:pt x="6088708" y="6309542"/>
                </a:lnTo>
                <a:lnTo>
                  <a:pt x="0" y="6309542"/>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9" name="Freeform 6">
            <a:extLst>
              <a:ext uri="{FF2B5EF4-FFF2-40B4-BE49-F238E27FC236}">
                <a16:creationId xmlns:a16="http://schemas.microsoft.com/office/drawing/2014/main" id="{52782D0C-6B8D-7E39-A1CD-9FFEA7013B35}"/>
              </a:ext>
            </a:extLst>
          </p:cNvPr>
          <p:cNvSpPr/>
          <p:nvPr userDrawn="1"/>
        </p:nvSpPr>
        <p:spPr>
          <a:xfrm rot="6449029">
            <a:off x="16729013" y="2010975"/>
            <a:ext cx="1828804" cy="1895134"/>
          </a:xfrm>
          <a:custGeom>
            <a:avLst/>
            <a:gdLst/>
            <a:ahLst/>
            <a:cxnLst/>
            <a:rect l="l" t="t" r="r" b="b"/>
            <a:pathLst>
              <a:path w="1828804" h="1895134">
                <a:moveTo>
                  <a:pt x="0" y="0"/>
                </a:moveTo>
                <a:lnTo>
                  <a:pt x="1828804" y="0"/>
                </a:lnTo>
                <a:lnTo>
                  <a:pt x="1828804" y="1895134"/>
                </a:lnTo>
                <a:lnTo>
                  <a:pt x="0" y="18951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7">
            <a:extLst>
              <a:ext uri="{FF2B5EF4-FFF2-40B4-BE49-F238E27FC236}">
                <a16:creationId xmlns:a16="http://schemas.microsoft.com/office/drawing/2014/main" id="{5E472B8C-E24A-16EC-1C49-909BFC44DAE1}"/>
              </a:ext>
            </a:extLst>
          </p:cNvPr>
          <p:cNvGrpSpPr/>
          <p:nvPr userDrawn="1"/>
        </p:nvGrpSpPr>
        <p:grpSpPr>
          <a:xfrm>
            <a:off x="16687800" y="1028700"/>
            <a:ext cx="571500" cy="571500"/>
            <a:chOff x="0" y="0"/>
            <a:chExt cx="6350000" cy="6350000"/>
          </a:xfrm>
        </p:grpSpPr>
        <p:sp>
          <p:nvSpPr>
            <p:cNvPr id="11" name="Freeform 8">
              <a:extLst>
                <a:ext uri="{FF2B5EF4-FFF2-40B4-BE49-F238E27FC236}">
                  <a16:creationId xmlns:a16="http://schemas.microsoft.com/office/drawing/2014/main" id="{27B3BD53-3926-A3D5-BF3F-9C6EAE7A0BE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grpSp>
        <p:nvGrpSpPr>
          <p:cNvPr id="12" name="Group 9">
            <a:extLst>
              <a:ext uri="{FF2B5EF4-FFF2-40B4-BE49-F238E27FC236}">
                <a16:creationId xmlns:a16="http://schemas.microsoft.com/office/drawing/2014/main" id="{E9AA3C1B-F350-461B-BA72-800C9984751A}"/>
              </a:ext>
            </a:extLst>
          </p:cNvPr>
          <p:cNvGrpSpPr/>
          <p:nvPr userDrawn="1"/>
        </p:nvGrpSpPr>
        <p:grpSpPr>
          <a:xfrm>
            <a:off x="-152400" y="8077200"/>
            <a:ext cx="1181100" cy="1181100"/>
            <a:chOff x="0" y="0"/>
            <a:chExt cx="6350000" cy="6350000"/>
          </a:xfrm>
        </p:grpSpPr>
        <p:sp>
          <p:nvSpPr>
            <p:cNvPr id="13" name="Freeform 10">
              <a:extLst>
                <a:ext uri="{FF2B5EF4-FFF2-40B4-BE49-F238E27FC236}">
                  <a16:creationId xmlns:a16="http://schemas.microsoft.com/office/drawing/2014/main" id="{1ECE8C4B-A486-452C-B68C-73EF0282996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spTree>
    <p:extLst>
      <p:ext uri="{BB962C8B-B14F-4D97-AF65-F5344CB8AC3E}">
        <p14:creationId xmlns:p14="http://schemas.microsoft.com/office/powerpoint/2010/main" val="1486400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A3804F-AA0B-ECBE-9FD8-BFD07B7C5AB1}"/>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FB9E5031-2F41-698C-1F93-2146DAA86AD5}"/>
              </a:ext>
            </a:extLst>
          </p:cNvPr>
          <p:cNvSpPr>
            <a:spLocks noGrp="1"/>
          </p:cNvSpPr>
          <p:nvPr>
            <p:ph type="sldNum" sz="quarter" idx="11"/>
          </p:nvPr>
        </p:nvSpPr>
        <p:spPr/>
        <p:txBody>
          <a:bodyPr/>
          <a:lstStyle/>
          <a:p>
            <a:r>
              <a:rPr lang="en-US" dirty="0"/>
              <a:t>Slide - </a:t>
            </a:r>
            <a:fld id="{B6F15528-21DE-4FAA-801E-634DDDAF4B2B}" type="slidenum">
              <a:rPr lang="en-US" smtClean="0"/>
              <a:pPr/>
              <a:t>‹#›</a:t>
            </a:fld>
            <a:endParaRPr lang="en-US" dirty="0"/>
          </a:p>
        </p:txBody>
      </p:sp>
      <p:sp>
        <p:nvSpPr>
          <p:cNvPr id="5" name="Freeform 2">
            <a:extLst>
              <a:ext uri="{FF2B5EF4-FFF2-40B4-BE49-F238E27FC236}">
                <a16:creationId xmlns:a16="http://schemas.microsoft.com/office/drawing/2014/main" id="{12DC772C-BB08-5C8F-C57E-FE21C47A57B7}"/>
              </a:ext>
            </a:extLst>
          </p:cNvPr>
          <p:cNvSpPr/>
          <p:nvPr userDrawn="1"/>
        </p:nvSpPr>
        <p:spPr>
          <a:xfrm rot="-2700000">
            <a:off x="15243511" y="-1356315"/>
            <a:ext cx="4603079" cy="4770030"/>
          </a:xfrm>
          <a:custGeom>
            <a:avLst/>
            <a:gdLst/>
            <a:ahLst/>
            <a:cxnLst/>
            <a:rect l="l" t="t" r="r" b="b"/>
            <a:pathLst>
              <a:path w="4603079" h="4770030">
                <a:moveTo>
                  <a:pt x="0" y="0"/>
                </a:moveTo>
                <a:lnTo>
                  <a:pt x="4603078" y="0"/>
                </a:lnTo>
                <a:lnTo>
                  <a:pt x="4603078" y="4770030"/>
                </a:lnTo>
                <a:lnTo>
                  <a:pt x="0" y="477003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6" name="Freeform 3">
            <a:extLst>
              <a:ext uri="{FF2B5EF4-FFF2-40B4-BE49-F238E27FC236}">
                <a16:creationId xmlns:a16="http://schemas.microsoft.com/office/drawing/2014/main" id="{81BAC750-A179-F04C-6C09-555198E95975}"/>
              </a:ext>
            </a:extLst>
          </p:cNvPr>
          <p:cNvSpPr/>
          <p:nvPr userDrawn="1"/>
        </p:nvSpPr>
        <p:spPr>
          <a:xfrm rot="5121155">
            <a:off x="-87508" y="124994"/>
            <a:ext cx="9685716" cy="10037012"/>
          </a:xfrm>
          <a:custGeom>
            <a:avLst/>
            <a:gdLst/>
            <a:ahLst/>
            <a:cxnLst/>
            <a:rect l="l" t="t" r="r" b="b"/>
            <a:pathLst>
              <a:path w="9685716" h="10037012">
                <a:moveTo>
                  <a:pt x="0" y="0"/>
                </a:moveTo>
                <a:lnTo>
                  <a:pt x="9685716" y="0"/>
                </a:lnTo>
                <a:lnTo>
                  <a:pt x="9685716" y="10037012"/>
                </a:lnTo>
                <a:lnTo>
                  <a:pt x="0" y="100370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7BC7160B-B49E-5606-4428-9528FB875F25}"/>
              </a:ext>
            </a:extLst>
          </p:cNvPr>
          <p:cNvSpPr/>
          <p:nvPr userDrawn="1"/>
        </p:nvSpPr>
        <p:spPr>
          <a:xfrm rot="-2887577">
            <a:off x="-92735" y="5353049"/>
            <a:ext cx="5766719" cy="5975875"/>
          </a:xfrm>
          <a:custGeom>
            <a:avLst/>
            <a:gdLst/>
            <a:ahLst/>
            <a:cxnLst/>
            <a:rect l="l" t="t" r="r" b="b"/>
            <a:pathLst>
              <a:path w="5766719" h="5975875">
                <a:moveTo>
                  <a:pt x="0" y="0"/>
                </a:moveTo>
                <a:lnTo>
                  <a:pt x="5766719" y="0"/>
                </a:lnTo>
                <a:lnTo>
                  <a:pt x="5766719" y="5975874"/>
                </a:lnTo>
                <a:lnTo>
                  <a:pt x="0" y="5975874"/>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8" name="Freeform 5">
            <a:extLst>
              <a:ext uri="{FF2B5EF4-FFF2-40B4-BE49-F238E27FC236}">
                <a16:creationId xmlns:a16="http://schemas.microsoft.com/office/drawing/2014/main" id="{46653F1D-DD77-B1C6-B57F-3E617D033034}"/>
              </a:ext>
            </a:extLst>
          </p:cNvPr>
          <p:cNvSpPr/>
          <p:nvPr userDrawn="1"/>
        </p:nvSpPr>
        <p:spPr>
          <a:xfrm rot="-8904887">
            <a:off x="9074239" y="439499"/>
            <a:ext cx="9078721" cy="9408001"/>
          </a:xfrm>
          <a:custGeom>
            <a:avLst/>
            <a:gdLst/>
            <a:ahLst/>
            <a:cxnLst/>
            <a:rect l="l" t="t" r="r" b="b"/>
            <a:pathLst>
              <a:path w="9078721" h="9408001">
                <a:moveTo>
                  <a:pt x="0" y="0"/>
                </a:moveTo>
                <a:lnTo>
                  <a:pt x="9078721" y="0"/>
                </a:lnTo>
                <a:lnTo>
                  <a:pt x="9078721" y="9408002"/>
                </a:lnTo>
                <a:lnTo>
                  <a:pt x="0" y="9408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6">
            <a:extLst>
              <a:ext uri="{FF2B5EF4-FFF2-40B4-BE49-F238E27FC236}">
                <a16:creationId xmlns:a16="http://schemas.microsoft.com/office/drawing/2014/main" id="{53413207-279E-3EC9-12BC-6DBCB698452F}"/>
              </a:ext>
            </a:extLst>
          </p:cNvPr>
          <p:cNvSpPr/>
          <p:nvPr userDrawn="1"/>
        </p:nvSpPr>
        <p:spPr>
          <a:xfrm rot="-598061">
            <a:off x="8396950" y="4743298"/>
            <a:ext cx="1976307" cy="800404"/>
          </a:xfrm>
          <a:custGeom>
            <a:avLst/>
            <a:gdLst/>
            <a:ahLst/>
            <a:cxnLst/>
            <a:rect l="l" t="t" r="r" b="b"/>
            <a:pathLst>
              <a:path w="1976307" h="800404">
                <a:moveTo>
                  <a:pt x="0" y="0"/>
                </a:moveTo>
                <a:lnTo>
                  <a:pt x="1976306" y="0"/>
                </a:lnTo>
                <a:lnTo>
                  <a:pt x="1976306" y="800404"/>
                </a:lnTo>
                <a:lnTo>
                  <a:pt x="0" y="8004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7">
            <a:extLst>
              <a:ext uri="{FF2B5EF4-FFF2-40B4-BE49-F238E27FC236}">
                <a16:creationId xmlns:a16="http://schemas.microsoft.com/office/drawing/2014/main" id="{1E068306-92D2-8FE7-A824-9FC94540829A}"/>
              </a:ext>
            </a:extLst>
          </p:cNvPr>
          <p:cNvGrpSpPr/>
          <p:nvPr userDrawn="1"/>
        </p:nvGrpSpPr>
        <p:grpSpPr>
          <a:xfrm>
            <a:off x="-320056" y="8324850"/>
            <a:ext cx="1348756" cy="1348756"/>
            <a:chOff x="0" y="0"/>
            <a:chExt cx="6350000" cy="6350000"/>
          </a:xfrm>
        </p:grpSpPr>
        <p:sp>
          <p:nvSpPr>
            <p:cNvPr id="11" name="Freeform 8">
              <a:extLst>
                <a:ext uri="{FF2B5EF4-FFF2-40B4-BE49-F238E27FC236}">
                  <a16:creationId xmlns:a16="http://schemas.microsoft.com/office/drawing/2014/main" id="{4E427D6A-663B-E76E-ED26-40FC334BD7A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grpSp>
        <p:nvGrpSpPr>
          <p:cNvPr id="12" name="Group 9">
            <a:extLst>
              <a:ext uri="{FF2B5EF4-FFF2-40B4-BE49-F238E27FC236}">
                <a16:creationId xmlns:a16="http://schemas.microsoft.com/office/drawing/2014/main" id="{42AC292A-7534-40CE-1AA2-DC2ED00CD1CB}"/>
              </a:ext>
            </a:extLst>
          </p:cNvPr>
          <p:cNvGrpSpPr/>
          <p:nvPr userDrawn="1"/>
        </p:nvGrpSpPr>
        <p:grpSpPr>
          <a:xfrm>
            <a:off x="16973550" y="742950"/>
            <a:ext cx="571500" cy="571500"/>
            <a:chOff x="0" y="0"/>
            <a:chExt cx="6350000" cy="6350000"/>
          </a:xfrm>
        </p:grpSpPr>
        <p:sp>
          <p:nvSpPr>
            <p:cNvPr id="13" name="Freeform 10">
              <a:extLst>
                <a:ext uri="{FF2B5EF4-FFF2-40B4-BE49-F238E27FC236}">
                  <a16:creationId xmlns:a16="http://schemas.microsoft.com/office/drawing/2014/main" id="{ACBACF1C-3E73-9706-8474-44BC9F6C171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sp>
        <p:nvSpPr>
          <p:cNvPr id="20" name="Freeform 17">
            <a:extLst>
              <a:ext uri="{FF2B5EF4-FFF2-40B4-BE49-F238E27FC236}">
                <a16:creationId xmlns:a16="http://schemas.microsoft.com/office/drawing/2014/main" id="{A0087917-A758-FA88-DE74-744C21272E3E}"/>
              </a:ext>
            </a:extLst>
          </p:cNvPr>
          <p:cNvSpPr/>
          <p:nvPr userDrawn="1"/>
        </p:nvSpPr>
        <p:spPr>
          <a:xfrm rot="-5780817">
            <a:off x="15156397" y="-969796"/>
            <a:ext cx="1697903" cy="1759485"/>
          </a:xfrm>
          <a:custGeom>
            <a:avLst/>
            <a:gdLst/>
            <a:ahLst/>
            <a:cxnLst/>
            <a:rect l="l" t="t" r="r" b="b"/>
            <a:pathLst>
              <a:path w="1697903" h="1759485">
                <a:moveTo>
                  <a:pt x="0" y="0"/>
                </a:moveTo>
                <a:lnTo>
                  <a:pt x="1697903" y="0"/>
                </a:lnTo>
                <a:lnTo>
                  <a:pt x="1697903" y="1759485"/>
                </a:lnTo>
                <a:lnTo>
                  <a:pt x="0" y="1759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itle 1">
            <a:extLst>
              <a:ext uri="{FF2B5EF4-FFF2-40B4-BE49-F238E27FC236}">
                <a16:creationId xmlns:a16="http://schemas.microsoft.com/office/drawing/2014/main" id="{E21F3CE7-AC44-1CFD-8EB5-D774C9B8F2A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SG" dirty="0"/>
          </a:p>
        </p:txBody>
      </p:sp>
    </p:spTree>
    <p:extLst>
      <p:ext uri="{BB962C8B-B14F-4D97-AF65-F5344CB8AC3E}">
        <p14:creationId xmlns:p14="http://schemas.microsoft.com/office/powerpoint/2010/main" val="181055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6" name="Freeform 3">
            <a:extLst>
              <a:ext uri="{FF2B5EF4-FFF2-40B4-BE49-F238E27FC236}">
                <a16:creationId xmlns:a16="http://schemas.microsoft.com/office/drawing/2014/main" id="{C878C08F-AD63-3956-1AED-0EA4896FFF95}"/>
              </a:ext>
            </a:extLst>
          </p:cNvPr>
          <p:cNvSpPr/>
          <p:nvPr userDrawn="1"/>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5" name="Freeform 2">
            <a:extLst>
              <a:ext uri="{FF2B5EF4-FFF2-40B4-BE49-F238E27FC236}">
                <a16:creationId xmlns:a16="http://schemas.microsoft.com/office/drawing/2014/main" id="{B1342DE7-2420-F780-FCF7-CD867DB4258B}"/>
              </a:ext>
            </a:extLst>
          </p:cNvPr>
          <p:cNvSpPr/>
          <p:nvPr userDrawn="1"/>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FA8E190E-3B5F-3F3E-35A7-4D2CA11C1AEF}"/>
              </a:ext>
            </a:extLst>
          </p:cNvPr>
          <p:cNvSpPr/>
          <p:nvPr userDrawn="1"/>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8" name="Freeform 5">
            <a:extLst>
              <a:ext uri="{FF2B5EF4-FFF2-40B4-BE49-F238E27FC236}">
                <a16:creationId xmlns:a16="http://schemas.microsoft.com/office/drawing/2014/main" id="{4F4BBF0A-6EEF-9EF8-C198-7426259CCDE2}"/>
              </a:ext>
            </a:extLst>
          </p:cNvPr>
          <p:cNvSpPr/>
          <p:nvPr userDrawn="1"/>
        </p:nvSpPr>
        <p:spPr>
          <a:xfrm rot="7381687">
            <a:off x="-1391985" y="2028311"/>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grpSp>
        <p:nvGrpSpPr>
          <p:cNvPr id="9" name="Group 6">
            <a:extLst>
              <a:ext uri="{FF2B5EF4-FFF2-40B4-BE49-F238E27FC236}">
                <a16:creationId xmlns:a16="http://schemas.microsoft.com/office/drawing/2014/main" id="{8063D769-2ED9-7CA0-DB47-BE6A860078B4}"/>
              </a:ext>
            </a:extLst>
          </p:cNvPr>
          <p:cNvGrpSpPr/>
          <p:nvPr userDrawn="1"/>
        </p:nvGrpSpPr>
        <p:grpSpPr>
          <a:xfrm>
            <a:off x="-320056" y="8324850"/>
            <a:ext cx="1348756" cy="1348756"/>
            <a:chOff x="0" y="0"/>
            <a:chExt cx="6350000" cy="6350000"/>
          </a:xfrm>
        </p:grpSpPr>
        <p:sp>
          <p:nvSpPr>
            <p:cNvPr id="10" name="Freeform 7">
              <a:extLst>
                <a:ext uri="{FF2B5EF4-FFF2-40B4-BE49-F238E27FC236}">
                  <a16:creationId xmlns:a16="http://schemas.microsoft.com/office/drawing/2014/main" id="{F84CA016-7681-70D2-2753-7FE51D991A9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grpSp>
        <p:nvGrpSpPr>
          <p:cNvPr id="11" name="Group 8">
            <a:extLst>
              <a:ext uri="{FF2B5EF4-FFF2-40B4-BE49-F238E27FC236}">
                <a16:creationId xmlns:a16="http://schemas.microsoft.com/office/drawing/2014/main" id="{A7639B88-B44E-A99B-C057-222C77A0FC76}"/>
              </a:ext>
            </a:extLst>
          </p:cNvPr>
          <p:cNvGrpSpPr/>
          <p:nvPr userDrawn="1"/>
        </p:nvGrpSpPr>
        <p:grpSpPr>
          <a:xfrm>
            <a:off x="16687800" y="457200"/>
            <a:ext cx="571500" cy="571500"/>
            <a:chOff x="0" y="0"/>
            <a:chExt cx="6350000" cy="6350000"/>
          </a:xfrm>
        </p:grpSpPr>
        <p:sp>
          <p:nvSpPr>
            <p:cNvPr id="12" name="Freeform 9">
              <a:extLst>
                <a:ext uri="{FF2B5EF4-FFF2-40B4-BE49-F238E27FC236}">
                  <a16:creationId xmlns:a16="http://schemas.microsoft.com/office/drawing/2014/main" id="{CFE7978B-4EB9-0BC9-B416-610FCBAA772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sp>
        <p:nvSpPr>
          <p:cNvPr id="13" name="Freeform 10">
            <a:extLst>
              <a:ext uri="{FF2B5EF4-FFF2-40B4-BE49-F238E27FC236}">
                <a16:creationId xmlns:a16="http://schemas.microsoft.com/office/drawing/2014/main" id="{25E50734-36F6-9852-BB42-0B5B9F44CAC7}"/>
              </a:ext>
            </a:extLst>
          </p:cNvPr>
          <p:cNvSpPr/>
          <p:nvPr userDrawn="1"/>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itle 1">
            <a:extLst>
              <a:ext uri="{FF2B5EF4-FFF2-40B4-BE49-F238E27FC236}">
                <a16:creationId xmlns:a16="http://schemas.microsoft.com/office/drawing/2014/main" id="{193DC728-5EAB-0D3C-0432-A282E2ABD78A}"/>
              </a:ext>
            </a:extLst>
          </p:cNvPr>
          <p:cNvSpPr>
            <a:spLocks noGrp="1"/>
          </p:cNvSpPr>
          <p:nvPr>
            <p:ph type="title"/>
          </p:nvPr>
        </p:nvSpPr>
        <p:spPr>
          <a:xfrm>
            <a:off x="165186" y="41894"/>
            <a:ext cx="15925800" cy="834406"/>
          </a:xfrm>
        </p:spPr>
        <p:txBody>
          <a:bodyPr>
            <a:normAutofit/>
          </a:bodyPr>
          <a:lstStyle>
            <a:lvl1pPr>
              <a:defRPr sz="4000">
                <a:solidFill>
                  <a:schemeClr val="bg1"/>
                </a:solidFill>
              </a:defRPr>
            </a:lvl1pPr>
          </a:lstStyle>
          <a:p>
            <a:r>
              <a:rPr lang="en-US" dirty="0"/>
              <a:t>Click to edit Master title style</a:t>
            </a:r>
            <a:endParaRPr lang="en-SG" dirty="0"/>
          </a:p>
        </p:txBody>
      </p:sp>
      <p:sp>
        <p:nvSpPr>
          <p:cNvPr id="4" name="Slide Number Placeholder 3">
            <a:extLst>
              <a:ext uri="{FF2B5EF4-FFF2-40B4-BE49-F238E27FC236}">
                <a16:creationId xmlns:a16="http://schemas.microsoft.com/office/drawing/2014/main" id="{DAEED05D-2F29-D786-D3CE-7BD7F75083C4}"/>
              </a:ext>
            </a:extLst>
          </p:cNvPr>
          <p:cNvSpPr>
            <a:spLocks noGrp="1"/>
          </p:cNvSpPr>
          <p:nvPr>
            <p:ph type="sldNum" sz="quarter" idx="11"/>
          </p:nvPr>
        </p:nvSpPr>
        <p:spPr/>
        <p:txBody>
          <a:bodyPr/>
          <a:lstStyle/>
          <a:p>
            <a:r>
              <a:rPr lang="en-US" dirty="0"/>
              <a:t>Slide - </a:t>
            </a:r>
            <a:fld id="{B6F15528-21DE-4FAA-801E-634DDDAF4B2B}" type="slidenum">
              <a:rPr lang="en-US" smtClean="0"/>
              <a:pPr/>
              <a:t>‹#›</a:t>
            </a:fld>
            <a:endParaRPr lang="en-US" dirty="0"/>
          </a:p>
        </p:txBody>
      </p:sp>
      <p:sp>
        <p:nvSpPr>
          <p:cNvPr id="3" name="Footer Placeholder 2">
            <a:extLst>
              <a:ext uri="{FF2B5EF4-FFF2-40B4-BE49-F238E27FC236}">
                <a16:creationId xmlns:a16="http://schemas.microsoft.com/office/drawing/2014/main" id="{4144A69F-77B9-9591-A78A-14636FECE23F}"/>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16796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rgbClr val="6BD4CD"/>
        </a:solidFill>
        <a:effectLst/>
      </p:bgPr>
    </p:bg>
    <p:spTree>
      <p:nvGrpSpPr>
        <p:cNvPr id="1" name=""/>
        <p:cNvGrpSpPr/>
        <p:nvPr/>
      </p:nvGrpSpPr>
      <p:grpSpPr>
        <a:xfrm>
          <a:off x="0" y="0"/>
          <a:ext cx="0" cy="0"/>
          <a:chOff x="0" y="0"/>
          <a:chExt cx="0" cy="0"/>
        </a:xfrm>
      </p:grpSpPr>
      <p:grpSp>
        <p:nvGrpSpPr>
          <p:cNvPr id="23" name="Group 20">
            <a:extLst>
              <a:ext uri="{FF2B5EF4-FFF2-40B4-BE49-F238E27FC236}">
                <a16:creationId xmlns:a16="http://schemas.microsoft.com/office/drawing/2014/main" id="{24E46CE3-6478-A4F2-5D9C-763B990CF130}"/>
              </a:ext>
            </a:extLst>
          </p:cNvPr>
          <p:cNvGrpSpPr/>
          <p:nvPr userDrawn="1"/>
        </p:nvGrpSpPr>
        <p:grpSpPr>
          <a:xfrm>
            <a:off x="-320056" y="604334"/>
            <a:ext cx="1348756" cy="1348756"/>
            <a:chOff x="0" y="0"/>
            <a:chExt cx="6350000" cy="6350000"/>
          </a:xfrm>
        </p:grpSpPr>
        <p:sp>
          <p:nvSpPr>
            <p:cNvPr id="24" name="Freeform 21">
              <a:extLst>
                <a:ext uri="{FF2B5EF4-FFF2-40B4-BE49-F238E27FC236}">
                  <a16:creationId xmlns:a16="http://schemas.microsoft.com/office/drawing/2014/main" id="{932A865A-AA78-ECBA-9FCF-F5872679E98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sp>
      </p:grpSp>
      <p:sp>
        <p:nvSpPr>
          <p:cNvPr id="7" name="Freeform 4">
            <a:extLst>
              <a:ext uri="{FF2B5EF4-FFF2-40B4-BE49-F238E27FC236}">
                <a16:creationId xmlns:a16="http://schemas.microsoft.com/office/drawing/2014/main" id="{E79168D6-7EFD-3A1E-B1B4-B26A77527797}"/>
              </a:ext>
            </a:extLst>
          </p:cNvPr>
          <p:cNvSpPr/>
          <p:nvPr userDrawn="1"/>
        </p:nvSpPr>
        <p:spPr>
          <a:xfrm rot="-7912599">
            <a:off x="283697" y="-2560035"/>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4" name="Slide Number Placeholder 3">
            <a:extLst>
              <a:ext uri="{FF2B5EF4-FFF2-40B4-BE49-F238E27FC236}">
                <a16:creationId xmlns:a16="http://schemas.microsoft.com/office/drawing/2014/main" id="{4A67C6C0-AD55-8C97-EC2F-25D674A3C01C}"/>
              </a:ext>
            </a:extLst>
          </p:cNvPr>
          <p:cNvSpPr>
            <a:spLocks noGrp="1"/>
          </p:cNvSpPr>
          <p:nvPr>
            <p:ph type="sldNum" sz="quarter" idx="11"/>
          </p:nvPr>
        </p:nvSpPr>
        <p:spPr/>
        <p:txBody>
          <a:bodyPr/>
          <a:lstStyle>
            <a:lvl1pPr>
              <a:defRPr>
                <a:solidFill>
                  <a:srgbClr val="04345C"/>
                </a:solidFill>
              </a:defRPr>
            </a:lvl1pPr>
          </a:lstStyle>
          <a:p>
            <a:r>
              <a:rPr lang="en-US" dirty="0"/>
              <a:t>Slide - </a:t>
            </a:r>
            <a:fld id="{B6F15528-21DE-4FAA-801E-634DDDAF4B2B}" type="slidenum">
              <a:rPr lang="en-US" smtClean="0"/>
              <a:pPr/>
              <a:t>‹#›</a:t>
            </a:fld>
            <a:endParaRPr lang="en-US" dirty="0"/>
          </a:p>
        </p:txBody>
      </p:sp>
      <p:sp>
        <p:nvSpPr>
          <p:cNvPr id="5" name="Freeform 2">
            <a:extLst>
              <a:ext uri="{FF2B5EF4-FFF2-40B4-BE49-F238E27FC236}">
                <a16:creationId xmlns:a16="http://schemas.microsoft.com/office/drawing/2014/main" id="{474A10AB-1B53-DB9E-1E3B-11CA2A28BFFE}"/>
              </a:ext>
            </a:extLst>
          </p:cNvPr>
          <p:cNvSpPr/>
          <p:nvPr userDrawn="1"/>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6" name="Freeform 3">
            <a:extLst>
              <a:ext uri="{FF2B5EF4-FFF2-40B4-BE49-F238E27FC236}">
                <a16:creationId xmlns:a16="http://schemas.microsoft.com/office/drawing/2014/main" id="{C2569671-0AB0-6D6B-AE35-704FE2513073}"/>
              </a:ext>
            </a:extLst>
          </p:cNvPr>
          <p:cNvSpPr/>
          <p:nvPr userDrawn="1"/>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5">
            <a:extLst>
              <a:ext uri="{FF2B5EF4-FFF2-40B4-BE49-F238E27FC236}">
                <a16:creationId xmlns:a16="http://schemas.microsoft.com/office/drawing/2014/main" id="{F9106D77-27FB-B39D-4EF6-C54092681615}"/>
              </a:ext>
            </a:extLst>
          </p:cNvPr>
          <p:cNvSpPr/>
          <p:nvPr userDrawn="1"/>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6">
            <a:extLst>
              <a:ext uri="{FF2B5EF4-FFF2-40B4-BE49-F238E27FC236}">
                <a16:creationId xmlns:a16="http://schemas.microsoft.com/office/drawing/2014/main" id="{F108D586-E515-0526-E112-43063E8A7FA3}"/>
              </a:ext>
            </a:extLst>
          </p:cNvPr>
          <p:cNvGrpSpPr/>
          <p:nvPr userDrawn="1"/>
        </p:nvGrpSpPr>
        <p:grpSpPr>
          <a:xfrm>
            <a:off x="2794852" y="2166923"/>
            <a:ext cx="3448537" cy="1172984"/>
            <a:chOff x="0" y="0"/>
            <a:chExt cx="4598049" cy="1563979"/>
          </a:xfrm>
        </p:grpSpPr>
        <p:sp>
          <p:nvSpPr>
            <p:cNvPr id="10" name="TextBox 7">
              <a:extLst>
                <a:ext uri="{FF2B5EF4-FFF2-40B4-BE49-F238E27FC236}">
                  <a16:creationId xmlns:a16="http://schemas.microsoft.com/office/drawing/2014/main" id="{8F1040FD-BFDF-0421-9266-2AEA4A7477EE}"/>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11" name="TextBox 8">
              <a:extLst>
                <a:ext uri="{FF2B5EF4-FFF2-40B4-BE49-F238E27FC236}">
                  <a16:creationId xmlns:a16="http://schemas.microsoft.com/office/drawing/2014/main" id="{A7843579-4656-75A3-1C28-3B3E91E5796E}"/>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12" name="Group 9">
            <a:extLst>
              <a:ext uri="{FF2B5EF4-FFF2-40B4-BE49-F238E27FC236}">
                <a16:creationId xmlns:a16="http://schemas.microsoft.com/office/drawing/2014/main" id="{7510A053-654C-B9C8-00B1-06B5426F4103}"/>
              </a:ext>
            </a:extLst>
          </p:cNvPr>
          <p:cNvGrpSpPr/>
          <p:nvPr userDrawn="1"/>
        </p:nvGrpSpPr>
        <p:grpSpPr>
          <a:xfrm>
            <a:off x="17259300" y="8462486"/>
            <a:ext cx="571500" cy="571500"/>
            <a:chOff x="0" y="0"/>
            <a:chExt cx="6350000" cy="6350000"/>
          </a:xfrm>
        </p:grpSpPr>
        <p:sp>
          <p:nvSpPr>
            <p:cNvPr id="13" name="Freeform 10">
              <a:extLst>
                <a:ext uri="{FF2B5EF4-FFF2-40B4-BE49-F238E27FC236}">
                  <a16:creationId xmlns:a16="http://schemas.microsoft.com/office/drawing/2014/main" id="{1A09B39C-79EF-8BA9-402B-BDA139A2D4A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sp>
      </p:grpSp>
      <p:sp>
        <p:nvSpPr>
          <p:cNvPr id="25" name="Freeform 22">
            <a:extLst>
              <a:ext uri="{FF2B5EF4-FFF2-40B4-BE49-F238E27FC236}">
                <a16:creationId xmlns:a16="http://schemas.microsoft.com/office/drawing/2014/main" id="{6FB04EED-FB84-20E6-6F1F-0F04527B8A56}"/>
              </a:ext>
            </a:extLst>
          </p:cNvPr>
          <p:cNvSpPr/>
          <p:nvPr userDrawn="1"/>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Title 1">
            <a:extLst>
              <a:ext uri="{FF2B5EF4-FFF2-40B4-BE49-F238E27FC236}">
                <a16:creationId xmlns:a16="http://schemas.microsoft.com/office/drawing/2014/main" id="{A054F19F-0A13-228B-CA24-51081B5D4B69}"/>
              </a:ext>
            </a:extLst>
          </p:cNvPr>
          <p:cNvSpPr>
            <a:spLocks noGrp="1"/>
          </p:cNvSpPr>
          <p:nvPr>
            <p:ph type="title" hasCustomPrompt="1"/>
          </p:nvPr>
        </p:nvSpPr>
        <p:spPr/>
        <p:txBody>
          <a:bodyPr/>
          <a:lstStyle>
            <a:lvl1pPr>
              <a:defRPr>
                <a:solidFill>
                  <a:srgbClr val="04345C"/>
                </a:solidFill>
              </a:defRPr>
            </a:lvl1pPr>
          </a:lstStyle>
          <a:p>
            <a:r>
              <a:rPr lang="en-US" dirty="0"/>
              <a:t>CLICK TO EDIT MASTER TITLE STYLE</a:t>
            </a:r>
            <a:endParaRPr lang="en-SG" dirty="0"/>
          </a:p>
        </p:txBody>
      </p:sp>
      <p:sp>
        <p:nvSpPr>
          <p:cNvPr id="3" name="Footer Placeholder 2">
            <a:extLst>
              <a:ext uri="{FF2B5EF4-FFF2-40B4-BE49-F238E27FC236}">
                <a16:creationId xmlns:a16="http://schemas.microsoft.com/office/drawing/2014/main" id="{DC001F44-2C65-831D-1293-2648BDFA74AF}"/>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915744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rgbClr val="6BD4CD"/>
        </a:solidFill>
        <a:effectLst/>
      </p:bgPr>
    </p:bg>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DF123FC3-EC0D-E257-3431-6C24117F544E}"/>
              </a:ext>
            </a:extLst>
          </p:cNvPr>
          <p:cNvSpPr/>
          <p:nvPr userDrawn="1"/>
        </p:nvSpPr>
        <p:spPr>
          <a:xfrm rot="6169879">
            <a:off x="-859445" y="-942394"/>
            <a:ext cx="14062065" cy="14572088"/>
          </a:xfrm>
          <a:custGeom>
            <a:avLst/>
            <a:gdLst/>
            <a:ahLst/>
            <a:cxnLst/>
            <a:rect l="l" t="t" r="r" b="b"/>
            <a:pathLst>
              <a:path w="14062065" h="14572088">
                <a:moveTo>
                  <a:pt x="0" y="0"/>
                </a:moveTo>
                <a:lnTo>
                  <a:pt x="14062065" y="0"/>
                </a:lnTo>
                <a:lnTo>
                  <a:pt x="14062065" y="14572088"/>
                </a:lnTo>
                <a:lnTo>
                  <a:pt x="0" y="14572088"/>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6" name="Freeform 3">
            <a:extLst>
              <a:ext uri="{FF2B5EF4-FFF2-40B4-BE49-F238E27FC236}">
                <a16:creationId xmlns:a16="http://schemas.microsoft.com/office/drawing/2014/main" id="{4B2EA0F9-1BC9-6EC2-9CBE-93C8C3D03960}"/>
              </a:ext>
            </a:extLst>
          </p:cNvPr>
          <p:cNvSpPr/>
          <p:nvPr userDrawn="1"/>
        </p:nvSpPr>
        <p:spPr>
          <a:xfrm rot="1124365">
            <a:off x="12407379" y="3834997"/>
            <a:ext cx="6197943" cy="6422739"/>
          </a:xfrm>
          <a:custGeom>
            <a:avLst/>
            <a:gdLst/>
            <a:ahLst/>
            <a:cxnLst/>
            <a:rect l="l" t="t" r="r" b="b"/>
            <a:pathLst>
              <a:path w="6197943" h="6422739">
                <a:moveTo>
                  <a:pt x="0" y="0"/>
                </a:moveTo>
                <a:lnTo>
                  <a:pt x="6197943" y="0"/>
                </a:lnTo>
                <a:lnTo>
                  <a:pt x="6197943" y="6422739"/>
                </a:lnTo>
                <a:lnTo>
                  <a:pt x="0" y="6422739"/>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7" name="Group 4">
            <a:extLst>
              <a:ext uri="{FF2B5EF4-FFF2-40B4-BE49-F238E27FC236}">
                <a16:creationId xmlns:a16="http://schemas.microsoft.com/office/drawing/2014/main" id="{7EF42482-609B-93E4-D704-880406111335}"/>
              </a:ext>
            </a:extLst>
          </p:cNvPr>
          <p:cNvGrpSpPr/>
          <p:nvPr userDrawn="1"/>
        </p:nvGrpSpPr>
        <p:grpSpPr>
          <a:xfrm>
            <a:off x="16973550" y="8972550"/>
            <a:ext cx="571500" cy="571500"/>
            <a:chOff x="0" y="0"/>
            <a:chExt cx="6350000" cy="6350000"/>
          </a:xfrm>
        </p:grpSpPr>
        <p:sp>
          <p:nvSpPr>
            <p:cNvPr id="8" name="Freeform 5">
              <a:extLst>
                <a:ext uri="{FF2B5EF4-FFF2-40B4-BE49-F238E27FC236}">
                  <a16:creationId xmlns:a16="http://schemas.microsoft.com/office/drawing/2014/main" id="{CBD3FA0C-1599-590D-A391-4B206632EA5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grpSp>
        <p:nvGrpSpPr>
          <p:cNvPr id="9" name="Group 6">
            <a:extLst>
              <a:ext uri="{FF2B5EF4-FFF2-40B4-BE49-F238E27FC236}">
                <a16:creationId xmlns:a16="http://schemas.microsoft.com/office/drawing/2014/main" id="{F872C901-C199-0F58-0F0C-FB12287CBCEA}"/>
              </a:ext>
            </a:extLst>
          </p:cNvPr>
          <p:cNvGrpSpPr/>
          <p:nvPr userDrawn="1"/>
        </p:nvGrpSpPr>
        <p:grpSpPr>
          <a:xfrm>
            <a:off x="-320056" y="604334"/>
            <a:ext cx="1348756" cy="1348756"/>
            <a:chOff x="0" y="0"/>
            <a:chExt cx="6350000" cy="6350000"/>
          </a:xfrm>
        </p:grpSpPr>
        <p:sp>
          <p:nvSpPr>
            <p:cNvPr id="10" name="Freeform 7">
              <a:extLst>
                <a:ext uri="{FF2B5EF4-FFF2-40B4-BE49-F238E27FC236}">
                  <a16:creationId xmlns:a16="http://schemas.microsoft.com/office/drawing/2014/main" id="{E8DD6B6D-45A3-80BB-049A-F9425F9E301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sp>
        <p:nvSpPr>
          <p:cNvPr id="12" name="Freeform 9">
            <a:extLst>
              <a:ext uri="{FF2B5EF4-FFF2-40B4-BE49-F238E27FC236}">
                <a16:creationId xmlns:a16="http://schemas.microsoft.com/office/drawing/2014/main" id="{9E074016-EA75-EE7A-BF68-78AE920974FE}"/>
              </a:ext>
            </a:extLst>
          </p:cNvPr>
          <p:cNvSpPr/>
          <p:nvPr userDrawn="1"/>
        </p:nvSpPr>
        <p:spPr>
          <a:xfrm rot="-152128">
            <a:off x="17458481" y="66188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0">
            <a:extLst>
              <a:ext uri="{FF2B5EF4-FFF2-40B4-BE49-F238E27FC236}">
                <a16:creationId xmlns:a16="http://schemas.microsoft.com/office/drawing/2014/main" id="{69FCBABF-FD0A-66F5-AFC8-B34754C4E401}"/>
              </a:ext>
            </a:extLst>
          </p:cNvPr>
          <p:cNvSpPr/>
          <p:nvPr userDrawn="1"/>
        </p:nvSpPr>
        <p:spPr>
          <a:xfrm rot="-8251425">
            <a:off x="744888" y="-1480292"/>
            <a:ext cx="2535307" cy="2627261"/>
          </a:xfrm>
          <a:custGeom>
            <a:avLst/>
            <a:gdLst/>
            <a:ahLst/>
            <a:cxnLst/>
            <a:rect l="l" t="t" r="r" b="b"/>
            <a:pathLst>
              <a:path w="2535307" h="2627261">
                <a:moveTo>
                  <a:pt x="0" y="0"/>
                </a:moveTo>
                <a:lnTo>
                  <a:pt x="2535307" y="0"/>
                </a:lnTo>
                <a:lnTo>
                  <a:pt x="2535307" y="2627261"/>
                </a:lnTo>
                <a:lnTo>
                  <a:pt x="0" y="2627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1">
            <a:extLst>
              <a:ext uri="{FF2B5EF4-FFF2-40B4-BE49-F238E27FC236}">
                <a16:creationId xmlns:a16="http://schemas.microsoft.com/office/drawing/2014/main" id="{F9E53ACE-DF75-5F2A-A58D-AAF5A3118AD4}"/>
              </a:ext>
            </a:extLst>
          </p:cNvPr>
          <p:cNvSpPr txBox="1"/>
          <p:nvPr userDrawn="1"/>
        </p:nvSpPr>
        <p:spPr>
          <a:xfrm>
            <a:off x="622033" y="1761397"/>
            <a:ext cx="17043935" cy="738664"/>
          </a:xfrm>
          <a:prstGeom prst="rect">
            <a:avLst/>
          </a:prstGeom>
        </p:spPr>
        <p:txBody>
          <a:bodyPr lIns="0" tIns="0" rIns="0" bIns="0" rtlCol="0" anchor="t">
            <a:spAutoFit/>
          </a:bodyPr>
          <a:lstStyle/>
          <a:p>
            <a:pPr algn="just">
              <a:lnSpc>
                <a:spcPct val="150000"/>
              </a:lnSpc>
              <a:spcAft>
                <a:spcPts val="800"/>
              </a:spcAft>
            </a:pPr>
            <a:r>
              <a:rPr lang="en-US" sz="3600" dirty="0">
                <a:solidFill>
                  <a:srgbClr val="04345C"/>
                </a:solidFill>
                <a:latin typeface="Glacial Indifference" panose="020B0604020202020204" charset="0"/>
                <a:ea typeface="Calibri" panose="020F0502020204030204" pitchFamily="34" charset="0"/>
                <a:cs typeface="Times New Roman" panose="02020603050405020304" pitchFamily="18" charset="0"/>
              </a:rPr>
              <a:t>In conclusion, …</a:t>
            </a:r>
            <a:endParaRPr lang="en-IN" sz="3600" dirty="0">
              <a:solidFill>
                <a:srgbClr val="04345C"/>
              </a:solidFill>
              <a:effectLst/>
              <a:latin typeface="Glacial Indifference" panose="020B060402020202020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41A63113-764F-D051-35D5-BED60B34C9B2}"/>
              </a:ext>
            </a:extLst>
          </p:cNvPr>
          <p:cNvSpPr>
            <a:spLocks noGrp="1"/>
          </p:cNvSpPr>
          <p:nvPr>
            <p:ph type="title" hasCustomPrompt="1"/>
          </p:nvPr>
        </p:nvSpPr>
        <p:spPr>
          <a:xfrm>
            <a:off x="457200" y="274638"/>
            <a:ext cx="17373600" cy="1143000"/>
          </a:xfrm>
        </p:spPr>
        <p:txBody>
          <a:bodyPr/>
          <a:lstStyle>
            <a:lvl1pPr algn="ctr">
              <a:defRPr>
                <a:solidFill>
                  <a:srgbClr val="04345C"/>
                </a:solidFill>
              </a:defRPr>
            </a:lvl1pPr>
          </a:lstStyle>
          <a:p>
            <a:r>
              <a:rPr lang="en-US" dirty="0"/>
              <a:t>CLICK TO EDIT MASTER TITLE STYLE</a:t>
            </a:r>
            <a:endParaRPr lang="en-SG" dirty="0"/>
          </a:p>
        </p:txBody>
      </p:sp>
      <p:sp>
        <p:nvSpPr>
          <p:cNvPr id="4" name="Slide Number Placeholder 3">
            <a:extLst>
              <a:ext uri="{FF2B5EF4-FFF2-40B4-BE49-F238E27FC236}">
                <a16:creationId xmlns:a16="http://schemas.microsoft.com/office/drawing/2014/main" id="{26377229-5D6C-22DC-8647-ABACAFCB1D60}"/>
              </a:ext>
            </a:extLst>
          </p:cNvPr>
          <p:cNvSpPr>
            <a:spLocks noGrp="1"/>
          </p:cNvSpPr>
          <p:nvPr>
            <p:ph type="sldNum" sz="quarter" idx="11"/>
          </p:nvPr>
        </p:nvSpPr>
        <p:spPr/>
        <p:txBody>
          <a:bodyPr/>
          <a:lstStyle>
            <a:lvl1pPr>
              <a:defRPr>
                <a:solidFill>
                  <a:srgbClr val="04345C"/>
                </a:solidFill>
              </a:defRPr>
            </a:lvl1pPr>
          </a:lstStyle>
          <a:p>
            <a:r>
              <a:rPr lang="en-US" dirty="0"/>
              <a:t>Slide - </a:t>
            </a:r>
            <a:fld id="{B6F15528-21DE-4FAA-801E-634DDDAF4B2B}" type="slidenum">
              <a:rPr lang="en-US" smtClean="0"/>
              <a:pPr/>
              <a:t>‹#›</a:t>
            </a:fld>
            <a:endParaRPr lang="en-US" dirty="0"/>
          </a:p>
        </p:txBody>
      </p:sp>
      <p:sp>
        <p:nvSpPr>
          <p:cNvPr id="3" name="Footer Placeholder 2">
            <a:extLst>
              <a:ext uri="{FF2B5EF4-FFF2-40B4-BE49-F238E27FC236}">
                <a16:creationId xmlns:a16="http://schemas.microsoft.com/office/drawing/2014/main" id="{178E3EA5-3FE6-8B7C-334D-B9A319A68CB1}"/>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4259437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rgbClr val="6BD4CD"/>
        </a:solidFill>
        <a:effectLst/>
      </p:bgPr>
    </p:bg>
    <p:spTree>
      <p:nvGrpSpPr>
        <p:cNvPr id="1" name=""/>
        <p:cNvGrpSpPr/>
        <p:nvPr/>
      </p:nvGrpSpPr>
      <p:grpSpPr>
        <a:xfrm>
          <a:off x="0" y="0"/>
          <a:ext cx="0" cy="0"/>
          <a:chOff x="0" y="0"/>
          <a:chExt cx="0" cy="0"/>
        </a:xfrm>
      </p:grpSpPr>
      <p:sp>
        <p:nvSpPr>
          <p:cNvPr id="11" name="Freeform 2">
            <a:extLst>
              <a:ext uri="{FF2B5EF4-FFF2-40B4-BE49-F238E27FC236}">
                <a16:creationId xmlns:a16="http://schemas.microsoft.com/office/drawing/2014/main" id="{1B934983-84A8-0615-15F7-4FA092367634}"/>
              </a:ext>
            </a:extLst>
          </p:cNvPr>
          <p:cNvSpPr/>
          <p:nvPr userDrawn="1"/>
        </p:nvSpPr>
        <p:spPr>
          <a:xfrm rot="1314425">
            <a:off x="11016941" y="2480588"/>
            <a:ext cx="9403949" cy="9745025"/>
          </a:xfrm>
          <a:custGeom>
            <a:avLst/>
            <a:gdLst/>
            <a:ahLst/>
            <a:cxnLst/>
            <a:rect l="l" t="t" r="r" b="b"/>
            <a:pathLst>
              <a:path w="9403949" h="9745025">
                <a:moveTo>
                  <a:pt x="0" y="0"/>
                </a:moveTo>
                <a:lnTo>
                  <a:pt x="9403950" y="0"/>
                </a:lnTo>
                <a:lnTo>
                  <a:pt x="9403950" y="9745025"/>
                </a:lnTo>
                <a:lnTo>
                  <a:pt x="0" y="974502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5" name="Freeform 3">
            <a:extLst>
              <a:ext uri="{FF2B5EF4-FFF2-40B4-BE49-F238E27FC236}">
                <a16:creationId xmlns:a16="http://schemas.microsoft.com/office/drawing/2014/main" id="{8B9BF55E-C07D-1FE3-353C-9F3462B8BB3B}"/>
              </a:ext>
            </a:extLst>
          </p:cNvPr>
          <p:cNvSpPr/>
          <p:nvPr userDrawn="1"/>
        </p:nvSpPr>
        <p:spPr>
          <a:xfrm rot="-10010836">
            <a:off x="-3311325" y="-3250085"/>
            <a:ext cx="9403949" cy="9745025"/>
          </a:xfrm>
          <a:custGeom>
            <a:avLst/>
            <a:gdLst/>
            <a:ahLst/>
            <a:cxnLst/>
            <a:rect l="l" t="t" r="r" b="b"/>
            <a:pathLst>
              <a:path w="9403949" h="9745025">
                <a:moveTo>
                  <a:pt x="0" y="0"/>
                </a:moveTo>
                <a:lnTo>
                  <a:pt x="9403950" y="0"/>
                </a:lnTo>
                <a:lnTo>
                  <a:pt x="9403950" y="9745025"/>
                </a:lnTo>
                <a:lnTo>
                  <a:pt x="0" y="974502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6" name="Freeform 4">
            <a:extLst>
              <a:ext uri="{FF2B5EF4-FFF2-40B4-BE49-F238E27FC236}">
                <a16:creationId xmlns:a16="http://schemas.microsoft.com/office/drawing/2014/main" id="{33C85937-7E4B-F9F7-0141-39D9A36D7C89}"/>
              </a:ext>
            </a:extLst>
          </p:cNvPr>
          <p:cNvSpPr/>
          <p:nvPr userDrawn="1"/>
        </p:nvSpPr>
        <p:spPr>
          <a:xfrm rot="-3343398">
            <a:off x="13743895" y="-2598699"/>
            <a:ext cx="6197943" cy="6422739"/>
          </a:xfrm>
          <a:custGeom>
            <a:avLst/>
            <a:gdLst/>
            <a:ahLst/>
            <a:cxnLst/>
            <a:rect l="l" t="t" r="r" b="b"/>
            <a:pathLst>
              <a:path w="6197943" h="6422739">
                <a:moveTo>
                  <a:pt x="0" y="0"/>
                </a:moveTo>
                <a:lnTo>
                  <a:pt x="6197942" y="0"/>
                </a:lnTo>
                <a:lnTo>
                  <a:pt x="6197942" y="6422738"/>
                </a:lnTo>
                <a:lnTo>
                  <a:pt x="0" y="6422738"/>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7" name="Freeform 5">
            <a:extLst>
              <a:ext uri="{FF2B5EF4-FFF2-40B4-BE49-F238E27FC236}">
                <a16:creationId xmlns:a16="http://schemas.microsoft.com/office/drawing/2014/main" id="{432D40F7-73CB-C999-8D9E-3FB8EB5F0059}"/>
              </a:ext>
            </a:extLst>
          </p:cNvPr>
          <p:cNvSpPr/>
          <p:nvPr userDrawn="1"/>
        </p:nvSpPr>
        <p:spPr>
          <a:xfrm rot="7077988">
            <a:off x="-1639595" y="5792955"/>
            <a:ext cx="5037123" cy="5219817"/>
          </a:xfrm>
          <a:custGeom>
            <a:avLst/>
            <a:gdLst/>
            <a:ahLst/>
            <a:cxnLst/>
            <a:rect l="l" t="t" r="r" b="b"/>
            <a:pathLst>
              <a:path w="5037123" h="5219817">
                <a:moveTo>
                  <a:pt x="0" y="0"/>
                </a:moveTo>
                <a:lnTo>
                  <a:pt x="5037123" y="0"/>
                </a:lnTo>
                <a:lnTo>
                  <a:pt x="5037123" y="5219817"/>
                </a:lnTo>
                <a:lnTo>
                  <a:pt x="0" y="52198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18" name="Group 6">
            <a:extLst>
              <a:ext uri="{FF2B5EF4-FFF2-40B4-BE49-F238E27FC236}">
                <a16:creationId xmlns:a16="http://schemas.microsoft.com/office/drawing/2014/main" id="{35D2B970-C644-4866-DDA6-63FF5C33F13B}"/>
              </a:ext>
            </a:extLst>
          </p:cNvPr>
          <p:cNvGrpSpPr/>
          <p:nvPr userDrawn="1"/>
        </p:nvGrpSpPr>
        <p:grpSpPr>
          <a:xfrm>
            <a:off x="16973550" y="8972550"/>
            <a:ext cx="571500" cy="571500"/>
            <a:chOff x="0" y="0"/>
            <a:chExt cx="6350000" cy="6350000"/>
          </a:xfrm>
        </p:grpSpPr>
        <p:sp>
          <p:nvSpPr>
            <p:cNvPr id="19" name="Freeform 7">
              <a:extLst>
                <a:ext uri="{FF2B5EF4-FFF2-40B4-BE49-F238E27FC236}">
                  <a16:creationId xmlns:a16="http://schemas.microsoft.com/office/drawing/2014/main" id="{FDB3705A-33A4-369D-B62D-D1502B03BBE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grpSp>
        <p:nvGrpSpPr>
          <p:cNvPr id="20" name="Group 8">
            <a:extLst>
              <a:ext uri="{FF2B5EF4-FFF2-40B4-BE49-F238E27FC236}">
                <a16:creationId xmlns:a16="http://schemas.microsoft.com/office/drawing/2014/main" id="{F3FC5E47-FD66-B825-C590-9110C609D482}"/>
              </a:ext>
            </a:extLst>
          </p:cNvPr>
          <p:cNvGrpSpPr/>
          <p:nvPr userDrawn="1"/>
        </p:nvGrpSpPr>
        <p:grpSpPr>
          <a:xfrm>
            <a:off x="-320056" y="612670"/>
            <a:ext cx="1348756" cy="1348756"/>
            <a:chOff x="0" y="0"/>
            <a:chExt cx="6350000" cy="6350000"/>
          </a:xfrm>
        </p:grpSpPr>
        <p:sp>
          <p:nvSpPr>
            <p:cNvPr id="21" name="Freeform 9">
              <a:extLst>
                <a:ext uri="{FF2B5EF4-FFF2-40B4-BE49-F238E27FC236}">
                  <a16:creationId xmlns:a16="http://schemas.microsoft.com/office/drawing/2014/main" id="{32414A67-2BF2-CA18-5CA0-C4F9F551AEB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sp>
      </p:grpSp>
      <p:sp>
        <p:nvSpPr>
          <p:cNvPr id="22" name="Freeform 10">
            <a:extLst>
              <a:ext uri="{FF2B5EF4-FFF2-40B4-BE49-F238E27FC236}">
                <a16:creationId xmlns:a16="http://schemas.microsoft.com/office/drawing/2014/main" id="{8363DADE-AD6B-788C-3779-17D730179F7D}"/>
              </a:ext>
            </a:extLst>
          </p:cNvPr>
          <p:cNvSpPr/>
          <p:nvPr userDrawn="1"/>
        </p:nvSpPr>
        <p:spPr>
          <a:xfrm>
            <a:off x="4574167" y="5849063"/>
            <a:ext cx="643767" cy="669517"/>
          </a:xfrm>
          <a:custGeom>
            <a:avLst/>
            <a:gdLst/>
            <a:ahLst/>
            <a:cxnLst/>
            <a:rect l="l" t="t" r="r" b="b"/>
            <a:pathLst>
              <a:path w="643767" h="669517">
                <a:moveTo>
                  <a:pt x="0" y="0"/>
                </a:moveTo>
                <a:lnTo>
                  <a:pt x="643766" y="0"/>
                </a:lnTo>
                <a:lnTo>
                  <a:pt x="643766" y="669518"/>
                </a:lnTo>
                <a:lnTo>
                  <a:pt x="0" y="669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17">
            <a:extLst>
              <a:ext uri="{FF2B5EF4-FFF2-40B4-BE49-F238E27FC236}">
                <a16:creationId xmlns:a16="http://schemas.microsoft.com/office/drawing/2014/main" id="{3F2AF88C-6032-0A9F-B2D6-BFE79E1BB9E2}"/>
              </a:ext>
            </a:extLst>
          </p:cNvPr>
          <p:cNvSpPr/>
          <p:nvPr userDrawn="1"/>
        </p:nvSpPr>
        <p:spPr>
          <a:xfrm rot="-2064611">
            <a:off x="17237823" y="7391689"/>
            <a:ext cx="1287179" cy="1333864"/>
          </a:xfrm>
          <a:custGeom>
            <a:avLst/>
            <a:gdLst/>
            <a:ahLst/>
            <a:cxnLst/>
            <a:rect l="l" t="t" r="r" b="b"/>
            <a:pathLst>
              <a:path w="1287179" h="1333864">
                <a:moveTo>
                  <a:pt x="0" y="0"/>
                </a:moveTo>
                <a:lnTo>
                  <a:pt x="1287179" y="0"/>
                </a:lnTo>
                <a:lnTo>
                  <a:pt x="1287179" y="1333864"/>
                </a:lnTo>
                <a:lnTo>
                  <a:pt x="0" y="1333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Slide Number Placeholder 3">
            <a:extLst>
              <a:ext uri="{FF2B5EF4-FFF2-40B4-BE49-F238E27FC236}">
                <a16:creationId xmlns:a16="http://schemas.microsoft.com/office/drawing/2014/main" id="{B7849A54-CB38-B4ED-F978-1B90C8E1B3B4}"/>
              </a:ext>
            </a:extLst>
          </p:cNvPr>
          <p:cNvSpPr>
            <a:spLocks noGrp="1"/>
          </p:cNvSpPr>
          <p:nvPr>
            <p:ph type="sldNum" sz="quarter" idx="11"/>
          </p:nvPr>
        </p:nvSpPr>
        <p:spPr>
          <a:xfrm>
            <a:off x="14239672" y="9683287"/>
            <a:ext cx="2133600" cy="365125"/>
          </a:xfrm>
        </p:spPr>
        <p:txBody>
          <a:bodyPr/>
          <a:lstStyle>
            <a:lvl1pPr>
              <a:defRPr>
                <a:solidFill>
                  <a:srgbClr val="04345C"/>
                </a:solidFill>
              </a:defRPr>
            </a:lvl1pPr>
          </a:lstStyle>
          <a:p>
            <a:r>
              <a:rPr lang="en-US" dirty="0"/>
              <a:t>Slide - </a:t>
            </a:r>
            <a:fld id="{B6F15528-21DE-4FAA-801E-634DDDAF4B2B}" type="slidenum">
              <a:rPr lang="en-US" smtClean="0"/>
              <a:pPr/>
              <a:t>‹#›</a:t>
            </a:fld>
            <a:endParaRPr lang="en-US" dirty="0"/>
          </a:p>
        </p:txBody>
      </p:sp>
      <p:sp>
        <p:nvSpPr>
          <p:cNvPr id="44" name="Footer Placeholder 2">
            <a:extLst>
              <a:ext uri="{FF2B5EF4-FFF2-40B4-BE49-F238E27FC236}">
                <a16:creationId xmlns:a16="http://schemas.microsoft.com/office/drawing/2014/main" id="{C02CDA5C-ECCC-AC4E-97D5-74D00ADDCE79}"/>
              </a:ext>
            </a:extLst>
          </p:cNvPr>
          <p:cNvSpPr>
            <a:spLocks noGrp="1"/>
          </p:cNvSpPr>
          <p:nvPr>
            <p:ph type="ftr" sz="quarter" idx="10"/>
          </p:nvPr>
        </p:nvSpPr>
        <p:spPr>
          <a:xfrm>
            <a:off x="437745" y="9683287"/>
            <a:ext cx="13583055" cy="365125"/>
          </a:xfrm>
        </p:spPr>
        <p:txBody>
          <a:bodyPr/>
          <a:lstStyle/>
          <a:p>
            <a:endParaRPr lang="en-US" dirty="0"/>
          </a:p>
        </p:txBody>
      </p:sp>
      <p:sp>
        <p:nvSpPr>
          <p:cNvPr id="45" name="Title 1">
            <a:extLst>
              <a:ext uri="{FF2B5EF4-FFF2-40B4-BE49-F238E27FC236}">
                <a16:creationId xmlns:a16="http://schemas.microsoft.com/office/drawing/2014/main" id="{76318361-58FF-1B00-34DE-08B2213CA440}"/>
              </a:ext>
            </a:extLst>
          </p:cNvPr>
          <p:cNvSpPr>
            <a:spLocks noGrp="1"/>
          </p:cNvSpPr>
          <p:nvPr>
            <p:ph type="title" hasCustomPrompt="1"/>
          </p:nvPr>
        </p:nvSpPr>
        <p:spPr>
          <a:xfrm>
            <a:off x="1028700" y="144048"/>
            <a:ext cx="15925800" cy="1143000"/>
          </a:xfrm>
        </p:spPr>
        <p:txBody>
          <a:bodyPr/>
          <a:lstStyle>
            <a:lvl1pPr>
              <a:defRPr>
                <a:solidFill>
                  <a:srgbClr val="04345C"/>
                </a:solidFill>
              </a:defRPr>
            </a:lvl1pPr>
          </a:lstStyle>
          <a:p>
            <a:r>
              <a:rPr lang="en-US" dirty="0"/>
              <a:t>CLICK TO EDIT MASTER TITLE STYLE</a:t>
            </a:r>
            <a:endParaRPr lang="en-SG" dirty="0"/>
          </a:p>
        </p:txBody>
      </p:sp>
    </p:spTree>
    <p:extLst>
      <p:ext uri="{BB962C8B-B14F-4D97-AF65-F5344CB8AC3E}">
        <p14:creationId xmlns:p14="http://schemas.microsoft.com/office/powerpoint/2010/main" val="3943499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2000" y="9715055"/>
            <a:ext cx="2133600" cy="365125"/>
          </a:xfrm>
          <a:prstGeom prst="rect">
            <a:avLst/>
          </a:prstGeom>
        </p:spPr>
        <p:txBody>
          <a:bodyPr/>
          <a:lstStyle/>
          <a:p>
            <a:fld id="{A2C727C9-FB67-4724-A3B4-5F7AF2E8A9BD}" type="datetime1">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62000" y="9715055"/>
            <a:ext cx="2133600" cy="365125"/>
          </a:xfrm>
          <a:prstGeom prst="rect">
            <a:avLst/>
          </a:prstGeom>
        </p:spPr>
        <p:txBody>
          <a:bodyPr/>
          <a:lstStyle/>
          <a:p>
            <a:fld id="{51145382-B6CE-496A-A137-351A3194741C}" type="datetime1">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12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23412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762000" y="9715055"/>
            <a:ext cx="2133600" cy="365125"/>
          </a:xfrm>
          <a:prstGeom prst="rect">
            <a:avLst/>
          </a:prstGeom>
        </p:spPr>
        <p:txBody>
          <a:bodyPr/>
          <a:lstStyle/>
          <a:p>
            <a:fld id="{4D82CA9D-162E-4524-99DA-1ACB7877AA71}" type="datetime1">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762000" y="9715055"/>
            <a:ext cx="2133600" cy="365125"/>
          </a:xfrm>
          <a:prstGeom prst="rect">
            <a:avLst/>
          </a:prstGeom>
        </p:spPr>
        <p:txBody>
          <a:bodyPr/>
          <a:lstStyle/>
          <a:p>
            <a:fld id="{4D873D23-FEBD-4C05-860B-17E86BA625BB}" type="datetime1">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62000" y="9715055"/>
            <a:ext cx="2133600" cy="365125"/>
          </a:xfrm>
          <a:prstGeom prst="rect">
            <a:avLst/>
          </a:prstGeom>
        </p:spPr>
        <p:txBody>
          <a:bodyPr/>
          <a:lstStyle/>
          <a:p>
            <a:fld id="{26B8B21F-824E-4908-A476-58C42BEC5A49}" type="datetime1">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2000" y="9715055"/>
            <a:ext cx="2133600" cy="365125"/>
          </a:xfrm>
          <a:prstGeom prst="rect">
            <a:avLst/>
          </a:prstGeom>
        </p:spPr>
        <p:txBody>
          <a:bodyPr/>
          <a:lstStyle/>
          <a:p>
            <a:fld id="{B1A83ECB-BEB4-4A41-8226-C1F1AEECF7C5}" type="datetime1">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2000" y="9715055"/>
            <a:ext cx="2133600" cy="365125"/>
          </a:xfrm>
          <a:prstGeom prst="rect">
            <a:avLst/>
          </a:prstGeom>
        </p:spPr>
        <p:txBody>
          <a:bodyPr/>
          <a:lstStyle/>
          <a:p>
            <a:fld id="{A9A55115-CA2B-49A5-872C-0AE2BB851209}" type="datetime1">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62000" y="9715055"/>
            <a:ext cx="2133600" cy="365125"/>
          </a:xfrm>
          <a:prstGeom prst="rect">
            <a:avLst/>
          </a:prstGeom>
        </p:spPr>
        <p:txBody>
          <a:bodyPr/>
          <a:lstStyle/>
          <a:p>
            <a:fld id="{A2E4A989-D5BD-4710-BACB-82D874E02804}" type="datetime1">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62000" y="9715055"/>
            <a:ext cx="2133600" cy="365125"/>
          </a:xfrm>
          <a:prstGeom prst="rect">
            <a:avLst/>
          </a:prstGeom>
        </p:spPr>
        <p:txBody>
          <a:bodyPr/>
          <a:lstStyle/>
          <a:p>
            <a:fld id="{94ACCF2F-A634-47FE-BBD1-E595A857173B}" type="datetime1">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 </a:t>
            </a:r>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sv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19" name="Freeform 4">
            <a:extLst>
              <a:ext uri="{FF2B5EF4-FFF2-40B4-BE49-F238E27FC236}">
                <a16:creationId xmlns:a16="http://schemas.microsoft.com/office/drawing/2014/main" id="{B681DBE2-DF3C-2F7C-AC1C-120618021A27}"/>
              </a:ext>
            </a:extLst>
          </p:cNvPr>
          <p:cNvSpPr/>
          <p:nvPr userDrawn="1"/>
        </p:nvSpPr>
        <p:spPr>
          <a:xfrm rot="6087273">
            <a:off x="16499100" y="4419465"/>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0">
              <a:alphaModFix amt="19999"/>
              <a:extLst>
                <a:ext uri="{96DAC541-7B7A-43D3-8B79-37D633B846F1}">
                  <asvg:svgBlip xmlns:asvg="http://schemas.microsoft.com/office/drawing/2016/SVG/main" r:embed="rId21"/>
                </a:ext>
              </a:extLst>
            </a:blip>
            <a:stretch>
              <a:fillRect/>
            </a:stretch>
          </a:blipFill>
        </p:spPr>
        <p:txBody>
          <a:bodyPr/>
          <a:lstStyle/>
          <a:p>
            <a:endParaRPr lang="en-SG" dirty="0"/>
          </a:p>
        </p:txBody>
      </p:sp>
      <p:sp>
        <p:nvSpPr>
          <p:cNvPr id="17" name="Freeform 2">
            <a:extLst>
              <a:ext uri="{FF2B5EF4-FFF2-40B4-BE49-F238E27FC236}">
                <a16:creationId xmlns:a16="http://schemas.microsoft.com/office/drawing/2014/main" id="{55EF11E3-D671-1CAF-2189-5736A810CB8D}"/>
              </a:ext>
            </a:extLst>
          </p:cNvPr>
          <p:cNvSpPr/>
          <p:nvPr userDrawn="1"/>
        </p:nvSpPr>
        <p:spPr>
          <a:xfrm rot="9986250">
            <a:off x="-4102298" y="-524776"/>
            <a:ext cx="8880774" cy="9202874"/>
          </a:xfrm>
          <a:custGeom>
            <a:avLst/>
            <a:gdLst/>
            <a:ahLst/>
            <a:cxnLst/>
            <a:rect l="l" t="t" r="r" b="b"/>
            <a:pathLst>
              <a:path w="8880774" h="9202874">
                <a:moveTo>
                  <a:pt x="0" y="0"/>
                </a:moveTo>
                <a:lnTo>
                  <a:pt x="8880774" y="0"/>
                </a:lnTo>
                <a:lnTo>
                  <a:pt x="8880774" y="9202875"/>
                </a:lnTo>
                <a:lnTo>
                  <a:pt x="0" y="9202875"/>
                </a:lnTo>
                <a:lnTo>
                  <a:pt x="0" y="0"/>
                </a:lnTo>
                <a:close/>
              </a:path>
            </a:pathLst>
          </a:custGeom>
          <a:blipFill>
            <a:blip r:embed="rId20">
              <a:alphaModFix amt="19999"/>
              <a:extLst>
                <a:ext uri="{96DAC541-7B7A-43D3-8B79-37D633B846F1}">
                  <asvg:svgBlip xmlns:asvg="http://schemas.microsoft.com/office/drawing/2016/SVG/main" r:embed="rId21"/>
                </a:ext>
              </a:extLst>
            </a:blip>
            <a:stretch>
              <a:fillRect/>
            </a:stretch>
          </a:blipFill>
        </p:spPr>
      </p:sp>
      <p:sp>
        <p:nvSpPr>
          <p:cNvPr id="16" name="Freeform 11">
            <a:extLst>
              <a:ext uri="{FF2B5EF4-FFF2-40B4-BE49-F238E27FC236}">
                <a16:creationId xmlns:a16="http://schemas.microsoft.com/office/drawing/2014/main" id="{ACBB14AD-0961-ED18-327C-E0C97DF01A73}"/>
              </a:ext>
            </a:extLst>
          </p:cNvPr>
          <p:cNvSpPr/>
          <p:nvPr userDrawn="1"/>
        </p:nvSpPr>
        <p:spPr>
          <a:xfrm rot="-8234702">
            <a:off x="-900014" y="737071"/>
            <a:ext cx="2628319" cy="2723647"/>
          </a:xfrm>
          <a:custGeom>
            <a:avLst/>
            <a:gdLst/>
            <a:ahLst/>
            <a:cxnLst/>
            <a:rect l="l" t="t" r="r" b="b"/>
            <a:pathLst>
              <a:path w="2628319" h="2723647">
                <a:moveTo>
                  <a:pt x="0" y="0"/>
                </a:moveTo>
                <a:lnTo>
                  <a:pt x="2628319" y="0"/>
                </a:lnTo>
                <a:lnTo>
                  <a:pt x="2628319" y="2723647"/>
                </a:lnTo>
                <a:lnTo>
                  <a:pt x="0" y="272364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 name="Title Placeholder 1"/>
          <p:cNvSpPr>
            <a:spLocks noGrp="1"/>
          </p:cNvSpPr>
          <p:nvPr>
            <p:ph type="title"/>
          </p:nvPr>
        </p:nvSpPr>
        <p:spPr>
          <a:xfrm>
            <a:off x="457200" y="274638"/>
            <a:ext cx="15925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15925800" cy="782583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37745" y="9683287"/>
            <a:ext cx="1358305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4239672" y="9683287"/>
            <a:ext cx="2133600" cy="365125"/>
          </a:xfrm>
          <a:prstGeom prst="rect">
            <a:avLst/>
          </a:prstGeom>
        </p:spPr>
        <p:txBody>
          <a:bodyPr vert="horz" lIns="91440" tIns="45720" rIns="91440" bIns="45720" rtlCol="0" anchor="ctr"/>
          <a:lstStyle>
            <a:lvl1pPr algn="r">
              <a:defRPr sz="1600" b="1">
                <a:solidFill>
                  <a:srgbClr val="6BD4CD"/>
                </a:solidFill>
              </a:defRPr>
            </a:lvl1pPr>
          </a:lstStyle>
          <a:p>
            <a:r>
              <a:rPr lang="en-US" dirty="0"/>
              <a:t>Slide - </a:t>
            </a:r>
            <a:fld id="{B6F15528-21DE-4FAA-801E-634DDDAF4B2B}" type="slidenum">
              <a:rPr lang="en-US" smtClean="0"/>
              <a:pPr/>
              <a:t>‹#›</a:t>
            </a:fld>
            <a:endParaRPr lang="en-US" dirty="0"/>
          </a:p>
        </p:txBody>
      </p:sp>
      <p:sp>
        <p:nvSpPr>
          <p:cNvPr id="13" name="TextBox 8">
            <a:extLst>
              <a:ext uri="{FF2B5EF4-FFF2-40B4-BE49-F238E27FC236}">
                <a16:creationId xmlns:a16="http://schemas.microsoft.com/office/drawing/2014/main" id="{901DA87C-CD35-4138-EF46-CE7116C44148}"/>
              </a:ext>
            </a:extLst>
          </p:cNvPr>
          <p:cNvSpPr txBox="1"/>
          <p:nvPr userDrawn="1"/>
        </p:nvSpPr>
        <p:spPr>
          <a:xfrm>
            <a:off x="414146" y="6936961"/>
            <a:ext cx="7115133" cy="474489"/>
          </a:xfrm>
          <a:prstGeom prst="rect">
            <a:avLst/>
          </a:prstGeom>
        </p:spPr>
        <p:txBody>
          <a:bodyPr lIns="0" tIns="0" rIns="0" bIns="0" rtlCol="0" anchor="t">
            <a:spAutoFit/>
          </a:bodyPr>
          <a:lstStyle/>
          <a:p>
            <a:pPr>
              <a:lnSpc>
                <a:spcPts val="3730"/>
              </a:lnSpc>
              <a:spcBef>
                <a:spcPct val="0"/>
              </a:spcBef>
            </a:pPr>
            <a:endParaRPr lang="en-US" sz="3108" spc="310" dirty="0">
              <a:solidFill>
                <a:srgbClr val="FFFFFF"/>
              </a:solidFill>
              <a:latin typeface="Glacial Indifference"/>
            </a:endParaRPr>
          </a:p>
        </p:txBody>
      </p:sp>
      <p:sp>
        <p:nvSpPr>
          <p:cNvPr id="14" name="TextBox 9">
            <a:extLst>
              <a:ext uri="{FF2B5EF4-FFF2-40B4-BE49-F238E27FC236}">
                <a16:creationId xmlns:a16="http://schemas.microsoft.com/office/drawing/2014/main" id="{B239DAE7-ECF7-5E67-FECF-67EE10085C92}"/>
              </a:ext>
            </a:extLst>
          </p:cNvPr>
          <p:cNvSpPr txBox="1"/>
          <p:nvPr userDrawn="1"/>
        </p:nvSpPr>
        <p:spPr>
          <a:xfrm>
            <a:off x="9364624" y="6936961"/>
            <a:ext cx="8180426" cy="699615"/>
          </a:xfrm>
          <a:prstGeom prst="rect">
            <a:avLst/>
          </a:prstGeom>
        </p:spPr>
        <p:txBody>
          <a:bodyPr lIns="0" tIns="0" rIns="0" bIns="0" rtlCol="0" anchor="t">
            <a:spAutoFit/>
          </a:bodyPr>
          <a:lstStyle/>
          <a:p>
            <a:pPr algn="ctr">
              <a:lnSpc>
                <a:spcPts val="5667"/>
              </a:lnSpc>
              <a:spcBef>
                <a:spcPct val="0"/>
              </a:spcBef>
            </a:pPr>
            <a:endParaRPr lang="en-US" sz="4722" spc="472" dirty="0">
              <a:solidFill>
                <a:srgbClr val="FFFFFF"/>
              </a:solidFill>
              <a:latin typeface="Glacial Indifference"/>
            </a:endParaRPr>
          </a:p>
        </p:txBody>
      </p:sp>
      <p:sp>
        <p:nvSpPr>
          <p:cNvPr id="18" name="Freeform 3">
            <a:extLst>
              <a:ext uri="{FF2B5EF4-FFF2-40B4-BE49-F238E27FC236}">
                <a16:creationId xmlns:a16="http://schemas.microsoft.com/office/drawing/2014/main" id="{694B5BC3-71FC-7ACF-CA41-901A0AA8900D}"/>
              </a:ext>
            </a:extLst>
          </p:cNvPr>
          <p:cNvSpPr/>
          <p:nvPr userDrawn="1"/>
        </p:nvSpPr>
        <p:spPr>
          <a:xfrm rot="5375633">
            <a:off x="-489467" y="7372231"/>
            <a:ext cx="4693285" cy="4863507"/>
          </a:xfrm>
          <a:custGeom>
            <a:avLst/>
            <a:gdLst/>
            <a:ahLst/>
            <a:cxnLst/>
            <a:rect l="l" t="t" r="r" b="b"/>
            <a:pathLst>
              <a:path w="4693285" h="4863507">
                <a:moveTo>
                  <a:pt x="0" y="0"/>
                </a:moveTo>
                <a:lnTo>
                  <a:pt x="4693284" y="0"/>
                </a:lnTo>
                <a:lnTo>
                  <a:pt x="4693284" y="4863507"/>
                </a:lnTo>
                <a:lnTo>
                  <a:pt x="0" y="4863507"/>
                </a:lnTo>
                <a:lnTo>
                  <a:pt x="0" y="0"/>
                </a:lnTo>
                <a:close/>
              </a:path>
            </a:pathLst>
          </a:custGeom>
          <a:blipFill>
            <a:blip r:embed="rId20">
              <a:alphaModFix amt="19999"/>
              <a:extLst>
                <a:ext uri="{96DAC541-7B7A-43D3-8B79-37D633B846F1}">
                  <asvg:svgBlip xmlns:asvg="http://schemas.microsoft.com/office/drawing/2016/SVG/main" r:embed="rId21"/>
                </a:ext>
              </a:extLst>
            </a:blip>
            <a:stretch>
              <a:fillRect/>
            </a:stretch>
          </a:blipFill>
        </p:spPr>
      </p:sp>
      <p:sp>
        <p:nvSpPr>
          <p:cNvPr id="20" name="Freeform 5">
            <a:extLst>
              <a:ext uri="{FF2B5EF4-FFF2-40B4-BE49-F238E27FC236}">
                <a16:creationId xmlns:a16="http://schemas.microsoft.com/office/drawing/2014/main" id="{98DADDC6-C070-924D-CD3A-C762A1BCAA34}"/>
              </a:ext>
            </a:extLst>
          </p:cNvPr>
          <p:cNvSpPr/>
          <p:nvPr userDrawn="1"/>
        </p:nvSpPr>
        <p:spPr>
          <a:xfrm rot="-4420793">
            <a:off x="10604897" y="-4495251"/>
            <a:ext cx="9951332" cy="10312261"/>
          </a:xfrm>
          <a:custGeom>
            <a:avLst/>
            <a:gdLst/>
            <a:ahLst/>
            <a:cxnLst/>
            <a:rect l="l" t="t" r="r" b="b"/>
            <a:pathLst>
              <a:path w="9951332" h="10312261">
                <a:moveTo>
                  <a:pt x="0" y="0"/>
                </a:moveTo>
                <a:lnTo>
                  <a:pt x="9951332" y="0"/>
                </a:lnTo>
                <a:lnTo>
                  <a:pt x="9951332" y="10312261"/>
                </a:lnTo>
                <a:lnTo>
                  <a:pt x="0" y="10312261"/>
                </a:lnTo>
                <a:lnTo>
                  <a:pt x="0" y="0"/>
                </a:lnTo>
                <a:close/>
              </a:path>
            </a:pathLst>
          </a:custGeom>
          <a:blipFill>
            <a:blip r:embed="rId20">
              <a:alphaModFix amt="19999"/>
              <a:extLst>
                <a:ext uri="{96DAC541-7B7A-43D3-8B79-37D633B846F1}">
                  <asvg:svgBlip xmlns:asvg="http://schemas.microsoft.com/office/drawing/2016/SVG/main" r:embed="rId21"/>
                </a:ext>
              </a:extLst>
            </a:blip>
            <a:stretch>
              <a:fillRect/>
            </a:stretch>
          </a:blipFill>
        </p:spPr>
      </p:sp>
      <p:grpSp>
        <p:nvGrpSpPr>
          <p:cNvPr id="21" name="Group 6">
            <a:extLst>
              <a:ext uri="{FF2B5EF4-FFF2-40B4-BE49-F238E27FC236}">
                <a16:creationId xmlns:a16="http://schemas.microsoft.com/office/drawing/2014/main" id="{100AA18F-FEA8-982F-EE97-C6A256A34164}"/>
              </a:ext>
            </a:extLst>
          </p:cNvPr>
          <p:cNvGrpSpPr/>
          <p:nvPr userDrawn="1"/>
        </p:nvGrpSpPr>
        <p:grpSpPr>
          <a:xfrm>
            <a:off x="52339" y="9518234"/>
            <a:ext cx="571500" cy="571500"/>
            <a:chOff x="0" y="0"/>
            <a:chExt cx="6350000" cy="6350000"/>
          </a:xfrm>
        </p:grpSpPr>
        <p:sp>
          <p:nvSpPr>
            <p:cNvPr id="22" name="Freeform 7">
              <a:extLst>
                <a:ext uri="{FF2B5EF4-FFF2-40B4-BE49-F238E27FC236}">
                  <a16:creationId xmlns:a16="http://schemas.microsoft.com/office/drawing/2014/main" id="{0FEA7EFA-F0F8-0875-04D5-C231EA4B5C3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sp>
      </p:grpSp>
      <p:sp>
        <p:nvSpPr>
          <p:cNvPr id="23" name="Freeform 11">
            <a:extLst>
              <a:ext uri="{FF2B5EF4-FFF2-40B4-BE49-F238E27FC236}">
                <a16:creationId xmlns:a16="http://schemas.microsoft.com/office/drawing/2014/main" id="{494EFA89-757C-7E45-9161-5EC3C024543C}"/>
              </a:ext>
            </a:extLst>
          </p:cNvPr>
          <p:cNvSpPr/>
          <p:nvPr userDrawn="1"/>
        </p:nvSpPr>
        <p:spPr>
          <a:xfrm rot="-2059948">
            <a:off x="16604155" y="-438298"/>
            <a:ext cx="2350917" cy="2436183"/>
          </a:xfrm>
          <a:custGeom>
            <a:avLst/>
            <a:gdLst/>
            <a:ahLst/>
            <a:cxnLst/>
            <a:rect l="l" t="t" r="r" b="b"/>
            <a:pathLst>
              <a:path w="2350917" h="2436183">
                <a:moveTo>
                  <a:pt x="0" y="0"/>
                </a:moveTo>
                <a:lnTo>
                  <a:pt x="2350917" y="0"/>
                </a:lnTo>
                <a:lnTo>
                  <a:pt x="2350917" y="2436183"/>
                </a:lnTo>
                <a:lnTo>
                  <a:pt x="0" y="243618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3" r:id="rId6"/>
    <p:sldLayoutId id="2147483664" r:id="rId7"/>
    <p:sldLayoutId id="2147483665" r:id="rId8"/>
    <p:sldLayoutId id="2147483666"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 id="2147483659" r:id="rId18"/>
  </p:sldLayoutIdLst>
  <p:hf hdr="0" ftr="0" dt="0"/>
  <p:txStyles>
    <p:titleStyle>
      <a:lvl1pPr algn="l" defTabSz="914400" rtl="0" eaLnBrk="1" latinLnBrk="0" hangingPunct="1">
        <a:spcBef>
          <a:spcPct val="0"/>
        </a:spcBef>
        <a:buNone/>
        <a:defRPr sz="5400" kern="1200">
          <a:solidFill>
            <a:srgbClr val="6BD4CD"/>
          </a:solidFill>
          <a:latin typeface="Glacial Indifference Bold" panose="020B060402020202020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4000" kern="1200">
          <a:solidFill>
            <a:schemeClr val="bg1"/>
          </a:solidFill>
          <a:latin typeface="Glacial Indifference" panose="020B0604020202020204" charset="0"/>
          <a:ea typeface="+mn-ea"/>
          <a:cs typeface="+mn-cs"/>
        </a:defRPr>
      </a:lvl1pPr>
      <a:lvl2pPr marL="742950" indent="-285750" algn="l" defTabSz="914400" rtl="0" eaLnBrk="1" latinLnBrk="0" hangingPunct="1">
        <a:spcBef>
          <a:spcPct val="20000"/>
        </a:spcBef>
        <a:buFont typeface="Arial" pitchFamily="34" charset="0"/>
        <a:buChar char="–"/>
        <a:defRPr sz="3200" kern="1200">
          <a:solidFill>
            <a:schemeClr val="bg1"/>
          </a:solidFill>
          <a:latin typeface="Glacial Indifference" panose="020B0604020202020204"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Glacial Indifference" panose="020B060402020202020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Glacial Indifference" panose="020B0604020202020204" charset="0"/>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bg1"/>
          </a:solidFill>
          <a:latin typeface="Glacial Indifference" panose="020B060402020202020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image" Target="../media/image10.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 Id="rId5" Type="http://schemas.openxmlformats.org/officeDocument/2006/relationships/image" Target="../media/image47.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monalikaghosh7/Power-BI-dashboard" TargetMode="External"/><Relationship Id="rId2" Type="http://schemas.openxmlformats.org/officeDocument/2006/relationships/hyperlink" Target="https://github.com/monalikaghosh7/IPL-Data-Analysis/tree/main"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image" Target="../media/image10.sv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monalikaghosh7/IPL-Data-Analysis/tree/main" TargetMode="Externa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openclipart.org/detail/159643/thank-you-pinned-by-juliobahar" TargetMode="External"/><Relationship Id="rId2" Type="http://schemas.openxmlformats.org/officeDocument/2006/relationships/image" Target="../media/image4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DB4D5F-894C-8B37-4A6B-3D307E8DDA39}"/>
              </a:ext>
            </a:extLst>
          </p:cNvPr>
          <p:cNvPicPr>
            <a:picLocks noChangeAspect="1"/>
          </p:cNvPicPr>
          <p:nvPr/>
        </p:nvPicPr>
        <p:blipFill>
          <a:blip r:embed="rId2"/>
          <a:stretch>
            <a:fillRect/>
          </a:stretch>
        </p:blipFill>
        <p:spPr>
          <a:xfrm>
            <a:off x="13563600" y="266700"/>
            <a:ext cx="4372585" cy="1228896"/>
          </a:xfrm>
          <a:prstGeom prst="rect">
            <a:avLst/>
          </a:prstGeom>
          <a:ln>
            <a:solidFill>
              <a:srgbClr val="0C4DA2"/>
            </a:solidFill>
          </a:ln>
          <a:effectLst>
            <a:glow rad="228600">
              <a:schemeClr val="tx2">
                <a:alpha val="57000"/>
              </a:schemeClr>
            </a:glow>
          </a:effectLst>
        </p:spPr>
      </p:pic>
      <p:sp>
        <p:nvSpPr>
          <p:cNvPr id="5" name="Rectangle 4">
            <a:extLst>
              <a:ext uri="{FF2B5EF4-FFF2-40B4-BE49-F238E27FC236}">
                <a16:creationId xmlns:a16="http://schemas.microsoft.com/office/drawing/2014/main" id="{93B0EABA-9061-ADA4-2756-397590CD7F3F}"/>
              </a:ext>
            </a:extLst>
          </p:cNvPr>
          <p:cNvSpPr/>
          <p:nvPr/>
        </p:nvSpPr>
        <p:spPr>
          <a:xfrm>
            <a:off x="2857500" y="1743171"/>
            <a:ext cx="12572999" cy="8245591"/>
          </a:xfrm>
          <a:prstGeom prst="rect">
            <a:avLst/>
          </a:prstGeom>
        </p:spPr>
        <p:txBody>
          <a:bodyPr wrap="square">
            <a:spAutoFit/>
          </a:bodyPr>
          <a:lstStyle/>
          <a:p>
            <a:pPr marL="887095" marR="762000" algn="ctr">
              <a:lnSpc>
                <a:spcPct val="107000"/>
              </a:lnSpc>
              <a:spcBef>
                <a:spcPts val="935"/>
              </a:spcBef>
              <a:spcAft>
                <a:spcPts val="800"/>
              </a:spcAft>
            </a:pPr>
            <a:r>
              <a:rPr lang="en-IN" sz="4000" b="1" dirty="0">
                <a:solidFill>
                  <a:schemeClr val="bg1"/>
                </a:solidFill>
                <a:latin typeface="Calibri" panose="020F0502020204030204" pitchFamily="34" charset="0"/>
                <a:ea typeface="Calibri" panose="020F0502020204030204" pitchFamily="34" charset="0"/>
                <a:cs typeface="Calibri" panose="020F0502020204030204" pitchFamily="34" charset="0"/>
              </a:rPr>
              <a:t>DIRECTORATE OF ONLINE EDUCATION</a:t>
            </a:r>
          </a:p>
          <a:p>
            <a:pPr marL="903605" marR="762000" algn="ctr">
              <a:lnSpc>
                <a:spcPct val="115000"/>
              </a:lnSpc>
              <a:spcBef>
                <a:spcPts val="10"/>
              </a:spcBef>
              <a:spcAft>
                <a:spcPts val="800"/>
              </a:spcAft>
            </a:pPr>
            <a:r>
              <a:rPr lang="en-IN" sz="4000" b="1" dirty="0">
                <a:solidFill>
                  <a:schemeClr val="bg1"/>
                </a:solidFill>
                <a:latin typeface="Calibri" panose="020F0502020204030204" pitchFamily="34" charset="0"/>
                <a:ea typeface="Calibri" panose="020F0502020204030204" pitchFamily="34" charset="0"/>
                <a:cs typeface="Calibri" panose="020F0502020204030204" pitchFamily="34" charset="0"/>
              </a:rPr>
              <a:t>SRM INSTITUTE OF SCIENCE AND TECHNOLOGY </a:t>
            </a:r>
          </a:p>
          <a:p>
            <a:pPr marL="903605" marR="762000" algn="ctr">
              <a:lnSpc>
                <a:spcPct val="115000"/>
              </a:lnSpc>
              <a:spcBef>
                <a:spcPts val="10"/>
              </a:spcBef>
              <a:spcAft>
                <a:spcPts val="800"/>
              </a:spcAft>
            </a:pPr>
            <a:r>
              <a:rPr lang="en-IN" sz="4000" b="1" dirty="0">
                <a:solidFill>
                  <a:schemeClr val="bg1"/>
                </a:solidFill>
                <a:latin typeface="Calibri" panose="020F0502020204030204" pitchFamily="34" charset="0"/>
                <a:ea typeface="Calibri" panose="020F0502020204030204" pitchFamily="34" charset="0"/>
                <a:cs typeface="Calibri" panose="020F0502020204030204" pitchFamily="34" charset="0"/>
              </a:rPr>
              <a:t>KATTANKULATHUR- 603 203</a:t>
            </a:r>
          </a:p>
          <a:p>
            <a:pPr algn="ctr">
              <a:lnSpc>
                <a:spcPct val="107000"/>
              </a:lnSpc>
              <a:spcBef>
                <a:spcPts val="200"/>
              </a:spcBef>
              <a:spcAft>
                <a:spcPts val="790"/>
              </a:spcAft>
            </a:pPr>
            <a:endParaRPr lang="en-US" sz="3600" dirty="0">
              <a:solidFill>
                <a:schemeClr val="dk1"/>
              </a:solidFill>
              <a:latin typeface="Roboto Slab"/>
              <a:ea typeface="Roboto Slab"/>
              <a:cs typeface="Roboto Slab"/>
              <a:sym typeface="Roboto Slab"/>
            </a:endParaRPr>
          </a:p>
          <a:p>
            <a:pPr algn="ctr">
              <a:lnSpc>
                <a:spcPct val="107000"/>
              </a:lnSpc>
              <a:spcBef>
                <a:spcPts val="200"/>
              </a:spcBef>
              <a:spcAft>
                <a:spcPts val="790"/>
              </a:spcAft>
            </a:pPr>
            <a:r>
              <a:rPr lang="en-US" sz="3200" b="1" dirty="0">
                <a:solidFill>
                  <a:srgbClr val="6BD4CD"/>
                </a:solidFill>
                <a:ea typeface="Roboto Slab"/>
                <a:cs typeface="Roboto Slab"/>
                <a:sym typeface="Roboto Slab"/>
              </a:rPr>
              <a:t>MCA IV SEM</a:t>
            </a:r>
          </a:p>
          <a:p>
            <a:pPr algn="ctr">
              <a:lnSpc>
                <a:spcPct val="107000"/>
              </a:lnSpc>
              <a:spcBef>
                <a:spcPts val="200"/>
              </a:spcBef>
              <a:spcAft>
                <a:spcPts val="790"/>
              </a:spcAft>
            </a:pPr>
            <a:r>
              <a:rPr lang="en-US" sz="3200" b="1" dirty="0">
                <a:solidFill>
                  <a:srgbClr val="6BD4CD"/>
                </a:solidFill>
                <a:ea typeface="Roboto Slab"/>
                <a:cs typeface="Roboto Slab"/>
                <a:sym typeface="Roboto Slab"/>
              </a:rPr>
              <a:t>PROJECT VIVA VOCE </a:t>
            </a:r>
          </a:p>
          <a:p>
            <a:pPr algn="ctr">
              <a:lnSpc>
                <a:spcPct val="107000"/>
              </a:lnSpc>
              <a:spcBef>
                <a:spcPts val="200"/>
              </a:spcBef>
              <a:spcAft>
                <a:spcPts val="790"/>
              </a:spcAft>
            </a:pPr>
            <a:r>
              <a:rPr lang="en-US" sz="3200" b="1" dirty="0">
                <a:solidFill>
                  <a:srgbClr val="6BD4CD"/>
                </a:solidFill>
                <a:ea typeface="Roboto Slab"/>
                <a:cs typeface="Roboto Slab"/>
                <a:sym typeface="Roboto Slab"/>
              </a:rPr>
              <a:t>December 2024 </a:t>
            </a:r>
          </a:p>
          <a:p>
            <a:pPr algn="ctr">
              <a:lnSpc>
                <a:spcPct val="107000"/>
              </a:lnSpc>
              <a:spcBef>
                <a:spcPts val="200"/>
              </a:spcBef>
              <a:spcAft>
                <a:spcPts val="790"/>
              </a:spcAft>
            </a:pPr>
            <a:endParaRPr lang="en-US" sz="3600" dirty="0">
              <a:solidFill>
                <a:srgbClr val="FFC000"/>
              </a:solidFill>
              <a:ea typeface="Roboto Slab"/>
              <a:cs typeface="Roboto Slab"/>
              <a:sym typeface="Roboto Slab"/>
            </a:endParaRPr>
          </a:p>
          <a:p>
            <a:pPr algn="ctr">
              <a:lnSpc>
                <a:spcPct val="107000"/>
              </a:lnSpc>
              <a:spcBef>
                <a:spcPts val="200"/>
              </a:spcBef>
              <a:spcAft>
                <a:spcPts val="790"/>
              </a:spcAft>
            </a:pPr>
            <a:endParaRPr lang="en-US" sz="3600" dirty="0">
              <a:solidFill>
                <a:srgbClr val="FFC000"/>
              </a:solidFill>
              <a:ea typeface="Roboto Slab"/>
              <a:cs typeface="Roboto Slab"/>
              <a:sym typeface="Roboto Slab"/>
            </a:endParaRPr>
          </a:p>
          <a:p>
            <a:pPr algn="ctr">
              <a:lnSpc>
                <a:spcPct val="107000"/>
              </a:lnSpc>
              <a:spcBef>
                <a:spcPts val="200"/>
              </a:spcBef>
              <a:spcAft>
                <a:spcPts val="790"/>
              </a:spcAft>
            </a:pPr>
            <a:r>
              <a:rPr lang="en-US" sz="2800" dirty="0">
                <a:solidFill>
                  <a:schemeClr val="bg1"/>
                </a:solidFill>
                <a:latin typeface="Glacial Indifference" panose="020B0604020202020204" charset="0"/>
                <a:sym typeface="Roboto Slab"/>
              </a:rPr>
              <a:t>ENROLMENT NUMBER : EC2332251010130</a:t>
            </a:r>
          </a:p>
          <a:p>
            <a:pPr algn="ctr">
              <a:lnSpc>
                <a:spcPct val="107000"/>
              </a:lnSpc>
              <a:spcBef>
                <a:spcPts val="200"/>
              </a:spcBef>
              <a:spcAft>
                <a:spcPts val="790"/>
              </a:spcAft>
            </a:pPr>
            <a:r>
              <a:rPr lang="en-US" sz="2800" dirty="0">
                <a:solidFill>
                  <a:schemeClr val="bg1"/>
                </a:solidFill>
                <a:latin typeface="Glacial Indifference" panose="020B0604020202020204" charset="0"/>
                <a:sym typeface="Roboto Slab"/>
              </a:rPr>
              <a:t>NAME OF STUDENT:   MONALIKA GHOSH  </a:t>
            </a:r>
            <a:br>
              <a:rPr lang="en-US" sz="3600" b="1" dirty="0">
                <a:solidFill>
                  <a:schemeClr val="accent1">
                    <a:lumMod val="50000"/>
                  </a:schemeClr>
                </a:solidFill>
                <a:latin typeface="Arial" panose="020B0604020202020204" pitchFamily="34" charset="0"/>
                <a:cs typeface="Arial" panose="020B0604020202020204" pitchFamily="34" charset="0"/>
              </a:rPr>
            </a:br>
            <a:endParaRPr lang="en-IN" sz="3600" dirty="0"/>
          </a:p>
        </p:txBody>
      </p:sp>
    </p:spTree>
    <p:extLst>
      <p:ext uri="{BB962C8B-B14F-4D97-AF65-F5344CB8AC3E}">
        <p14:creationId xmlns:p14="http://schemas.microsoft.com/office/powerpoint/2010/main" val="266811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0A5B-7B24-E468-15EA-7335B84C633E}"/>
              </a:ext>
            </a:extLst>
          </p:cNvPr>
          <p:cNvSpPr>
            <a:spLocks noGrp="1"/>
          </p:cNvSpPr>
          <p:nvPr>
            <p:ph type="ctrTitle"/>
          </p:nvPr>
        </p:nvSpPr>
        <p:spPr>
          <a:xfrm>
            <a:off x="3619500" y="1462533"/>
            <a:ext cx="11506200" cy="3624129"/>
          </a:xfrm>
        </p:spPr>
        <p:txBody>
          <a:bodyPr>
            <a:normAutofit/>
          </a:bodyPr>
          <a:lstStyle/>
          <a:p>
            <a:br>
              <a:rPr lang="en-SG" dirty="0"/>
            </a:br>
            <a:r>
              <a:rPr lang="en-US" dirty="0"/>
              <a:t>CRICKET DATA ANALYSIS PROJECT USING WEB SCRAPING, PYTHON, PANDAS &amp; POWER-BI</a:t>
            </a:r>
            <a:endParaRPr lang="en-SG" dirty="0"/>
          </a:p>
        </p:txBody>
      </p:sp>
      <p:sp>
        <p:nvSpPr>
          <p:cNvPr id="3" name="Subtitle 2">
            <a:extLst>
              <a:ext uri="{FF2B5EF4-FFF2-40B4-BE49-F238E27FC236}">
                <a16:creationId xmlns:a16="http://schemas.microsoft.com/office/drawing/2014/main" id="{F0E4070C-80D4-D3B7-EFC1-763216D63FD1}"/>
              </a:ext>
            </a:extLst>
          </p:cNvPr>
          <p:cNvSpPr>
            <a:spLocks noGrp="1"/>
          </p:cNvSpPr>
          <p:nvPr>
            <p:ph type="subTitle" idx="1"/>
          </p:nvPr>
        </p:nvSpPr>
        <p:spPr>
          <a:xfrm>
            <a:off x="5562600" y="7124700"/>
            <a:ext cx="7620000" cy="685800"/>
          </a:xfrm>
        </p:spPr>
        <p:txBody>
          <a:bodyPr>
            <a:normAutofit/>
          </a:bodyPr>
          <a:lstStyle/>
          <a:p>
            <a:r>
              <a:rPr lang="en-US" sz="3200" dirty="0"/>
              <a:t>PROJECT GUIDE : </a:t>
            </a:r>
            <a:r>
              <a:rPr lang="en-US" sz="3200" b="1" dirty="0">
                <a:solidFill>
                  <a:srgbClr val="6BD4CD"/>
                </a:solidFill>
              </a:rPr>
              <a:t>Dr. </a:t>
            </a:r>
            <a:r>
              <a:rPr lang="en-US" sz="3200" b="1" dirty="0" err="1">
                <a:solidFill>
                  <a:srgbClr val="6BD4CD"/>
                </a:solidFill>
              </a:rPr>
              <a:t>Umamaheswari</a:t>
            </a:r>
            <a:r>
              <a:rPr lang="en-US" sz="3200" b="1" dirty="0">
                <a:solidFill>
                  <a:srgbClr val="6BD4CD"/>
                </a:solidFill>
              </a:rPr>
              <a:t>. Km</a:t>
            </a:r>
          </a:p>
          <a:p>
            <a:endParaRPr lang="en-SG" dirty="0"/>
          </a:p>
        </p:txBody>
      </p:sp>
    </p:spTree>
    <p:extLst>
      <p:ext uri="{BB962C8B-B14F-4D97-AF65-F5344CB8AC3E}">
        <p14:creationId xmlns:p14="http://schemas.microsoft.com/office/powerpoint/2010/main" val="1940584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B6738-CF70-1990-C433-A752EBD44F13}"/>
              </a:ext>
            </a:extLst>
          </p:cNvPr>
          <p:cNvSpPr>
            <a:spLocks noGrp="1"/>
          </p:cNvSpPr>
          <p:nvPr>
            <p:ph type="title"/>
          </p:nvPr>
        </p:nvSpPr>
        <p:spPr>
          <a:xfrm>
            <a:off x="571500" y="238588"/>
            <a:ext cx="17145000" cy="1143000"/>
          </a:xfrm>
        </p:spPr>
        <p:txBody>
          <a:bodyPr/>
          <a:lstStyle/>
          <a:p>
            <a:r>
              <a:rPr lang="en-US" dirty="0"/>
              <a:t>CONTENTS</a:t>
            </a:r>
            <a:endParaRPr lang="en-SG" dirty="0"/>
          </a:p>
        </p:txBody>
      </p:sp>
      <p:sp>
        <p:nvSpPr>
          <p:cNvPr id="3" name="Content Placeholder 2">
            <a:extLst>
              <a:ext uri="{FF2B5EF4-FFF2-40B4-BE49-F238E27FC236}">
                <a16:creationId xmlns:a16="http://schemas.microsoft.com/office/drawing/2014/main" id="{1D78B805-2AE1-075E-8B77-73E02AE25E07}"/>
              </a:ext>
            </a:extLst>
          </p:cNvPr>
          <p:cNvSpPr txBox="1">
            <a:spLocks/>
          </p:cNvSpPr>
          <p:nvPr/>
        </p:nvSpPr>
        <p:spPr>
          <a:xfrm>
            <a:off x="1971472" y="1617672"/>
            <a:ext cx="6477000" cy="7051656"/>
          </a:xfrm>
          <a:prstGeom prst="rect">
            <a:avLst/>
          </a:prstGeom>
          <a:solidFill>
            <a:srgbClr val="57B6B7"/>
          </a:solidFill>
          <a:effectLst>
            <a:outerShdw blurRad="50800" dist="38100" dir="2700000" algn="tl" rotWithShape="0">
              <a:prstClr val="black">
                <a:alpha val="40000"/>
              </a:prstClr>
            </a:outerShdw>
          </a:effectLst>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857250" indent="-514350">
              <a:buFont typeface="+mj-lt"/>
              <a:buAutoNum type="arabicPeriod"/>
            </a:pPr>
            <a:endParaRPr lang="en-US" dirty="0">
              <a:latin typeface="Glacial Indifference" panose="020B0604020202020204" charset="0"/>
            </a:endParaRPr>
          </a:p>
          <a:p>
            <a:pPr marL="857250" indent="-514350">
              <a:buFont typeface="+mj-lt"/>
              <a:buAutoNum type="arabicPeriod"/>
            </a:pPr>
            <a:r>
              <a:rPr lang="en-US" dirty="0">
                <a:latin typeface="Glacial Indifference" panose="020B0604020202020204" charset="0"/>
              </a:rPr>
              <a:t>Abstract</a:t>
            </a:r>
          </a:p>
          <a:p>
            <a:pPr marL="857250" indent="-514350">
              <a:buFont typeface="+mj-lt"/>
              <a:buAutoNum type="arabicPeriod"/>
            </a:pPr>
            <a:r>
              <a:rPr lang="en-US" dirty="0">
                <a:latin typeface="Glacial Indifference" panose="020B0604020202020204" charset="0"/>
              </a:rPr>
              <a:t>Introduction</a:t>
            </a:r>
          </a:p>
          <a:p>
            <a:pPr marL="857250" indent="-514350">
              <a:buFont typeface="+mj-lt"/>
              <a:buAutoNum type="arabicPeriod"/>
            </a:pPr>
            <a:r>
              <a:rPr lang="en-US" dirty="0">
                <a:latin typeface="Glacial Indifference" panose="020B0604020202020204" charset="0"/>
              </a:rPr>
              <a:t>Project Scope</a:t>
            </a:r>
          </a:p>
          <a:p>
            <a:pPr marL="857250" indent="-514350">
              <a:buFont typeface="+mj-lt"/>
              <a:buAutoNum type="arabicPeriod"/>
            </a:pPr>
            <a:r>
              <a:rPr lang="en-US" dirty="0">
                <a:latin typeface="Glacial Indifference" panose="020B0604020202020204" charset="0"/>
              </a:rPr>
              <a:t>UML Diagram</a:t>
            </a:r>
          </a:p>
          <a:p>
            <a:pPr marL="857250" indent="-514350">
              <a:buFont typeface="+mj-lt"/>
              <a:buAutoNum type="arabicPeriod"/>
            </a:pPr>
            <a:r>
              <a:rPr lang="en-US" dirty="0">
                <a:latin typeface="Glacial Indifference" panose="020B0604020202020204" charset="0"/>
              </a:rPr>
              <a:t>Features</a:t>
            </a:r>
          </a:p>
          <a:p>
            <a:pPr marL="857250" indent="-514350">
              <a:buFont typeface="+mj-lt"/>
              <a:buAutoNum type="arabicPeriod"/>
            </a:pPr>
            <a:r>
              <a:rPr lang="en-US" dirty="0">
                <a:latin typeface="Glacial Indifference" panose="020B0604020202020204" charset="0"/>
              </a:rPr>
              <a:t>Module Description</a:t>
            </a:r>
          </a:p>
          <a:p>
            <a:pPr marL="857250" indent="-514350">
              <a:buFont typeface="+mj-lt"/>
              <a:buAutoNum type="arabicPeriod"/>
            </a:pPr>
            <a:r>
              <a:rPr lang="en-US" dirty="0">
                <a:latin typeface="Glacial Indifference" panose="020B0604020202020204" charset="0"/>
              </a:rPr>
              <a:t>System Requirements</a:t>
            </a:r>
          </a:p>
          <a:p>
            <a:pPr marL="857250" indent="-514350">
              <a:buFont typeface="+mj-lt"/>
              <a:buAutoNum type="arabicPeriod"/>
            </a:pPr>
            <a:r>
              <a:rPr lang="en-US" dirty="0">
                <a:latin typeface="Glacial Indifference" panose="020B0604020202020204" charset="0"/>
              </a:rPr>
              <a:t>Existing System vs Proposed System</a:t>
            </a:r>
          </a:p>
          <a:p>
            <a:pPr indent="0">
              <a:buNone/>
            </a:pPr>
            <a:endParaRPr lang="en-US" dirty="0">
              <a:latin typeface="Glacial Indifference" panose="020B0604020202020204" charset="0"/>
            </a:endParaRPr>
          </a:p>
          <a:p>
            <a:pPr marL="0" indent="0">
              <a:buFont typeface="Arial" pitchFamily="34" charset="0"/>
              <a:buNone/>
            </a:pPr>
            <a:endParaRPr lang="en-US" dirty="0">
              <a:latin typeface="Glacial Indifference" panose="020B0604020202020204" charset="0"/>
            </a:endParaRPr>
          </a:p>
          <a:p>
            <a:endParaRPr lang="en-SG" dirty="0">
              <a:latin typeface="Glacial Indifference" panose="020B0604020202020204" charset="0"/>
            </a:endParaRPr>
          </a:p>
        </p:txBody>
      </p:sp>
      <p:sp>
        <p:nvSpPr>
          <p:cNvPr id="4" name="Content Placeholder 2">
            <a:extLst>
              <a:ext uri="{FF2B5EF4-FFF2-40B4-BE49-F238E27FC236}">
                <a16:creationId xmlns:a16="http://schemas.microsoft.com/office/drawing/2014/main" id="{D2AF6488-EFAD-57F0-EEE2-227878288442}"/>
              </a:ext>
            </a:extLst>
          </p:cNvPr>
          <p:cNvSpPr txBox="1">
            <a:spLocks/>
          </p:cNvSpPr>
          <p:nvPr/>
        </p:nvSpPr>
        <p:spPr>
          <a:xfrm>
            <a:off x="9896272" y="1617672"/>
            <a:ext cx="6477000" cy="7051656"/>
          </a:xfrm>
          <a:prstGeom prst="rect">
            <a:avLst/>
          </a:prstGeom>
          <a:solidFill>
            <a:srgbClr val="57B6B7"/>
          </a:solidFill>
          <a:effectLst>
            <a:outerShdw blurRad="50800" dist="38100" dir="2700000" algn="tl" rotWithShape="0">
              <a:prstClr val="black">
                <a:alpha val="40000"/>
              </a:prstClr>
            </a:outerShdw>
          </a:effectLst>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buNone/>
            </a:pPr>
            <a:endParaRPr lang="en-US" dirty="0">
              <a:latin typeface="Glacial Indifference" panose="020B0604020202020204" charset="0"/>
            </a:endParaRPr>
          </a:p>
          <a:p>
            <a:pPr indent="0">
              <a:buNone/>
            </a:pPr>
            <a:r>
              <a:rPr lang="en-US" dirty="0">
                <a:latin typeface="Glacial Indifference" panose="020B0604020202020204" charset="0"/>
              </a:rPr>
              <a:t>9. Proposed System</a:t>
            </a:r>
          </a:p>
          <a:p>
            <a:pPr indent="0">
              <a:buNone/>
            </a:pPr>
            <a:r>
              <a:rPr lang="en-US" dirty="0">
                <a:latin typeface="Glacial Indifference" panose="020B0604020202020204" charset="0"/>
              </a:rPr>
              <a:t>10. Data Flow Diagram- Power BI</a:t>
            </a:r>
          </a:p>
          <a:p>
            <a:pPr marL="857250" indent="-514350">
              <a:buFont typeface="+mj-lt"/>
              <a:buAutoNum type="arabicPeriod" startAt="11"/>
            </a:pPr>
            <a:r>
              <a:rPr lang="en-US" dirty="0">
                <a:latin typeface="Glacial Indifference" panose="020B0604020202020204" charset="0"/>
              </a:rPr>
              <a:t>Output Screenshots</a:t>
            </a:r>
          </a:p>
          <a:p>
            <a:pPr marL="857250" indent="-514350">
              <a:buFont typeface="+mj-lt"/>
              <a:buAutoNum type="arabicPeriod" startAt="11"/>
            </a:pPr>
            <a:r>
              <a:rPr lang="en-US" dirty="0">
                <a:latin typeface="Glacial Indifference" panose="020B0604020202020204" charset="0"/>
              </a:rPr>
              <a:t>Source Code</a:t>
            </a:r>
          </a:p>
          <a:p>
            <a:pPr marL="857250" indent="-514350">
              <a:buFont typeface="+mj-lt"/>
              <a:buAutoNum type="arabicPeriod" startAt="11"/>
            </a:pPr>
            <a:r>
              <a:rPr lang="en-US" dirty="0">
                <a:latin typeface="Glacial Indifference" panose="020B0604020202020204" charset="0"/>
              </a:rPr>
              <a:t>Conclusion</a:t>
            </a:r>
          </a:p>
          <a:p>
            <a:pPr marL="857250" indent="-514350">
              <a:buFont typeface="+mj-lt"/>
              <a:buAutoNum type="arabicPeriod" startAt="11"/>
            </a:pPr>
            <a:r>
              <a:rPr lang="en-US" dirty="0">
                <a:latin typeface="Glacial Indifference" panose="020B0604020202020204" charset="0"/>
              </a:rPr>
              <a:t>Feature Enhancements</a:t>
            </a:r>
          </a:p>
          <a:p>
            <a:pPr marL="857250" indent="-514350">
              <a:buFont typeface="+mj-lt"/>
              <a:buAutoNum type="arabicPeriod" startAt="11"/>
            </a:pPr>
            <a:r>
              <a:rPr lang="en-US" dirty="0">
                <a:latin typeface="Glacial Indifference" panose="020B0604020202020204" charset="0"/>
              </a:rPr>
              <a:t>References</a:t>
            </a:r>
          </a:p>
          <a:p>
            <a:pPr marL="0" indent="0">
              <a:buFont typeface="Arial" pitchFamily="34" charset="0"/>
              <a:buNone/>
            </a:pPr>
            <a:endParaRPr lang="en-US" dirty="0">
              <a:latin typeface="Glacial Indifference" panose="020B0604020202020204" charset="0"/>
            </a:endParaRPr>
          </a:p>
          <a:p>
            <a:endParaRPr lang="en-SG" dirty="0">
              <a:latin typeface="Glacial Indifference" panose="020B0604020202020204" charset="0"/>
            </a:endParaRPr>
          </a:p>
        </p:txBody>
      </p:sp>
    </p:spTree>
    <p:extLst>
      <p:ext uri="{BB962C8B-B14F-4D97-AF65-F5344CB8AC3E}">
        <p14:creationId xmlns:p14="http://schemas.microsoft.com/office/powerpoint/2010/main" val="4119849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3B275-30F2-86CD-B9AA-82D0BE7F61D8}"/>
              </a:ext>
            </a:extLst>
          </p:cNvPr>
          <p:cNvSpPr>
            <a:spLocks noGrp="1"/>
          </p:cNvSpPr>
          <p:nvPr>
            <p:ph type="title"/>
          </p:nvPr>
        </p:nvSpPr>
        <p:spPr>
          <a:xfrm>
            <a:off x="447472" y="167094"/>
            <a:ext cx="15925800" cy="1143000"/>
          </a:xfrm>
        </p:spPr>
        <p:txBody>
          <a:bodyPr/>
          <a:lstStyle/>
          <a:p>
            <a:r>
              <a:rPr lang="en-US" dirty="0"/>
              <a:t>ABSTRACT</a:t>
            </a:r>
            <a:endParaRPr lang="en-SG" dirty="0"/>
          </a:p>
        </p:txBody>
      </p:sp>
      <p:sp>
        <p:nvSpPr>
          <p:cNvPr id="4" name="TextBox 10">
            <a:extLst>
              <a:ext uri="{FF2B5EF4-FFF2-40B4-BE49-F238E27FC236}">
                <a16:creationId xmlns:a16="http://schemas.microsoft.com/office/drawing/2014/main" id="{86796FC1-6584-D234-1803-04663DEB7462}"/>
              </a:ext>
            </a:extLst>
          </p:cNvPr>
          <p:cNvSpPr txBox="1"/>
          <p:nvPr/>
        </p:nvSpPr>
        <p:spPr>
          <a:xfrm>
            <a:off x="1295400" y="2171700"/>
            <a:ext cx="15925800" cy="4401205"/>
          </a:xfrm>
          <a:prstGeom prst="rect">
            <a:avLst/>
          </a:prstGeom>
        </p:spPr>
        <p:txBody>
          <a:bodyPr wrap="square" lIns="0" tIns="0" rIns="0" bIns="0" rtlCol="0" anchor="t">
            <a:spAutoFit/>
          </a:bodyPr>
          <a:lstStyle/>
          <a:p>
            <a:pPr marL="0" indent="0" algn="just">
              <a:buNone/>
            </a:pPr>
            <a:r>
              <a:rPr lang="en-US" sz="2600" dirty="0">
                <a:solidFill>
                  <a:schemeClr val="bg1"/>
                </a:solidFill>
                <a:latin typeface="Glacial Indifference" panose="020B0604020202020204" charset="0"/>
              </a:rPr>
              <a:t>The "Cricket Data Analysis Project Using Web Scraping, Python, Pandas, and Power BI" explores the potential of data science and visualization tools to analyze cricket data, with a focus on the Indian Premier League (IPL). The project automates data collection from online sources using Python libraries like </a:t>
            </a:r>
            <a:r>
              <a:rPr lang="en-US" sz="2600" dirty="0" err="1">
                <a:solidFill>
                  <a:schemeClr val="bg1"/>
                </a:solidFill>
                <a:latin typeface="Glacial Indifference" panose="020B0604020202020204" charset="0"/>
              </a:rPr>
              <a:t>BeautifulSoup</a:t>
            </a:r>
            <a:r>
              <a:rPr lang="en-US" sz="2600" dirty="0">
                <a:solidFill>
                  <a:schemeClr val="bg1"/>
                </a:solidFill>
                <a:latin typeface="Glacial Indifference" panose="020B0604020202020204" charset="0"/>
              </a:rPr>
              <a:t> and Selenium, processes the data using Pandas, and conducts exploratory data analysis to uncover trends and insights. Finally, Power BI is employed to create interactive dashboards that visualize player performances, match outcomes, and other key metrics. This scalable framework demonstrates the application of modern tools in sports analytics, providing valuable insights for teams, analysts, and fans.</a:t>
            </a:r>
          </a:p>
          <a:p>
            <a:pPr marL="0" indent="0" algn="just">
              <a:buNone/>
            </a:pPr>
            <a:endParaRPr lang="en-US" sz="2600" dirty="0">
              <a:solidFill>
                <a:schemeClr val="bg1"/>
              </a:solidFill>
              <a:latin typeface="Glacial Indifference" panose="020B0604020202020204" charset="0"/>
            </a:endParaRPr>
          </a:p>
          <a:p>
            <a:pPr marL="0" indent="0" algn="just">
              <a:buNone/>
            </a:pPr>
            <a:endParaRPr lang="en-US" sz="2600" dirty="0">
              <a:solidFill>
                <a:schemeClr val="bg1"/>
              </a:solidFill>
              <a:latin typeface="Glacial Indifference" panose="020B0604020202020204" charset="0"/>
            </a:endParaRPr>
          </a:p>
          <a:p>
            <a:pPr marL="0" indent="0" algn="just">
              <a:buNone/>
            </a:pPr>
            <a:endParaRPr lang="en-US" sz="2600" dirty="0">
              <a:solidFill>
                <a:schemeClr val="bg1"/>
              </a:solidFill>
              <a:latin typeface="Glacial Indifference" panose="020B0604020202020204" charset="0"/>
            </a:endParaRPr>
          </a:p>
          <a:p>
            <a:pPr marL="0" indent="0" algn="just">
              <a:buNone/>
            </a:pPr>
            <a:r>
              <a:rPr lang="en-US" sz="2600" dirty="0">
                <a:solidFill>
                  <a:schemeClr val="bg1"/>
                </a:solidFill>
                <a:latin typeface="Glacial Indifference" panose="020B0604020202020204" charset="0"/>
              </a:rPr>
              <a:t>Keywords: Cricket data analysis, IPL, Exploratory Data Analysis, Data Visualization, Python, Pandas, Power BI.</a:t>
            </a:r>
            <a:endParaRPr lang="en-SG" sz="2600" dirty="0">
              <a:solidFill>
                <a:schemeClr val="bg1"/>
              </a:solidFill>
              <a:latin typeface="Glacial Indifference" panose="020B0604020202020204" charset="0"/>
            </a:endParaRPr>
          </a:p>
        </p:txBody>
      </p:sp>
      <p:sp>
        <p:nvSpPr>
          <p:cNvPr id="5" name="Slide Number Placeholder 4">
            <a:extLst>
              <a:ext uri="{FF2B5EF4-FFF2-40B4-BE49-F238E27FC236}">
                <a16:creationId xmlns:a16="http://schemas.microsoft.com/office/drawing/2014/main" id="{024492C2-3BCD-5442-BE62-B5C7D302B6B6}"/>
              </a:ext>
            </a:extLst>
          </p:cNvPr>
          <p:cNvSpPr>
            <a:spLocks noGrp="1"/>
          </p:cNvSpPr>
          <p:nvPr>
            <p:ph type="sldNum" sz="quarter" idx="12"/>
          </p:nvPr>
        </p:nvSpPr>
        <p:spPr/>
        <p:txBody>
          <a:bodyPr/>
          <a:lstStyle/>
          <a:p>
            <a:r>
              <a:rPr lang="en-US"/>
              <a:t>Slide - </a:t>
            </a:r>
            <a:fld id="{B6F15528-21DE-4FAA-801E-634DDDAF4B2B}" type="slidenum">
              <a:rPr lang="en-US" smtClean="0"/>
              <a:pPr/>
              <a:t>4</a:t>
            </a:fld>
            <a:endParaRPr lang="en-US" dirty="0"/>
          </a:p>
        </p:txBody>
      </p:sp>
    </p:spTree>
    <p:extLst>
      <p:ext uri="{BB962C8B-B14F-4D97-AF65-F5344CB8AC3E}">
        <p14:creationId xmlns:p14="http://schemas.microsoft.com/office/powerpoint/2010/main" val="299130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5760-5167-A274-6064-36311FD8B1BD}"/>
              </a:ext>
            </a:extLst>
          </p:cNvPr>
          <p:cNvSpPr>
            <a:spLocks noGrp="1"/>
          </p:cNvSpPr>
          <p:nvPr>
            <p:ph type="title"/>
          </p:nvPr>
        </p:nvSpPr>
        <p:spPr/>
        <p:txBody>
          <a:bodyPr/>
          <a:lstStyle/>
          <a:p>
            <a:r>
              <a:rPr lang="en-US" dirty="0"/>
              <a:t>INTRODUCTION</a:t>
            </a:r>
            <a:endParaRPr lang="en-SG" dirty="0"/>
          </a:p>
        </p:txBody>
      </p:sp>
      <p:sp>
        <p:nvSpPr>
          <p:cNvPr id="3" name="Content Placeholder 2">
            <a:extLst>
              <a:ext uri="{FF2B5EF4-FFF2-40B4-BE49-F238E27FC236}">
                <a16:creationId xmlns:a16="http://schemas.microsoft.com/office/drawing/2014/main" id="{0CE9A8CF-6037-9A7E-9E75-C912BCA1251A}"/>
              </a:ext>
            </a:extLst>
          </p:cNvPr>
          <p:cNvSpPr txBox="1">
            <a:spLocks/>
          </p:cNvSpPr>
          <p:nvPr/>
        </p:nvSpPr>
        <p:spPr>
          <a:xfrm>
            <a:off x="747563" y="2019300"/>
            <a:ext cx="11444438" cy="78486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dirty="0"/>
              <a:t>Cricket generates vast amounts of data through leagues, tournaments, and individual performances.</a:t>
            </a:r>
          </a:p>
          <a:p>
            <a:pPr>
              <a:buFont typeface="Arial" panose="020B0604020202020204" pitchFamily="34" charset="0"/>
              <a:buChar char="•"/>
            </a:pPr>
            <a:r>
              <a:rPr lang="en-US" dirty="0"/>
              <a:t>This data provides insights into player performance, team strategies, and match outcomes.</a:t>
            </a:r>
          </a:p>
          <a:p>
            <a:pPr>
              <a:buFont typeface="Arial" panose="020B0604020202020204" pitchFamily="34" charset="0"/>
              <a:buChar char="•"/>
            </a:pPr>
            <a:r>
              <a:rPr lang="en-US" dirty="0"/>
              <a:t>The unstructured nature of this data across platforms makes collection and analysis challenging.</a:t>
            </a:r>
          </a:p>
          <a:p>
            <a:pPr marL="0" indent="0">
              <a:buNone/>
            </a:pPr>
            <a:r>
              <a:rPr lang="en-US" b="1" dirty="0"/>
              <a:t>Project Overview</a:t>
            </a:r>
            <a:endParaRPr lang="en-US" dirty="0"/>
          </a:p>
          <a:p>
            <a:pPr>
              <a:buFont typeface="Arial" panose="020B0604020202020204" pitchFamily="34" charset="0"/>
              <a:buChar char="•"/>
            </a:pPr>
            <a:r>
              <a:rPr lang="en-US" dirty="0"/>
              <a:t>The </a:t>
            </a:r>
            <a:r>
              <a:rPr lang="en-US" i="1" dirty="0"/>
              <a:t>"Cricket Data Analysis Project Using Web Scraping, Python, Pandas, and Power BI"</a:t>
            </a:r>
            <a:r>
              <a:rPr lang="en-US" dirty="0"/>
              <a:t> addresses these challenges.</a:t>
            </a:r>
          </a:p>
          <a:p>
            <a:pPr>
              <a:buFont typeface="Arial" panose="020B0604020202020204" pitchFamily="34" charset="0"/>
              <a:buChar char="•"/>
            </a:pPr>
            <a:r>
              <a:rPr lang="en-US" b="1" dirty="0"/>
              <a:t>Web Scraping:</a:t>
            </a:r>
            <a:r>
              <a:rPr lang="en-US" dirty="0"/>
              <a:t> Automates data extraction from sources like ESPN </a:t>
            </a:r>
            <a:r>
              <a:rPr lang="en-US" dirty="0" err="1"/>
              <a:t>Cricinfo</a:t>
            </a:r>
            <a:r>
              <a:rPr lang="en-US" dirty="0"/>
              <a:t> using Python libraries (</a:t>
            </a:r>
            <a:r>
              <a:rPr lang="en-US" dirty="0" err="1"/>
              <a:t>BeautifulSoup</a:t>
            </a:r>
            <a:r>
              <a:rPr lang="en-US" dirty="0"/>
              <a:t>, Selenium).</a:t>
            </a:r>
          </a:p>
          <a:p>
            <a:pPr>
              <a:buFont typeface="Arial" panose="020B0604020202020204" pitchFamily="34" charset="0"/>
              <a:buChar char="•"/>
            </a:pPr>
            <a:r>
              <a:rPr lang="en-US" dirty="0"/>
              <a:t>Data Processing: Uses Pandas for cleaning and transforming raw data into structured formats.</a:t>
            </a:r>
          </a:p>
          <a:p>
            <a:pPr>
              <a:buFont typeface="Arial" panose="020B0604020202020204" pitchFamily="34" charset="0"/>
              <a:buChar char="•"/>
            </a:pPr>
            <a:r>
              <a:rPr lang="en-US" dirty="0"/>
              <a:t>Visualization: Integrates Power BI to create interactive dashboards for key cricket statistics and trends.</a:t>
            </a:r>
          </a:p>
        </p:txBody>
      </p:sp>
      <p:sp>
        <p:nvSpPr>
          <p:cNvPr id="4" name="Rectangle: Rounded Corners 3">
            <a:extLst>
              <a:ext uri="{FF2B5EF4-FFF2-40B4-BE49-F238E27FC236}">
                <a16:creationId xmlns:a16="http://schemas.microsoft.com/office/drawing/2014/main" id="{E1DDA104-064D-1AC3-C110-989B67FE7C70}"/>
              </a:ext>
            </a:extLst>
          </p:cNvPr>
          <p:cNvSpPr/>
          <p:nvPr/>
        </p:nvSpPr>
        <p:spPr>
          <a:xfrm>
            <a:off x="11430000" y="1417638"/>
            <a:ext cx="6262837" cy="3992562"/>
          </a:xfrm>
          <a:prstGeom prst="roundRect">
            <a:avLst>
              <a:gd name="adj" fmla="val 11932"/>
            </a:avLst>
          </a:prstGeom>
          <a:gradFill flip="none" rotWithShape="1">
            <a:gsLst>
              <a:gs pos="0">
                <a:srgbClr val="6BD4CD"/>
              </a:gs>
              <a:gs pos="23000">
                <a:schemeClr val="accent5">
                  <a:lumMod val="89000"/>
                </a:schemeClr>
              </a:gs>
              <a:gs pos="69000">
                <a:schemeClr val="accent5">
                  <a:lumMod val="75000"/>
                </a:schemeClr>
              </a:gs>
              <a:gs pos="97000">
                <a:schemeClr val="accent5">
                  <a:lumMod val="70000"/>
                </a:schemeClr>
              </a:gs>
            </a:gsLst>
            <a:path path="circle">
              <a:fillToRect r="100000" b="100000"/>
            </a:path>
            <a:tileRect l="-100000" t="-100000"/>
          </a:gradFill>
        </p:spPr>
        <p:style>
          <a:lnRef idx="1">
            <a:schemeClr val="accent3"/>
          </a:lnRef>
          <a:fillRef idx="2">
            <a:schemeClr val="accent3"/>
          </a:fillRef>
          <a:effectRef idx="1">
            <a:schemeClr val="accent3"/>
          </a:effectRef>
          <a:fontRef idx="minor">
            <a:schemeClr val="dk1"/>
          </a:fontRef>
        </p:style>
        <p:txBody>
          <a:bodyPr rtlCol="0" anchor="ctr"/>
          <a:lstStyle/>
          <a:p>
            <a:pPr marL="342900" indent="-342900" algn="just">
              <a:buFont typeface="Wingdings" panose="05000000000000000000" pitchFamily="2" charset="2"/>
              <a:buChar char="q"/>
            </a:pPr>
            <a:r>
              <a:rPr lang="en-US" sz="2400" dirty="0" err="1">
                <a:solidFill>
                  <a:schemeClr val="tx1"/>
                </a:solidFill>
                <a:latin typeface="Glacial Indifference" panose="020B0604020202020204" charset="0"/>
              </a:rPr>
              <a:t>SignificanceProvides</a:t>
            </a:r>
            <a:r>
              <a:rPr lang="en-US" sz="2400" dirty="0">
                <a:solidFill>
                  <a:schemeClr val="tx1"/>
                </a:solidFill>
                <a:latin typeface="Glacial Indifference" panose="020B0604020202020204" charset="0"/>
              </a:rPr>
              <a:t> actionable insights for analysts, coaches, and fans.</a:t>
            </a:r>
          </a:p>
          <a:p>
            <a:pPr marL="342900" indent="-342900" algn="just">
              <a:buFont typeface="Wingdings" panose="05000000000000000000" pitchFamily="2" charset="2"/>
              <a:buChar char="q"/>
            </a:pPr>
            <a:r>
              <a:rPr lang="en-US" sz="2400" dirty="0">
                <a:solidFill>
                  <a:schemeClr val="tx1"/>
                </a:solidFill>
                <a:latin typeface="Glacial Indifference" panose="020B0604020202020204" charset="0"/>
              </a:rPr>
              <a:t>Demonstrates the application of data science in sports analytics.</a:t>
            </a:r>
          </a:p>
          <a:p>
            <a:pPr marL="342900" indent="-342900" algn="just">
              <a:buFont typeface="Wingdings" panose="05000000000000000000" pitchFamily="2" charset="2"/>
              <a:buChar char="q"/>
            </a:pPr>
            <a:r>
              <a:rPr lang="en-US" sz="2400" dirty="0">
                <a:solidFill>
                  <a:schemeClr val="tx1"/>
                </a:solidFill>
                <a:latin typeface="Glacial Indifference" panose="020B0604020202020204" charset="0"/>
              </a:rPr>
              <a:t>Offers a scalable framework adaptable to other domains.</a:t>
            </a:r>
            <a:endParaRPr lang="en-SG" sz="1200" dirty="0">
              <a:latin typeface="Glacial Indifference" panose="020B0604020202020204" charset="0"/>
            </a:endParaRPr>
          </a:p>
        </p:txBody>
      </p:sp>
      <p:sp>
        <p:nvSpPr>
          <p:cNvPr id="5" name="Slide Number Placeholder 4">
            <a:extLst>
              <a:ext uri="{FF2B5EF4-FFF2-40B4-BE49-F238E27FC236}">
                <a16:creationId xmlns:a16="http://schemas.microsoft.com/office/drawing/2014/main" id="{A6CA2A57-27DA-692B-3BD2-6F0759086052}"/>
              </a:ext>
            </a:extLst>
          </p:cNvPr>
          <p:cNvSpPr>
            <a:spLocks noGrp="1"/>
          </p:cNvSpPr>
          <p:nvPr>
            <p:ph type="sldNum" sz="quarter" idx="11"/>
          </p:nvPr>
        </p:nvSpPr>
        <p:spPr/>
        <p:txBody>
          <a:bodyPr/>
          <a:lstStyle/>
          <a:p>
            <a:r>
              <a:rPr lang="en-US"/>
              <a:t>Slide - </a:t>
            </a:r>
            <a:fld id="{B6F15528-21DE-4FAA-801E-634DDDAF4B2B}" type="slidenum">
              <a:rPr lang="en-US" smtClean="0"/>
              <a:pPr/>
              <a:t>5</a:t>
            </a:fld>
            <a:endParaRPr lang="en-US" dirty="0"/>
          </a:p>
        </p:txBody>
      </p:sp>
    </p:spTree>
    <p:extLst>
      <p:ext uri="{BB962C8B-B14F-4D97-AF65-F5344CB8AC3E}">
        <p14:creationId xmlns:p14="http://schemas.microsoft.com/office/powerpoint/2010/main" val="247815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C1FE3-56C1-DD4A-B109-A8DAD5A15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CBB7B-7F88-2091-45A2-2A88659BFC10}"/>
              </a:ext>
            </a:extLst>
          </p:cNvPr>
          <p:cNvSpPr>
            <a:spLocks noGrp="1"/>
          </p:cNvSpPr>
          <p:nvPr>
            <p:ph type="title"/>
          </p:nvPr>
        </p:nvSpPr>
        <p:spPr/>
        <p:txBody>
          <a:bodyPr/>
          <a:lstStyle/>
          <a:p>
            <a:r>
              <a:rPr lang="en-US" dirty="0"/>
              <a:t>INTRODUCTION</a:t>
            </a:r>
            <a:endParaRPr lang="en-SG" dirty="0"/>
          </a:p>
        </p:txBody>
      </p:sp>
      <p:sp>
        <p:nvSpPr>
          <p:cNvPr id="3" name="Content Placeholder 2">
            <a:extLst>
              <a:ext uri="{FF2B5EF4-FFF2-40B4-BE49-F238E27FC236}">
                <a16:creationId xmlns:a16="http://schemas.microsoft.com/office/drawing/2014/main" id="{FF2E4B7F-FC39-84C9-29EE-6630F96B39D6}"/>
              </a:ext>
            </a:extLst>
          </p:cNvPr>
          <p:cNvSpPr txBox="1">
            <a:spLocks/>
          </p:cNvSpPr>
          <p:nvPr/>
        </p:nvSpPr>
        <p:spPr>
          <a:xfrm>
            <a:off x="1219200" y="1181099"/>
            <a:ext cx="15392400" cy="4756611"/>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600" b="1" dirty="0">
                <a:latin typeface="Glacial Indifference" panose="020B0604020202020204" charset="0"/>
              </a:rPr>
              <a:t>Data Analysis Overview</a:t>
            </a:r>
          </a:p>
          <a:p>
            <a:pPr marL="0" indent="0" algn="just">
              <a:buFont typeface="Arial" pitchFamily="34" charset="0"/>
              <a:buNone/>
            </a:pPr>
            <a:r>
              <a:rPr lang="en-US" sz="2600" dirty="0">
                <a:latin typeface="Glacial Indifference" panose="020B0604020202020204" charset="0"/>
              </a:rPr>
              <a:t> Data analysis involves systematically applying statistical and logical techniques to describe, summarize, and evaluate </a:t>
            </a:r>
            <a:r>
              <a:rPr lang="en-US" sz="2600" dirty="0" err="1">
                <a:latin typeface="Glacial Indifference" panose="020B0604020202020204" charset="0"/>
              </a:rPr>
              <a:t>data.Purpose</a:t>
            </a:r>
            <a:r>
              <a:rPr lang="en-US" sz="2600" dirty="0">
                <a:latin typeface="Glacial Indifference" panose="020B0604020202020204" charset="0"/>
              </a:rPr>
              <a:t>: Helps uncover patterns, trends, and relationships for informed decision-making.</a:t>
            </a:r>
          </a:p>
          <a:p>
            <a:pPr marL="0" indent="0" algn="just">
              <a:buFont typeface="Arial" pitchFamily="34" charset="0"/>
              <a:buNone/>
            </a:pPr>
            <a:r>
              <a:rPr lang="en-US" sz="2600" b="1" dirty="0">
                <a:latin typeface="Glacial Indifference" panose="020B0604020202020204" charset="0"/>
              </a:rPr>
              <a:t>Process Steps:</a:t>
            </a:r>
          </a:p>
          <a:p>
            <a:pPr marL="0" indent="0" algn="just">
              <a:buFont typeface="Arial" pitchFamily="34" charset="0"/>
              <a:buNone/>
            </a:pPr>
            <a:r>
              <a:rPr lang="en-US" sz="2600" dirty="0">
                <a:latin typeface="Glacial Indifference" panose="020B0604020202020204" charset="0"/>
              </a:rPr>
              <a:t>Data Collection: Gather data from sources like surveys, databases, or web scraping.</a:t>
            </a:r>
          </a:p>
          <a:p>
            <a:pPr marL="0" indent="0" algn="just">
              <a:buFont typeface="Arial" pitchFamily="34" charset="0"/>
              <a:buNone/>
            </a:pPr>
            <a:r>
              <a:rPr lang="en-US" sz="2600" dirty="0">
                <a:latin typeface="Glacial Indifference" panose="020B0604020202020204" charset="0"/>
              </a:rPr>
              <a:t>Data Cleaning: Correct inaccuracies or inconsistencies for quality and reliability.</a:t>
            </a:r>
          </a:p>
          <a:p>
            <a:pPr marL="0" indent="0" algn="just">
              <a:buFont typeface="Arial" pitchFamily="34" charset="0"/>
              <a:buNone/>
            </a:pPr>
            <a:r>
              <a:rPr lang="en-US" sz="2600" dirty="0">
                <a:latin typeface="Glacial Indifference" panose="020B0604020202020204" charset="0"/>
              </a:rPr>
              <a:t>Data Transformation: Prepare data for analysis by normalizing, aggregating, or creating new variables.</a:t>
            </a:r>
          </a:p>
          <a:p>
            <a:pPr marL="0" indent="0" algn="just">
              <a:buFont typeface="Arial" pitchFamily="34" charset="0"/>
              <a:buNone/>
            </a:pPr>
            <a:r>
              <a:rPr lang="en-US" sz="2600" dirty="0">
                <a:latin typeface="Glacial Indifference" panose="020B0604020202020204" charset="0"/>
              </a:rPr>
              <a:t>Data Analysis: Use statistical methods to explore and extract </a:t>
            </a:r>
            <a:r>
              <a:rPr lang="en-US" sz="2600" dirty="0" err="1">
                <a:latin typeface="Glacial Indifference" panose="020B0604020202020204" charset="0"/>
              </a:rPr>
              <a:t>insights.Data</a:t>
            </a:r>
            <a:r>
              <a:rPr lang="en-US" sz="2600" dirty="0">
                <a:latin typeface="Glacial Indifference" panose="020B0604020202020204" charset="0"/>
              </a:rPr>
              <a:t> Interpretation: Translate findings into actionable recommendations.</a:t>
            </a:r>
          </a:p>
          <a:p>
            <a:pPr marL="0" indent="0" algn="just">
              <a:buFont typeface="Arial" pitchFamily="34" charset="0"/>
              <a:buNone/>
            </a:pPr>
            <a:endParaRPr lang="en-US" sz="2600" dirty="0">
              <a:latin typeface="Glacial Indifference" panose="020B0604020202020204" charset="0"/>
            </a:endParaRPr>
          </a:p>
          <a:p>
            <a:endParaRPr lang="en-SG" sz="2600" dirty="0">
              <a:latin typeface="Glacial Indifference" panose="020B0604020202020204" charset="0"/>
            </a:endParaRPr>
          </a:p>
        </p:txBody>
      </p:sp>
      <p:sp>
        <p:nvSpPr>
          <p:cNvPr id="5" name="Content Placeholder 2">
            <a:extLst>
              <a:ext uri="{FF2B5EF4-FFF2-40B4-BE49-F238E27FC236}">
                <a16:creationId xmlns:a16="http://schemas.microsoft.com/office/drawing/2014/main" id="{272949C0-4222-716A-DAAE-6F478F7E60E8}"/>
              </a:ext>
            </a:extLst>
          </p:cNvPr>
          <p:cNvSpPr txBox="1">
            <a:spLocks/>
          </p:cNvSpPr>
          <p:nvPr/>
        </p:nvSpPr>
        <p:spPr>
          <a:xfrm>
            <a:off x="1379177" y="5973761"/>
            <a:ext cx="15689623" cy="4038601"/>
          </a:xfrm>
          <a:prstGeom prst="rect">
            <a:avLst/>
          </a:prstGeom>
          <a:solidFill>
            <a:schemeClr val="accent5">
              <a:lumMod val="40000"/>
              <a:lumOff val="60000"/>
              <a:alpha val="26000"/>
            </a:schemeClr>
          </a:solidFill>
          <a:ln>
            <a:noFill/>
          </a:ln>
        </p:spPr>
        <p:style>
          <a:lnRef idx="0">
            <a:scrgbClr r="0" g="0" b="0"/>
          </a:lnRef>
          <a:fillRef idx="0">
            <a:scrgbClr r="0" g="0" b="0"/>
          </a:fillRef>
          <a:effectRef idx="0">
            <a:scrgbClr r="0" g="0" b="0"/>
          </a:effectRef>
          <a:fontRef idx="minor">
            <a:schemeClr val="lt1"/>
          </a:fontRef>
        </p:style>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600" b="1" dirty="0">
                <a:latin typeface="Glacial Indifference" panose="020B0604020202020204" charset="0"/>
              </a:rPr>
              <a:t>In this project we aim to automate the above manual process as follows :</a:t>
            </a:r>
          </a:p>
          <a:p>
            <a:pPr marL="800100" indent="-457200" algn="just"/>
            <a:r>
              <a:rPr lang="en-US" sz="2600" dirty="0">
                <a:latin typeface="Glacial Indifference" panose="020B0604020202020204" charset="0"/>
              </a:rPr>
              <a:t>To develop a modular system for efficient cricket data collection, processing, and analysis.</a:t>
            </a:r>
          </a:p>
          <a:p>
            <a:pPr marL="800100" indent="-457200" algn="just"/>
            <a:r>
              <a:rPr lang="en-US" sz="2600" dirty="0">
                <a:latin typeface="Glacial Indifference" panose="020B0604020202020204" charset="0"/>
              </a:rPr>
              <a:t>Automate data extraction using Python (</a:t>
            </a:r>
            <a:r>
              <a:rPr lang="en-US" sz="2600" dirty="0" err="1">
                <a:latin typeface="Glacial Indifference" panose="020B0604020202020204" charset="0"/>
              </a:rPr>
              <a:t>BeautifulSoup</a:t>
            </a:r>
            <a:r>
              <a:rPr lang="en-US" sz="2600" dirty="0">
                <a:latin typeface="Glacial Indifference" panose="020B0604020202020204" charset="0"/>
              </a:rPr>
              <a:t>, Selenium) from platforms like ESPN </a:t>
            </a:r>
            <a:r>
              <a:rPr lang="en-US" sz="2600" dirty="0" err="1">
                <a:latin typeface="Glacial Indifference" panose="020B0604020202020204" charset="0"/>
              </a:rPr>
              <a:t>Cricinfo</a:t>
            </a:r>
            <a:r>
              <a:rPr lang="en-US" sz="2600" dirty="0">
                <a:latin typeface="Glacial Indifference" panose="020B0604020202020204" charset="0"/>
              </a:rPr>
              <a:t> and </a:t>
            </a:r>
            <a:r>
              <a:rPr lang="en-US" sz="2600" dirty="0" err="1">
                <a:latin typeface="Glacial Indifference" panose="020B0604020202020204" charset="0"/>
              </a:rPr>
              <a:t>Cricbuzz</a:t>
            </a:r>
            <a:r>
              <a:rPr lang="en-US" sz="2600" dirty="0">
                <a:latin typeface="Glacial Indifference" panose="020B0604020202020204" charset="0"/>
              </a:rPr>
              <a:t>.</a:t>
            </a:r>
          </a:p>
          <a:p>
            <a:pPr marL="800100" indent="-457200" algn="just"/>
            <a:r>
              <a:rPr lang="en-US" sz="2600" dirty="0">
                <a:latin typeface="Glacial Indifference" panose="020B0604020202020204" charset="0"/>
              </a:rPr>
              <a:t>Clean and transform raw data into structured formats using Pandas for accurate analysis.</a:t>
            </a:r>
          </a:p>
          <a:p>
            <a:pPr marL="800100" indent="-457200" algn="just"/>
            <a:r>
              <a:rPr lang="en-US" sz="2600" dirty="0">
                <a:latin typeface="Glacial Indifference" panose="020B0604020202020204" charset="0"/>
              </a:rPr>
              <a:t>Conduct Exploratory Data Analysis (EDA) with Matplotlib and Seaborn to identify trends and patterns.</a:t>
            </a:r>
          </a:p>
          <a:p>
            <a:pPr marL="800100" indent="-457200" algn="just"/>
            <a:r>
              <a:rPr lang="en-US" sz="2600" dirty="0">
                <a:latin typeface="Glacial Indifference" panose="020B0604020202020204" charset="0"/>
              </a:rPr>
              <a:t>Create interactive dashboards in Power BI for visualizing player and team performance metrics.</a:t>
            </a:r>
          </a:p>
          <a:p>
            <a:pPr marL="800100" indent="-457200" algn="just"/>
            <a:r>
              <a:rPr lang="en-US" sz="2600" dirty="0">
                <a:latin typeface="Glacial Indifference" panose="020B0604020202020204" charset="0"/>
              </a:rPr>
              <a:t>Deliver a scalable framework for actionable insights to enhance decision-making in cricket analytics.</a:t>
            </a:r>
          </a:p>
          <a:p>
            <a:pPr marL="0" indent="0" algn="just">
              <a:buFont typeface="Arial" pitchFamily="34" charset="0"/>
              <a:buNone/>
            </a:pPr>
            <a:endParaRPr lang="en-US" sz="2600" dirty="0">
              <a:latin typeface="Glacial Indifference" panose="020B0604020202020204" charset="0"/>
            </a:endParaRPr>
          </a:p>
          <a:p>
            <a:endParaRPr lang="en-SG" sz="2600" dirty="0">
              <a:latin typeface="Glacial Indifference" panose="020B0604020202020204" charset="0"/>
            </a:endParaRPr>
          </a:p>
        </p:txBody>
      </p:sp>
      <p:sp>
        <p:nvSpPr>
          <p:cNvPr id="6" name="Slide Number Placeholder 5">
            <a:extLst>
              <a:ext uri="{FF2B5EF4-FFF2-40B4-BE49-F238E27FC236}">
                <a16:creationId xmlns:a16="http://schemas.microsoft.com/office/drawing/2014/main" id="{52BB211D-BF2C-02F4-E332-625D2EB1E75A}"/>
              </a:ext>
            </a:extLst>
          </p:cNvPr>
          <p:cNvSpPr>
            <a:spLocks noGrp="1"/>
          </p:cNvSpPr>
          <p:nvPr>
            <p:ph type="sldNum" sz="quarter" idx="11"/>
          </p:nvPr>
        </p:nvSpPr>
        <p:spPr/>
        <p:txBody>
          <a:bodyPr/>
          <a:lstStyle/>
          <a:p>
            <a:r>
              <a:rPr lang="en-US"/>
              <a:t>Slide - </a:t>
            </a:r>
            <a:fld id="{B6F15528-21DE-4FAA-801E-634DDDAF4B2B}" type="slidenum">
              <a:rPr lang="en-US" smtClean="0"/>
              <a:pPr/>
              <a:t>6</a:t>
            </a:fld>
            <a:endParaRPr lang="en-US" dirty="0"/>
          </a:p>
        </p:txBody>
      </p:sp>
    </p:spTree>
    <p:extLst>
      <p:ext uri="{BB962C8B-B14F-4D97-AF65-F5344CB8AC3E}">
        <p14:creationId xmlns:p14="http://schemas.microsoft.com/office/powerpoint/2010/main" val="3057376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34ACA-35A6-1F54-2254-A49F27B37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C9D10-275C-776F-FAB6-2DF29BCB5D0A}"/>
              </a:ext>
            </a:extLst>
          </p:cNvPr>
          <p:cNvSpPr>
            <a:spLocks noGrp="1"/>
          </p:cNvSpPr>
          <p:nvPr>
            <p:ph type="title"/>
          </p:nvPr>
        </p:nvSpPr>
        <p:spPr/>
        <p:txBody>
          <a:bodyPr/>
          <a:lstStyle/>
          <a:p>
            <a:r>
              <a:rPr lang="en-US" dirty="0"/>
              <a:t>PROJECT SCOPE</a:t>
            </a:r>
            <a:endParaRPr lang="en-SG" dirty="0"/>
          </a:p>
        </p:txBody>
      </p:sp>
      <p:sp>
        <p:nvSpPr>
          <p:cNvPr id="7" name="Slide Number Placeholder 6">
            <a:extLst>
              <a:ext uri="{FF2B5EF4-FFF2-40B4-BE49-F238E27FC236}">
                <a16:creationId xmlns:a16="http://schemas.microsoft.com/office/drawing/2014/main" id="{70154292-935B-78DE-2161-69915932E3E7}"/>
              </a:ext>
            </a:extLst>
          </p:cNvPr>
          <p:cNvSpPr>
            <a:spLocks noGrp="1"/>
          </p:cNvSpPr>
          <p:nvPr>
            <p:ph type="sldNum" sz="quarter" idx="12"/>
          </p:nvPr>
        </p:nvSpPr>
        <p:spPr/>
        <p:txBody>
          <a:bodyPr/>
          <a:lstStyle/>
          <a:p>
            <a:r>
              <a:rPr lang="en-US"/>
              <a:t>Slide - </a:t>
            </a:r>
            <a:fld id="{B6F15528-21DE-4FAA-801E-634DDDAF4B2B}" type="slidenum">
              <a:rPr lang="en-US" smtClean="0"/>
              <a:pPr/>
              <a:t>7</a:t>
            </a:fld>
            <a:endParaRPr lang="en-US" dirty="0"/>
          </a:p>
        </p:txBody>
      </p:sp>
      <p:sp>
        <p:nvSpPr>
          <p:cNvPr id="8" name="TextBox 7">
            <a:extLst>
              <a:ext uri="{FF2B5EF4-FFF2-40B4-BE49-F238E27FC236}">
                <a16:creationId xmlns:a16="http://schemas.microsoft.com/office/drawing/2014/main" id="{F694598B-0E72-2C57-5D1F-DB0996CCE09A}"/>
              </a:ext>
            </a:extLst>
          </p:cNvPr>
          <p:cNvSpPr txBox="1"/>
          <p:nvPr/>
        </p:nvSpPr>
        <p:spPr>
          <a:xfrm>
            <a:off x="5484600" y="1778784"/>
            <a:ext cx="7318799" cy="646331"/>
          </a:xfrm>
          <a:prstGeom prst="rect">
            <a:avLst/>
          </a:prstGeom>
          <a:noFill/>
        </p:spPr>
        <p:txBody>
          <a:bodyPr wrap="none" rtlCol="0">
            <a:spAutoFit/>
          </a:bodyPr>
          <a:lstStyle/>
          <a:p>
            <a:pPr algn="ctr"/>
            <a:r>
              <a:rPr lang="en-US" sz="3600" dirty="0">
                <a:solidFill>
                  <a:schemeClr val="bg1"/>
                </a:solidFill>
              </a:rPr>
              <a:t>Process flow of the automated system</a:t>
            </a:r>
            <a:endParaRPr lang="en-SG" sz="3600" dirty="0">
              <a:solidFill>
                <a:schemeClr val="bg1"/>
              </a:solidFill>
            </a:endParaRPr>
          </a:p>
        </p:txBody>
      </p:sp>
      <p:pic>
        <p:nvPicPr>
          <p:cNvPr id="3" name="Picture 2">
            <a:extLst>
              <a:ext uri="{FF2B5EF4-FFF2-40B4-BE49-F238E27FC236}">
                <a16:creationId xmlns:a16="http://schemas.microsoft.com/office/drawing/2014/main" id="{7763E75C-67E0-1490-758D-D9FD3721EF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2608866"/>
            <a:ext cx="9829800" cy="3805818"/>
          </a:xfrm>
          <a:prstGeom prst="rect">
            <a:avLst/>
          </a:prstGeom>
        </p:spPr>
      </p:pic>
      <p:pic>
        <p:nvPicPr>
          <p:cNvPr id="4" name="Picture 3">
            <a:extLst>
              <a:ext uri="{FF2B5EF4-FFF2-40B4-BE49-F238E27FC236}">
                <a16:creationId xmlns:a16="http://schemas.microsoft.com/office/drawing/2014/main" id="{E64432B9-7241-11E8-5723-BAB02AA96F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6414684"/>
            <a:ext cx="7696144" cy="3597678"/>
          </a:xfrm>
          <a:prstGeom prst="rect">
            <a:avLst/>
          </a:prstGeom>
        </p:spPr>
      </p:pic>
    </p:spTree>
    <p:extLst>
      <p:ext uri="{BB962C8B-B14F-4D97-AF65-F5344CB8AC3E}">
        <p14:creationId xmlns:p14="http://schemas.microsoft.com/office/powerpoint/2010/main" val="61959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51511-788D-FFB0-E6F8-AC0BBC6A9E35}"/>
              </a:ext>
            </a:extLst>
          </p:cNvPr>
          <p:cNvSpPr>
            <a:spLocks noGrp="1"/>
          </p:cNvSpPr>
          <p:nvPr>
            <p:ph type="title"/>
          </p:nvPr>
        </p:nvSpPr>
        <p:spPr/>
        <p:txBody>
          <a:bodyPr/>
          <a:lstStyle/>
          <a:p>
            <a:r>
              <a:rPr lang="en-US" dirty="0"/>
              <a:t>PROJECT SCOPE</a:t>
            </a:r>
            <a:endParaRPr lang="en-SG" dirty="0"/>
          </a:p>
        </p:txBody>
      </p:sp>
      <p:sp>
        <p:nvSpPr>
          <p:cNvPr id="6" name="Content Placeholder 2">
            <a:extLst>
              <a:ext uri="{FF2B5EF4-FFF2-40B4-BE49-F238E27FC236}">
                <a16:creationId xmlns:a16="http://schemas.microsoft.com/office/drawing/2014/main" id="{48571980-0F20-36F1-830D-AC20B7FD7AAC}"/>
              </a:ext>
            </a:extLst>
          </p:cNvPr>
          <p:cNvSpPr>
            <a:spLocks noGrp="1"/>
          </p:cNvSpPr>
          <p:nvPr>
            <p:ph idx="1"/>
          </p:nvPr>
        </p:nvSpPr>
        <p:spPr>
          <a:xfrm>
            <a:off x="304800" y="1417638"/>
            <a:ext cx="16992600" cy="8221662"/>
          </a:xfrm>
        </p:spPr>
        <p:txBody>
          <a:bodyPr>
            <a:normAutofit fontScale="70000" lnSpcReduction="20000"/>
          </a:bodyPr>
          <a:lstStyle/>
          <a:p>
            <a:pPr marL="0" indent="0" algn="just">
              <a:buNone/>
            </a:pPr>
            <a:r>
              <a:rPr lang="en-US" dirty="0"/>
              <a:t>The project aims to create a data pipeline that automates cricket data collection, processes it for analysis, and visualizes insights. This will enable analysts, coaches, and fans to derive actionable insights through streamlined data extraction, transformation, and presentation.</a:t>
            </a:r>
          </a:p>
          <a:p>
            <a:pPr marL="0" indent="0" algn="just">
              <a:buNone/>
            </a:pPr>
            <a:r>
              <a:rPr lang="en-US" dirty="0"/>
              <a:t>Data Pipeline: Automates cricket data collection, processing, and visualization to generate actionable insights.</a:t>
            </a:r>
          </a:p>
          <a:p>
            <a:pPr marL="0" indent="0" algn="just">
              <a:buNone/>
            </a:pPr>
            <a:endParaRPr lang="en-US" dirty="0"/>
          </a:p>
          <a:p>
            <a:pPr marL="0" indent="0" algn="just">
              <a:buNone/>
            </a:pPr>
            <a:r>
              <a:rPr lang="en-US" b="1" u="sng" dirty="0"/>
              <a:t>Data Collection (Web Scraping): </a:t>
            </a:r>
            <a:r>
              <a:rPr lang="en-US" dirty="0"/>
              <a:t>Extracts match statistics and player performance from platforms like ESPN </a:t>
            </a:r>
            <a:r>
              <a:rPr lang="en-US" dirty="0" err="1"/>
              <a:t>Cricinfo</a:t>
            </a:r>
            <a:r>
              <a:rPr lang="en-US" dirty="0"/>
              <a:t> using Python libraries (</a:t>
            </a:r>
            <a:r>
              <a:rPr lang="en-US" dirty="0" err="1"/>
              <a:t>BeautifulSoup</a:t>
            </a:r>
            <a:r>
              <a:rPr lang="en-US" dirty="0"/>
              <a:t>, Selenium).</a:t>
            </a:r>
          </a:p>
          <a:p>
            <a:pPr marL="0" indent="0" algn="just">
              <a:buNone/>
            </a:pPr>
            <a:endParaRPr lang="en-US" dirty="0"/>
          </a:p>
          <a:p>
            <a:pPr marL="0" indent="0" algn="just">
              <a:buNone/>
            </a:pPr>
            <a:r>
              <a:rPr lang="en-US" b="1" u="sng" dirty="0"/>
              <a:t>Data Processing (Python &amp; Pandas): </a:t>
            </a:r>
            <a:r>
              <a:rPr lang="en-US" dirty="0"/>
              <a:t>Cleans and structures raw data for analysis, ensuring accuracy and consistency.</a:t>
            </a:r>
          </a:p>
          <a:p>
            <a:pPr marL="0" indent="0" algn="just">
              <a:buNone/>
            </a:pPr>
            <a:endParaRPr lang="en-US" dirty="0"/>
          </a:p>
          <a:p>
            <a:pPr marL="0" indent="0" algn="just">
              <a:buNone/>
            </a:pPr>
            <a:r>
              <a:rPr lang="en-US" b="1" u="sng" dirty="0"/>
              <a:t>Exploratory Data Analysis (EDA): </a:t>
            </a:r>
            <a:r>
              <a:rPr lang="en-US" dirty="0"/>
              <a:t>Identifies performance trends and anomalies using visual tools like Matplotlib and Seaborn.</a:t>
            </a:r>
          </a:p>
          <a:p>
            <a:pPr marL="0" indent="0" algn="just">
              <a:buNone/>
            </a:pPr>
            <a:endParaRPr lang="en-US" dirty="0"/>
          </a:p>
          <a:p>
            <a:pPr marL="0" indent="0" algn="just">
              <a:buNone/>
            </a:pPr>
            <a:r>
              <a:rPr lang="en-US" b="1" u="sng" dirty="0"/>
              <a:t>Data Visualization (Power BI): </a:t>
            </a:r>
            <a:r>
              <a:rPr lang="en-US" dirty="0"/>
              <a:t>Creates interactive dashboards for stakeholders to explore insights on player performance, match outcomes, and team strategies.</a:t>
            </a:r>
          </a:p>
          <a:p>
            <a:pPr marL="0" indent="0" algn="just">
              <a:buNone/>
            </a:pPr>
            <a:endParaRPr lang="en-US" dirty="0"/>
          </a:p>
          <a:p>
            <a:pPr marL="0" indent="0" algn="just">
              <a:buNone/>
            </a:pPr>
            <a:r>
              <a:rPr lang="en-US" b="1" u="sng" dirty="0"/>
              <a:t>Scalable and Adaptable: </a:t>
            </a:r>
            <a:r>
              <a:rPr lang="en-US" dirty="0"/>
              <a:t>Framework supports other cricket formats and can integrate predictive analytics in the future.</a:t>
            </a:r>
          </a:p>
        </p:txBody>
      </p:sp>
      <p:sp>
        <p:nvSpPr>
          <p:cNvPr id="7" name="Slide Number Placeholder 6">
            <a:extLst>
              <a:ext uri="{FF2B5EF4-FFF2-40B4-BE49-F238E27FC236}">
                <a16:creationId xmlns:a16="http://schemas.microsoft.com/office/drawing/2014/main" id="{5E3BD03B-5AB9-7EE5-18F3-F80896C6F993}"/>
              </a:ext>
            </a:extLst>
          </p:cNvPr>
          <p:cNvSpPr>
            <a:spLocks noGrp="1"/>
          </p:cNvSpPr>
          <p:nvPr>
            <p:ph type="sldNum" sz="quarter" idx="12"/>
          </p:nvPr>
        </p:nvSpPr>
        <p:spPr/>
        <p:txBody>
          <a:bodyPr/>
          <a:lstStyle/>
          <a:p>
            <a:r>
              <a:rPr lang="en-US"/>
              <a:t>Slide - </a:t>
            </a:r>
            <a:fld id="{B6F15528-21DE-4FAA-801E-634DDDAF4B2B}" type="slidenum">
              <a:rPr lang="en-US" smtClean="0"/>
              <a:pPr/>
              <a:t>8</a:t>
            </a:fld>
            <a:endParaRPr lang="en-US" dirty="0"/>
          </a:p>
        </p:txBody>
      </p:sp>
    </p:spTree>
    <p:extLst>
      <p:ext uri="{BB962C8B-B14F-4D97-AF65-F5344CB8AC3E}">
        <p14:creationId xmlns:p14="http://schemas.microsoft.com/office/powerpoint/2010/main" val="103530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4346-58B2-8BAE-051C-BF62DCD02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04588-A588-E101-551B-2AB69807A761}"/>
              </a:ext>
            </a:extLst>
          </p:cNvPr>
          <p:cNvSpPr>
            <a:spLocks noGrp="1"/>
          </p:cNvSpPr>
          <p:nvPr>
            <p:ph type="title"/>
          </p:nvPr>
        </p:nvSpPr>
        <p:spPr/>
        <p:txBody>
          <a:bodyPr/>
          <a:lstStyle/>
          <a:p>
            <a:r>
              <a:rPr lang="en-US" dirty="0"/>
              <a:t>UML Diagram </a:t>
            </a:r>
            <a:endParaRPr lang="en-SG" dirty="0"/>
          </a:p>
        </p:txBody>
      </p:sp>
      <p:sp>
        <p:nvSpPr>
          <p:cNvPr id="7" name="Slide Number Placeholder 6">
            <a:extLst>
              <a:ext uri="{FF2B5EF4-FFF2-40B4-BE49-F238E27FC236}">
                <a16:creationId xmlns:a16="http://schemas.microsoft.com/office/drawing/2014/main" id="{D02DBAE0-D2C3-5A3C-1337-32A66702372A}"/>
              </a:ext>
            </a:extLst>
          </p:cNvPr>
          <p:cNvSpPr>
            <a:spLocks noGrp="1"/>
          </p:cNvSpPr>
          <p:nvPr>
            <p:ph type="sldNum" sz="quarter" idx="12"/>
          </p:nvPr>
        </p:nvSpPr>
        <p:spPr/>
        <p:txBody>
          <a:bodyPr/>
          <a:lstStyle/>
          <a:p>
            <a:r>
              <a:rPr lang="en-US"/>
              <a:t>Slide - </a:t>
            </a:r>
            <a:fld id="{B6F15528-21DE-4FAA-801E-634DDDAF4B2B}" type="slidenum">
              <a:rPr lang="en-US" smtClean="0"/>
              <a:pPr/>
              <a:t>9</a:t>
            </a:fld>
            <a:endParaRPr lang="en-US" dirty="0"/>
          </a:p>
        </p:txBody>
      </p:sp>
      <p:sp>
        <p:nvSpPr>
          <p:cNvPr id="8" name="TextBox 7">
            <a:extLst>
              <a:ext uri="{FF2B5EF4-FFF2-40B4-BE49-F238E27FC236}">
                <a16:creationId xmlns:a16="http://schemas.microsoft.com/office/drawing/2014/main" id="{4EFCBE2A-E7DD-618F-DDCF-2D0DAAB9E090}"/>
              </a:ext>
            </a:extLst>
          </p:cNvPr>
          <p:cNvSpPr txBox="1"/>
          <p:nvPr/>
        </p:nvSpPr>
        <p:spPr>
          <a:xfrm>
            <a:off x="6605801" y="1866900"/>
            <a:ext cx="5076390" cy="646331"/>
          </a:xfrm>
          <a:prstGeom prst="rect">
            <a:avLst/>
          </a:prstGeom>
          <a:noFill/>
        </p:spPr>
        <p:txBody>
          <a:bodyPr wrap="none" rtlCol="0">
            <a:spAutoFit/>
          </a:bodyPr>
          <a:lstStyle/>
          <a:p>
            <a:pPr algn="ctr"/>
            <a:r>
              <a:rPr lang="en-US" sz="3600" dirty="0">
                <a:solidFill>
                  <a:schemeClr val="bg1"/>
                </a:solidFill>
              </a:rPr>
              <a:t>Steps for IPL Data Analysis</a:t>
            </a:r>
          </a:p>
        </p:txBody>
      </p:sp>
      <p:pic>
        <p:nvPicPr>
          <p:cNvPr id="4" name="Picture 3">
            <a:extLst>
              <a:ext uri="{FF2B5EF4-FFF2-40B4-BE49-F238E27FC236}">
                <a16:creationId xmlns:a16="http://schemas.microsoft.com/office/drawing/2014/main" id="{E6074B39-6772-8D8C-0986-6108A08FFC4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78"/>
          <a:stretch/>
        </p:blipFill>
        <p:spPr>
          <a:xfrm>
            <a:off x="1981200" y="2628900"/>
            <a:ext cx="13988079" cy="6530479"/>
          </a:xfrm>
          <a:prstGeom prst="rect">
            <a:avLst/>
          </a:prstGeom>
        </p:spPr>
      </p:pic>
    </p:spTree>
    <p:extLst>
      <p:ext uri="{BB962C8B-B14F-4D97-AF65-F5344CB8AC3E}">
        <p14:creationId xmlns:p14="http://schemas.microsoft.com/office/powerpoint/2010/main" val="58015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218FFE-F0FB-4D23-B301-16EBA0EF0448}"/>
              </a:ext>
            </a:extLst>
          </p:cNvPr>
          <p:cNvSpPr>
            <a:spLocks noGrp="1"/>
          </p:cNvSpPr>
          <p:nvPr>
            <p:ph type="sldNum" sz="quarter" idx="11"/>
          </p:nvPr>
        </p:nvSpPr>
        <p:spPr/>
        <p:txBody>
          <a:bodyPr/>
          <a:lstStyle/>
          <a:p>
            <a:r>
              <a:rPr lang="en-US"/>
              <a:t>Slide - </a:t>
            </a:r>
            <a:fld id="{B6F15528-21DE-4FAA-801E-634DDDAF4B2B}" type="slidenum">
              <a:rPr lang="en-US" smtClean="0"/>
              <a:pPr/>
              <a:t>10</a:t>
            </a:fld>
            <a:endParaRPr lang="en-US" dirty="0"/>
          </a:p>
        </p:txBody>
      </p:sp>
      <p:sp>
        <p:nvSpPr>
          <p:cNvPr id="3" name="Title 2">
            <a:extLst>
              <a:ext uri="{FF2B5EF4-FFF2-40B4-BE49-F238E27FC236}">
                <a16:creationId xmlns:a16="http://schemas.microsoft.com/office/drawing/2014/main" id="{A6C39A88-3089-36BC-9D12-ECF19103D73D}"/>
              </a:ext>
            </a:extLst>
          </p:cNvPr>
          <p:cNvSpPr>
            <a:spLocks noGrp="1"/>
          </p:cNvSpPr>
          <p:nvPr>
            <p:ph type="title"/>
          </p:nvPr>
        </p:nvSpPr>
        <p:spPr/>
        <p:txBody>
          <a:bodyPr/>
          <a:lstStyle/>
          <a:p>
            <a:r>
              <a:rPr lang="en-US" dirty="0"/>
              <a:t>FEATURES</a:t>
            </a:r>
            <a:endParaRPr lang="en-SG" dirty="0"/>
          </a:p>
        </p:txBody>
      </p:sp>
      <p:grpSp>
        <p:nvGrpSpPr>
          <p:cNvPr id="4" name="Group 11">
            <a:extLst>
              <a:ext uri="{FF2B5EF4-FFF2-40B4-BE49-F238E27FC236}">
                <a16:creationId xmlns:a16="http://schemas.microsoft.com/office/drawing/2014/main" id="{C8780B9C-E073-5DAA-F47E-316C6BB82ADD}"/>
              </a:ext>
            </a:extLst>
          </p:cNvPr>
          <p:cNvGrpSpPr/>
          <p:nvPr/>
        </p:nvGrpSpPr>
        <p:grpSpPr>
          <a:xfrm>
            <a:off x="1982024" y="1999050"/>
            <a:ext cx="1381041" cy="1431131"/>
            <a:chOff x="0" y="0"/>
            <a:chExt cx="1841389" cy="1908175"/>
          </a:xfrm>
        </p:grpSpPr>
        <p:sp>
          <p:nvSpPr>
            <p:cNvPr id="5" name="Freeform 12">
              <a:extLst>
                <a:ext uri="{FF2B5EF4-FFF2-40B4-BE49-F238E27FC236}">
                  <a16:creationId xmlns:a16="http://schemas.microsoft.com/office/drawing/2014/main" id="{722406F6-85D5-D401-B06A-AF1DDF3BC286}"/>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13">
              <a:extLst>
                <a:ext uri="{FF2B5EF4-FFF2-40B4-BE49-F238E27FC236}">
                  <a16:creationId xmlns:a16="http://schemas.microsoft.com/office/drawing/2014/main" id="{85B2A085-C31C-5F39-6656-6643D260F81D}"/>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7" name="Group 14">
            <a:extLst>
              <a:ext uri="{FF2B5EF4-FFF2-40B4-BE49-F238E27FC236}">
                <a16:creationId xmlns:a16="http://schemas.microsoft.com/office/drawing/2014/main" id="{64B1B9B6-1E7D-9269-A303-8FFBC904D458}"/>
              </a:ext>
            </a:extLst>
          </p:cNvPr>
          <p:cNvGrpSpPr/>
          <p:nvPr/>
        </p:nvGrpSpPr>
        <p:grpSpPr>
          <a:xfrm>
            <a:off x="3511528" y="1421545"/>
            <a:ext cx="13683573" cy="2535972"/>
            <a:chOff x="-85906" y="-167957"/>
            <a:chExt cx="18686401" cy="3381295"/>
          </a:xfrm>
        </p:grpSpPr>
        <p:sp>
          <p:nvSpPr>
            <p:cNvPr id="8" name="TextBox 15">
              <a:extLst>
                <a:ext uri="{FF2B5EF4-FFF2-40B4-BE49-F238E27FC236}">
                  <a16:creationId xmlns:a16="http://schemas.microsoft.com/office/drawing/2014/main" id="{FBEBB9FD-074D-52D8-AEAB-EBD8A9B8743B}"/>
                </a:ext>
              </a:extLst>
            </p:cNvPr>
            <p:cNvSpPr txBox="1"/>
            <p:nvPr/>
          </p:nvSpPr>
          <p:spPr>
            <a:xfrm>
              <a:off x="0" y="-167957"/>
              <a:ext cx="18270164" cy="812188"/>
            </a:xfrm>
            <a:prstGeom prst="rect">
              <a:avLst/>
            </a:prstGeom>
          </p:spPr>
          <p:txBody>
            <a:bodyPr lIns="0" tIns="0" rIns="0" bIns="0" rtlCol="0" anchor="t">
              <a:spAutoFit/>
            </a:bodyPr>
            <a:lstStyle/>
            <a:p>
              <a:pPr>
                <a:lnSpc>
                  <a:spcPts val="5040"/>
                </a:lnSpc>
              </a:pPr>
              <a:r>
                <a:rPr lang="en-US" sz="4000" spc="420" dirty="0">
                  <a:solidFill>
                    <a:srgbClr val="04345C"/>
                  </a:solidFill>
                  <a:latin typeface="Glacial Indifference Bold" panose="020B0604020202020204" charset="0"/>
                  <a:cs typeface="Times New Roman" panose="02020603050405020304" pitchFamily="18" charset="0"/>
                </a:rPr>
                <a:t>Modularity and Scalability</a:t>
              </a:r>
              <a:endParaRPr lang="en-US" sz="4200" spc="420" dirty="0">
                <a:solidFill>
                  <a:srgbClr val="04345C"/>
                </a:solidFill>
                <a:latin typeface="Glacial Indifference Bold" panose="020B0604020202020204" charset="0"/>
              </a:endParaRPr>
            </a:p>
          </p:txBody>
        </p:sp>
        <p:sp>
          <p:nvSpPr>
            <p:cNvPr id="9" name="TextBox 16">
              <a:extLst>
                <a:ext uri="{FF2B5EF4-FFF2-40B4-BE49-F238E27FC236}">
                  <a16:creationId xmlns:a16="http://schemas.microsoft.com/office/drawing/2014/main" id="{E5798850-176C-7E0F-3AED-F7D1278EE3DE}"/>
                </a:ext>
              </a:extLst>
            </p:cNvPr>
            <p:cNvSpPr txBox="1"/>
            <p:nvPr/>
          </p:nvSpPr>
          <p:spPr>
            <a:xfrm>
              <a:off x="-85906" y="614336"/>
              <a:ext cx="18686401" cy="2599002"/>
            </a:xfrm>
            <a:prstGeom prst="rect">
              <a:avLst/>
            </a:prstGeom>
          </p:spPr>
          <p:txBody>
            <a:bodyPr wrap="square" lIns="0" tIns="0" rIns="0" bIns="0" rtlCol="0" anchor="t">
              <a:spAutoFit/>
            </a:bodyPr>
            <a:lstStyle/>
            <a:p>
              <a:pPr algn="just">
                <a:spcAft>
                  <a:spcPts val="800"/>
                </a:spcAft>
              </a:pPr>
              <a:r>
                <a:rPr lang="en-US" sz="2400" b="1"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Modularity:</a:t>
              </a: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 The project is divided into distinct modules (data collection, processing, analysis, and visualization).Each module performs a specific function, making the system easier to develop, debug, and maintain.</a:t>
              </a:r>
            </a:p>
            <a:p>
              <a:pPr algn="just">
                <a:spcAft>
                  <a:spcPts val="800"/>
                </a:spcAft>
              </a:pPr>
              <a:r>
                <a:rPr lang="en-US" sz="2400" b="1"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Scalability:</a:t>
              </a: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 The architecture can handle increasing volumes of data as cricket datasets grow with new matches and tournaments. </a:t>
              </a:r>
            </a:p>
          </p:txBody>
        </p:sp>
      </p:grpSp>
      <p:grpSp>
        <p:nvGrpSpPr>
          <p:cNvPr id="10" name="Group 11">
            <a:extLst>
              <a:ext uri="{FF2B5EF4-FFF2-40B4-BE49-F238E27FC236}">
                <a16:creationId xmlns:a16="http://schemas.microsoft.com/office/drawing/2014/main" id="{926B2049-0B62-4708-0E51-5D8663E9D248}"/>
              </a:ext>
            </a:extLst>
          </p:cNvPr>
          <p:cNvGrpSpPr/>
          <p:nvPr/>
        </p:nvGrpSpPr>
        <p:grpSpPr>
          <a:xfrm>
            <a:off x="1962974" y="4807268"/>
            <a:ext cx="1381041" cy="1431131"/>
            <a:chOff x="0" y="0"/>
            <a:chExt cx="1841389" cy="1908175"/>
          </a:xfrm>
        </p:grpSpPr>
        <p:sp>
          <p:nvSpPr>
            <p:cNvPr id="11" name="Freeform 12">
              <a:extLst>
                <a:ext uri="{FF2B5EF4-FFF2-40B4-BE49-F238E27FC236}">
                  <a16:creationId xmlns:a16="http://schemas.microsoft.com/office/drawing/2014/main" id="{6789757C-B732-62CB-2F12-06A2286A9B7A}"/>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3">
              <a:extLst>
                <a:ext uri="{FF2B5EF4-FFF2-40B4-BE49-F238E27FC236}">
                  <a16:creationId xmlns:a16="http://schemas.microsoft.com/office/drawing/2014/main" id="{44A71BC6-2CC8-B47C-0237-A21AA09648D4}"/>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3" name="Group 14">
            <a:extLst>
              <a:ext uri="{FF2B5EF4-FFF2-40B4-BE49-F238E27FC236}">
                <a16:creationId xmlns:a16="http://schemas.microsoft.com/office/drawing/2014/main" id="{1A1E10E7-3B3E-729E-54A7-7461EF5CCCFD}"/>
              </a:ext>
            </a:extLst>
          </p:cNvPr>
          <p:cNvGrpSpPr/>
          <p:nvPr/>
        </p:nvGrpSpPr>
        <p:grpSpPr>
          <a:xfrm>
            <a:off x="3422034" y="4412074"/>
            <a:ext cx="13683573" cy="2204222"/>
            <a:chOff x="-118865" y="-706023"/>
            <a:chExt cx="18270164" cy="2979557"/>
          </a:xfrm>
        </p:grpSpPr>
        <p:sp>
          <p:nvSpPr>
            <p:cNvPr id="14" name="TextBox 15">
              <a:extLst>
                <a:ext uri="{FF2B5EF4-FFF2-40B4-BE49-F238E27FC236}">
                  <a16:creationId xmlns:a16="http://schemas.microsoft.com/office/drawing/2014/main" id="{24F92914-7C32-82B1-5C11-453B53800A93}"/>
                </a:ext>
              </a:extLst>
            </p:cNvPr>
            <p:cNvSpPr txBox="1"/>
            <p:nvPr/>
          </p:nvSpPr>
          <p:spPr>
            <a:xfrm>
              <a:off x="-118865" y="-706023"/>
              <a:ext cx="18270164" cy="836785"/>
            </a:xfrm>
            <a:prstGeom prst="rect">
              <a:avLst/>
            </a:prstGeom>
          </p:spPr>
          <p:txBody>
            <a:bodyPr lIns="0" tIns="0" rIns="0" bIns="0" rtlCol="0" anchor="t">
              <a:spAutoFit/>
            </a:bodyPr>
            <a:lstStyle/>
            <a:p>
              <a:pPr>
                <a:lnSpc>
                  <a:spcPts val="5040"/>
                </a:lnSpc>
              </a:pPr>
              <a:r>
                <a:rPr lang="en-US" sz="4000" dirty="0">
                  <a:solidFill>
                    <a:srgbClr val="04345C"/>
                  </a:solidFill>
                  <a:latin typeface="Glacial Indifference Bold" panose="020B0604020202020204" charset="0"/>
                  <a:ea typeface="Times New Roman" panose="02020603050405020304" pitchFamily="18" charset="0"/>
                  <a:cs typeface="Times New Roman" panose="02020603050405020304" pitchFamily="18" charset="0"/>
                </a:rPr>
                <a:t>Automation to Ensure Timely and Updated Data</a:t>
              </a:r>
              <a:endParaRPr lang="en-US" sz="4200" spc="420" dirty="0">
                <a:solidFill>
                  <a:srgbClr val="04345C"/>
                </a:solidFill>
                <a:latin typeface="Glacial Indifference Bold" panose="020B0604020202020204" charset="0"/>
              </a:endParaRPr>
            </a:p>
          </p:txBody>
        </p:sp>
        <p:sp>
          <p:nvSpPr>
            <p:cNvPr id="15" name="TextBox 16">
              <a:extLst>
                <a:ext uri="{FF2B5EF4-FFF2-40B4-BE49-F238E27FC236}">
                  <a16:creationId xmlns:a16="http://schemas.microsoft.com/office/drawing/2014/main" id="{E81A4198-11B5-A276-E510-F07950F332CE}"/>
                </a:ext>
              </a:extLst>
            </p:cNvPr>
            <p:cNvSpPr txBox="1"/>
            <p:nvPr/>
          </p:nvSpPr>
          <p:spPr>
            <a:xfrm>
              <a:off x="41759" y="276556"/>
              <a:ext cx="17948916" cy="1996978"/>
            </a:xfrm>
            <a:prstGeom prst="rect">
              <a:avLst/>
            </a:prstGeom>
          </p:spPr>
          <p:txBody>
            <a:bodyPr wrap="square" lIns="0" tIns="0" rIns="0" bIns="0" rtlCol="0" anchor="t">
              <a:spAutoFit/>
            </a:bodyPr>
            <a:lstStyle/>
            <a:p>
              <a:pPr algn="just">
                <a:spcAft>
                  <a:spcPts val="800"/>
                </a:spcAft>
              </a:pPr>
              <a:r>
                <a:rPr lang="en-US" sz="2400" b="1" dirty="0">
                  <a:solidFill>
                    <a:srgbClr val="04345C"/>
                  </a:solidFill>
                  <a:latin typeface="Glacial Indifference" panose="020B0604020202020204" charset="0"/>
                  <a:ea typeface="Calibri" panose="020F0502020204030204" pitchFamily="34" charset="0"/>
                  <a:cs typeface="Times New Roman" panose="02020603050405020304" pitchFamily="18" charset="0"/>
                </a:rPr>
                <a:t>Website extraction Automated Data Collection </a:t>
              </a:r>
              <a:r>
                <a:rPr lang="en-US" sz="2400" dirty="0">
                  <a:solidFill>
                    <a:srgbClr val="04345C"/>
                  </a:solidFill>
                  <a:latin typeface="Glacial Indifference" panose="020B0604020202020204" charset="0"/>
                  <a:ea typeface="Calibri" panose="020F0502020204030204" pitchFamily="34" charset="0"/>
                  <a:cs typeface="Times New Roman" panose="02020603050405020304" pitchFamily="18" charset="0"/>
                </a:rPr>
                <a:t>: Web scraping scripts periodically or on-demand gather data from platforms like ESPN </a:t>
              </a:r>
              <a:r>
                <a:rPr lang="en-US" sz="2400" dirty="0" err="1">
                  <a:solidFill>
                    <a:srgbClr val="04345C"/>
                  </a:solidFill>
                  <a:latin typeface="Glacial Indifference" panose="020B0604020202020204" charset="0"/>
                  <a:ea typeface="Calibri" panose="020F0502020204030204" pitchFamily="34" charset="0"/>
                  <a:cs typeface="Times New Roman" panose="02020603050405020304" pitchFamily="18" charset="0"/>
                </a:rPr>
                <a:t>Cricinfo</a:t>
              </a:r>
              <a:r>
                <a:rPr lang="en-US" sz="2400" dirty="0">
                  <a:solidFill>
                    <a:srgbClr val="04345C"/>
                  </a:solidFill>
                  <a:latin typeface="Glacial Indifference" panose="020B0604020202020204" charset="0"/>
                  <a:ea typeface="Calibri" panose="020F0502020204030204" pitchFamily="34" charset="0"/>
                  <a:cs typeface="Times New Roman" panose="02020603050405020304" pitchFamily="18" charset="0"/>
                </a:rPr>
                <a:t> and </a:t>
              </a:r>
              <a:r>
                <a:rPr lang="en-US" sz="2400" dirty="0" err="1">
                  <a:solidFill>
                    <a:srgbClr val="04345C"/>
                  </a:solidFill>
                  <a:latin typeface="Glacial Indifference" panose="020B0604020202020204" charset="0"/>
                  <a:ea typeface="Calibri" panose="020F0502020204030204" pitchFamily="34" charset="0"/>
                  <a:cs typeface="Times New Roman" panose="02020603050405020304" pitchFamily="18" charset="0"/>
                </a:rPr>
                <a:t>Cricbuzz.This</a:t>
              </a:r>
              <a:r>
                <a:rPr lang="en-US" sz="2400" dirty="0">
                  <a:solidFill>
                    <a:srgbClr val="04345C"/>
                  </a:solidFill>
                  <a:latin typeface="Glacial Indifference" panose="020B0604020202020204" charset="0"/>
                  <a:ea typeface="Calibri" panose="020F0502020204030204" pitchFamily="34" charset="0"/>
                  <a:cs typeface="Times New Roman" panose="02020603050405020304" pitchFamily="18" charset="0"/>
                </a:rPr>
                <a:t> ensures the latest match statistics and player performance metrics are readily available. Automation reduces manual intervention, minimizing errors in data extraction and processing.</a:t>
              </a:r>
              <a:endParaRPr lang="en-IN" sz="24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grpSp>
        <p:nvGrpSpPr>
          <p:cNvPr id="16" name="Group 11">
            <a:extLst>
              <a:ext uri="{FF2B5EF4-FFF2-40B4-BE49-F238E27FC236}">
                <a16:creationId xmlns:a16="http://schemas.microsoft.com/office/drawing/2014/main" id="{C61D06D6-A639-1375-1C62-582203AD2943}"/>
              </a:ext>
            </a:extLst>
          </p:cNvPr>
          <p:cNvGrpSpPr/>
          <p:nvPr/>
        </p:nvGrpSpPr>
        <p:grpSpPr>
          <a:xfrm>
            <a:off x="1981200" y="7215941"/>
            <a:ext cx="1381041" cy="1431131"/>
            <a:chOff x="0" y="0"/>
            <a:chExt cx="1841389" cy="1908175"/>
          </a:xfrm>
        </p:grpSpPr>
        <p:sp>
          <p:nvSpPr>
            <p:cNvPr id="17" name="Freeform 12">
              <a:extLst>
                <a:ext uri="{FF2B5EF4-FFF2-40B4-BE49-F238E27FC236}">
                  <a16:creationId xmlns:a16="http://schemas.microsoft.com/office/drawing/2014/main" id="{6C7A1CD5-876C-E819-D44B-C10E54392660}"/>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3">
              <a:extLst>
                <a:ext uri="{FF2B5EF4-FFF2-40B4-BE49-F238E27FC236}">
                  <a16:creationId xmlns:a16="http://schemas.microsoft.com/office/drawing/2014/main" id="{A3A7DD0A-1784-4AB8-5E75-9D27D78461A2}"/>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9" name="Group 14">
            <a:extLst>
              <a:ext uri="{FF2B5EF4-FFF2-40B4-BE49-F238E27FC236}">
                <a16:creationId xmlns:a16="http://schemas.microsoft.com/office/drawing/2014/main" id="{5916A9B6-4D44-4800-AB33-BC9D70AB11F8}"/>
              </a:ext>
            </a:extLst>
          </p:cNvPr>
          <p:cNvGrpSpPr/>
          <p:nvPr/>
        </p:nvGrpSpPr>
        <p:grpSpPr>
          <a:xfrm>
            <a:off x="3344015" y="6823210"/>
            <a:ext cx="14394031" cy="2653163"/>
            <a:chOff x="238885" y="-27389"/>
            <a:chExt cx="18272286" cy="3537551"/>
          </a:xfrm>
        </p:grpSpPr>
        <p:sp>
          <p:nvSpPr>
            <p:cNvPr id="20" name="TextBox 15">
              <a:extLst>
                <a:ext uri="{FF2B5EF4-FFF2-40B4-BE49-F238E27FC236}">
                  <a16:creationId xmlns:a16="http://schemas.microsoft.com/office/drawing/2014/main" id="{B28E5788-7D92-9DDD-2385-BD46EC2CDB15}"/>
                </a:ext>
              </a:extLst>
            </p:cNvPr>
            <p:cNvSpPr txBox="1"/>
            <p:nvPr/>
          </p:nvSpPr>
          <p:spPr>
            <a:xfrm>
              <a:off x="238885" y="-27389"/>
              <a:ext cx="18270164" cy="812188"/>
            </a:xfrm>
            <a:prstGeom prst="rect">
              <a:avLst/>
            </a:prstGeom>
          </p:spPr>
          <p:txBody>
            <a:bodyPr lIns="0" tIns="0" rIns="0" bIns="0" rtlCol="0" anchor="t">
              <a:spAutoFit/>
            </a:bodyPr>
            <a:lstStyle/>
            <a:p>
              <a:pPr>
                <a:lnSpc>
                  <a:spcPts val="5040"/>
                </a:lnSpc>
              </a:pPr>
              <a:r>
                <a:rPr lang="en-US" sz="4000" dirty="0">
                  <a:solidFill>
                    <a:srgbClr val="04345C"/>
                  </a:solidFill>
                  <a:latin typeface="Glacial Indifference Bold" panose="020B0604020202020204" charset="0"/>
                  <a:ea typeface="Times New Roman" panose="02020603050405020304" pitchFamily="18" charset="0"/>
                  <a:cs typeface="Times New Roman" panose="02020603050405020304" pitchFamily="18" charset="0"/>
                </a:rPr>
                <a:t>Easy and flexible scheduling</a:t>
              </a:r>
              <a:endParaRPr lang="en-US" sz="4200" spc="420" dirty="0">
                <a:solidFill>
                  <a:srgbClr val="04345C"/>
                </a:solidFill>
                <a:latin typeface="Glacial Indifference Bold" panose="020B0604020202020204" charset="0"/>
              </a:endParaRPr>
            </a:p>
          </p:txBody>
        </p:sp>
        <p:sp>
          <p:nvSpPr>
            <p:cNvPr id="21" name="TextBox 16">
              <a:extLst>
                <a:ext uri="{FF2B5EF4-FFF2-40B4-BE49-F238E27FC236}">
                  <a16:creationId xmlns:a16="http://schemas.microsoft.com/office/drawing/2014/main" id="{7AF445E5-ADF1-AD3A-C397-BAC33117CCD6}"/>
                </a:ext>
              </a:extLst>
            </p:cNvPr>
            <p:cNvSpPr txBox="1"/>
            <p:nvPr/>
          </p:nvSpPr>
          <p:spPr>
            <a:xfrm>
              <a:off x="241007" y="911159"/>
              <a:ext cx="18270164" cy="2599003"/>
            </a:xfrm>
            <a:prstGeom prst="rect">
              <a:avLst/>
            </a:prstGeom>
          </p:spPr>
          <p:txBody>
            <a:bodyPr lIns="0" tIns="0" rIns="0" bIns="0" rtlCol="0" anchor="t">
              <a:spAutoFit/>
            </a:bodyPr>
            <a:lstStyle/>
            <a:p>
              <a:pPr algn="just">
                <a:spcAft>
                  <a:spcPts val="800"/>
                </a:spcAft>
              </a:pP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Interactive Dashboards: Power BI dashboards allow users to explore data based on specific interests like player performance, team comparisons, and match </a:t>
              </a:r>
              <a:r>
                <a:rPr lang="en-US" sz="2400" dirty="0" err="1">
                  <a:solidFill>
                    <a:srgbClr val="04345C"/>
                  </a:solidFill>
                  <a:latin typeface="Glacial Indifference" panose="020B0604020202020204" charset="0"/>
                  <a:ea typeface="Times New Roman" panose="02020603050405020304" pitchFamily="18" charset="0"/>
                  <a:cs typeface="Times New Roman" panose="02020603050405020304" pitchFamily="18" charset="0"/>
                </a:rPr>
                <a:t>outcomes.Visualizations</a:t>
              </a: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 are designed for simplicity, enabling stakeholders to easily interpret complex insights.</a:t>
              </a:r>
            </a:p>
            <a:p>
              <a:pPr algn="just">
                <a:spcAft>
                  <a:spcPts val="800"/>
                </a:spcAft>
              </a:pP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Customizable Views: Users can personalize views to focus on key metrics such as batting averages, bowling economy, and win-loss </a:t>
              </a:r>
              <a:r>
                <a:rPr lang="en-US" sz="2400" dirty="0" err="1">
                  <a:solidFill>
                    <a:srgbClr val="04345C"/>
                  </a:solidFill>
                  <a:latin typeface="Glacial Indifference" panose="020B0604020202020204" charset="0"/>
                  <a:ea typeface="Times New Roman" panose="02020603050405020304" pitchFamily="18" charset="0"/>
                  <a:cs typeface="Times New Roman" panose="02020603050405020304" pitchFamily="18" charset="0"/>
                </a:rPr>
                <a:t>ratios.j</a:t>
              </a: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        </a:t>
              </a:r>
            </a:p>
          </p:txBody>
        </p:sp>
      </p:grpSp>
    </p:spTree>
    <p:extLst>
      <p:ext uri="{BB962C8B-B14F-4D97-AF65-F5344CB8AC3E}">
        <p14:creationId xmlns:p14="http://schemas.microsoft.com/office/powerpoint/2010/main" val="2584957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B646-5E4B-863B-61C8-8FE397692D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1032F4-5296-F006-31F9-84F8447D6C42}"/>
              </a:ext>
            </a:extLst>
          </p:cNvPr>
          <p:cNvSpPr>
            <a:spLocks noGrp="1"/>
          </p:cNvSpPr>
          <p:nvPr>
            <p:ph type="sldNum" sz="quarter" idx="11"/>
          </p:nvPr>
        </p:nvSpPr>
        <p:spPr/>
        <p:txBody>
          <a:bodyPr/>
          <a:lstStyle/>
          <a:p>
            <a:r>
              <a:rPr lang="en-US"/>
              <a:t>Slide - </a:t>
            </a:r>
            <a:fld id="{B6F15528-21DE-4FAA-801E-634DDDAF4B2B}" type="slidenum">
              <a:rPr lang="en-US" smtClean="0"/>
              <a:pPr/>
              <a:t>11</a:t>
            </a:fld>
            <a:endParaRPr lang="en-US" dirty="0"/>
          </a:p>
        </p:txBody>
      </p:sp>
      <p:sp>
        <p:nvSpPr>
          <p:cNvPr id="3" name="Title 2">
            <a:extLst>
              <a:ext uri="{FF2B5EF4-FFF2-40B4-BE49-F238E27FC236}">
                <a16:creationId xmlns:a16="http://schemas.microsoft.com/office/drawing/2014/main" id="{E1D6ADCD-87B1-2113-3F78-8BC8C2F47989}"/>
              </a:ext>
            </a:extLst>
          </p:cNvPr>
          <p:cNvSpPr>
            <a:spLocks noGrp="1"/>
          </p:cNvSpPr>
          <p:nvPr>
            <p:ph type="title"/>
          </p:nvPr>
        </p:nvSpPr>
        <p:spPr/>
        <p:txBody>
          <a:bodyPr/>
          <a:lstStyle/>
          <a:p>
            <a:r>
              <a:rPr lang="en-US" dirty="0"/>
              <a:t>FEATURES</a:t>
            </a:r>
            <a:endParaRPr lang="en-SG" dirty="0"/>
          </a:p>
        </p:txBody>
      </p:sp>
      <p:grpSp>
        <p:nvGrpSpPr>
          <p:cNvPr id="4" name="Group 11">
            <a:extLst>
              <a:ext uri="{FF2B5EF4-FFF2-40B4-BE49-F238E27FC236}">
                <a16:creationId xmlns:a16="http://schemas.microsoft.com/office/drawing/2014/main" id="{04AE61B6-E146-8A5E-2DB4-409B246978E8}"/>
              </a:ext>
            </a:extLst>
          </p:cNvPr>
          <p:cNvGrpSpPr/>
          <p:nvPr/>
        </p:nvGrpSpPr>
        <p:grpSpPr>
          <a:xfrm>
            <a:off x="1982024" y="1999050"/>
            <a:ext cx="1381041" cy="1431131"/>
            <a:chOff x="0" y="0"/>
            <a:chExt cx="1841389" cy="1908175"/>
          </a:xfrm>
        </p:grpSpPr>
        <p:sp>
          <p:nvSpPr>
            <p:cNvPr id="5" name="Freeform 12">
              <a:extLst>
                <a:ext uri="{FF2B5EF4-FFF2-40B4-BE49-F238E27FC236}">
                  <a16:creationId xmlns:a16="http://schemas.microsoft.com/office/drawing/2014/main" id="{DBC3FDE9-01E1-CB60-C2A9-C8D2AB05B6D5}"/>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13">
              <a:extLst>
                <a:ext uri="{FF2B5EF4-FFF2-40B4-BE49-F238E27FC236}">
                  <a16:creationId xmlns:a16="http://schemas.microsoft.com/office/drawing/2014/main" id="{27F5761D-4151-6E8B-E2AD-BD561A430FBA}"/>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7" name="Group 14">
            <a:extLst>
              <a:ext uri="{FF2B5EF4-FFF2-40B4-BE49-F238E27FC236}">
                <a16:creationId xmlns:a16="http://schemas.microsoft.com/office/drawing/2014/main" id="{F2C3638E-706C-6566-2C42-45997723614B}"/>
              </a:ext>
            </a:extLst>
          </p:cNvPr>
          <p:cNvGrpSpPr/>
          <p:nvPr/>
        </p:nvGrpSpPr>
        <p:grpSpPr>
          <a:xfrm>
            <a:off x="3842427" y="1954282"/>
            <a:ext cx="13378773" cy="1105139"/>
            <a:chOff x="0" y="-9525"/>
            <a:chExt cx="18270164" cy="1473519"/>
          </a:xfrm>
        </p:grpSpPr>
        <p:sp>
          <p:nvSpPr>
            <p:cNvPr id="8" name="TextBox 15">
              <a:extLst>
                <a:ext uri="{FF2B5EF4-FFF2-40B4-BE49-F238E27FC236}">
                  <a16:creationId xmlns:a16="http://schemas.microsoft.com/office/drawing/2014/main" id="{E21ECA4C-8422-1BF8-79BB-222FAA770944}"/>
                </a:ext>
              </a:extLst>
            </p:cNvPr>
            <p:cNvSpPr txBox="1"/>
            <p:nvPr/>
          </p:nvSpPr>
          <p:spPr>
            <a:xfrm>
              <a:off x="0" y="-9525"/>
              <a:ext cx="18270164" cy="812188"/>
            </a:xfrm>
            <a:prstGeom prst="rect">
              <a:avLst/>
            </a:prstGeom>
          </p:spPr>
          <p:txBody>
            <a:bodyPr lIns="0" tIns="0" rIns="0" bIns="0" rtlCol="0" anchor="t">
              <a:spAutoFit/>
            </a:bodyPr>
            <a:lstStyle/>
            <a:p>
              <a:pPr>
                <a:lnSpc>
                  <a:spcPts val="5040"/>
                </a:lnSpc>
              </a:pPr>
              <a:r>
                <a:rPr lang="en-US" sz="4000" dirty="0">
                  <a:solidFill>
                    <a:srgbClr val="04345C"/>
                  </a:solidFill>
                  <a:latin typeface="Glacial Indifference Bold" panose="020B0604020202020204" charset="0"/>
                  <a:ea typeface="Times New Roman" panose="02020603050405020304" pitchFamily="18" charset="0"/>
                  <a:cs typeface="Times New Roman" panose="02020603050405020304" pitchFamily="18" charset="0"/>
                </a:rPr>
                <a:t>Data Reliability and Accuracy: </a:t>
              </a:r>
              <a:endParaRPr lang="en-US" sz="4200" spc="420" dirty="0">
                <a:solidFill>
                  <a:srgbClr val="04345C"/>
                </a:solidFill>
                <a:latin typeface="Glacial Indifference Bold" panose="020B0604020202020204" charset="0"/>
              </a:endParaRPr>
            </a:p>
          </p:txBody>
        </p:sp>
        <p:sp>
          <p:nvSpPr>
            <p:cNvPr id="9" name="TextBox 16">
              <a:extLst>
                <a:ext uri="{FF2B5EF4-FFF2-40B4-BE49-F238E27FC236}">
                  <a16:creationId xmlns:a16="http://schemas.microsoft.com/office/drawing/2014/main" id="{BA401415-8FAD-FC93-01EE-FB831AB03237}"/>
                </a:ext>
              </a:extLst>
            </p:cNvPr>
            <p:cNvSpPr txBox="1"/>
            <p:nvPr/>
          </p:nvSpPr>
          <p:spPr>
            <a:xfrm>
              <a:off x="0" y="971551"/>
              <a:ext cx="18270164" cy="492443"/>
            </a:xfrm>
            <a:prstGeom prst="rect">
              <a:avLst/>
            </a:prstGeom>
          </p:spPr>
          <p:txBody>
            <a:bodyPr lIns="0" tIns="0" rIns="0" bIns="0" rtlCol="0" anchor="t">
              <a:spAutoFit/>
            </a:bodyPr>
            <a:lstStyle/>
            <a:p>
              <a:pPr algn="just">
                <a:spcAft>
                  <a:spcPts val="800"/>
                </a:spcAft>
              </a:pP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Ensures accurate data collection and cleaning to maintain analysis integrity.</a:t>
              </a:r>
            </a:p>
          </p:txBody>
        </p:sp>
      </p:grpSp>
      <p:grpSp>
        <p:nvGrpSpPr>
          <p:cNvPr id="10" name="Group 11">
            <a:extLst>
              <a:ext uri="{FF2B5EF4-FFF2-40B4-BE49-F238E27FC236}">
                <a16:creationId xmlns:a16="http://schemas.microsoft.com/office/drawing/2014/main" id="{3032435F-A7A6-3CCC-1023-84FD9679F879}"/>
              </a:ext>
            </a:extLst>
          </p:cNvPr>
          <p:cNvGrpSpPr/>
          <p:nvPr/>
        </p:nvGrpSpPr>
        <p:grpSpPr>
          <a:xfrm>
            <a:off x="1962974" y="4807268"/>
            <a:ext cx="1381041" cy="1431131"/>
            <a:chOff x="0" y="0"/>
            <a:chExt cx="1841389" cy="1908175"/>
          </a:xfrm>
        </p:grpSpPr>
        <p:sp>
          <p:nvSpPr>
            <p:cNvPr id="11" name="Freeform 12">
              <a:extLst>
                <a:ext uri="{FF2B5EF4-FFF2-40B4-BE49-F238E27FC236}">
                  <a16:creationId xmlns:a16="http://schemas.microsoft.com/office/drawing/2014/main" id="{01472F5E-9869-B0B8-77FC-18465D544AAC}"/>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3">
              <a:extLst>
                <a:ext uri="{FF2B5EF4-FFF2-40B4-BE49-F238E27FC236}">
                  <a16:creationId xmlns:a16="http://schemas.microsoft.com/office/drawing/2014/main" id="{CBCDA159-CEE1-3960-28E7-8CF61638FB46}"/>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3" name="Group 14">
            <a:extLst>
              <a:ext uri="{FF2B5EF4-FFF2-40B4-BE49-F238E27FC236}">
                <a16:creationId xmlns:a16="http://schemas.microsoft.com/office/drawing/2014/main" id="{C81B864F-8A36-9ED0-672A-9161F9826D3A}"/>
              </a:ext>
            </a:extLst>
          </p:cNvPr>
          <p:cNvGrpSpPr/>
          <p:nvPr/>
        </p:nvGrpSpPr>
        <p:grpSpPr>
          <a:xfrm>
            <a:off x="3823377" y="4762500"/>
            <a:ext cx="13397823" cy="1474471"/>
            <a:chOff x="0" y="-9525"/>
            <a:chExt cx="18270164" cy="1965962"/>
          </a:xfrm>
        </p:grpSpPr>
        <p:sp>
          <p:nvSpPr>
            <p:cNvPr id="14" name="TextBox 15">
              <a:extLst>
                <a:ext uri="{FF2B5EF4-FFF2-40B4-BE49-F238E27FC236}">
                  <a16:creationId xmlns:a16="http://schemas.microsoft.com/office/drawing/2014/main" id="{EDFD0F48-823B-898D-A1DC-575E94463523}"/>
                </a:ext>
              </a:extLst>
            </p:cNvPr>
            <p:cNvSpPr txBox="1"/>
            <p:nvPr/>
          </p:nvSpPr>
          <p:spPr>
            <a:xfrm>
              <a:off x="0" y="-9525"/>
              <a:ext cx="18270164" cy="812188"/>
            </a:xfrm>
            <a:prstGeom prst="rect">
              <a:avLst/>
            </a:prstGeom>
          </p:spPr>
          <p:txBody>
            <a:bodyPr lIns="0" tIns="0" rIns="0" bIns="0" rtlCol="0" anchor="t">
              <a:spAutoFit/>
            </a:bodyPr>
            <a:lstStyle/>
            <a:p>
              <a:pPr>
                <a:lnSpc>
                  <a:spcPts val="5040"/>
                </a:lnSpc>
              </a:pPr>
              <a:r>
                <a:rPr lang="en-US" sz="4000" dirty="0">
                  <a:solidFill>
                    <a:srgbClr val="04345C"/>
                  </a:solidFill>
                  <a:latin typeface="Glacial Indifference Bold" panose="020B0604020202020204" charset="0"/>
                  <a:cs typeface="Times New Roman" panose="02020603050405020304" pitchFamily="18" charset="0"/>
                </a:rPr>
                <a:t>Adaptability Across Use Cases:</a:t>
              </a:r>
            </a:p>
          </p:txBody>
        </p:sp>
        <p:sp>
          <p:nvSpPr>
            <p:cNvPr id="15" name="TextBox 16">
              <a:extLst>
                <a:ext uri="{FF2B5EF4-FFF2-40B4-BE49-F238E27FC236}">
                  <a16:creationId xmlns:a16="http://schemas.microsoft.com/office/drawing/2014/main" id="{0B366BFF-E52A-5CC3-2581-08D18D2C1D9A}"/>
                </a:ext>
              </a:extLst>
            </p:cNvPr>
            <p:cNvSpPr txBox="1"/>
            <p:nvPr/>
          </p:nvSpPr>
          <p:spPr>
            <a:xfrm>
              <a:off x="0" y="971551"/>
              <a:ext cx="18270164" cy="984886"/>
            </a:xfrm>
            <a:prstGeom prst="rect">
              <a:avLst/>
            </a:prstGeom>
          </p:spPr>
          <p:txBody>
            <a:bodyPr lIns="0" tIns="0" rIns="0" bIns="0" rtlCol="0" anchor="t">
              <a:spAutoFit/>
            </a:bodyPr>
            <a:lstStyle/>
            <a:p>
              <a:pPr algn="just">
                <a:spcAft>
                  <a:spcPts val="800"/>
                </a:spcAft>
              </a:pPr>
              <a:r>
                <a:rPr lang="en-US" sz="2400" dirty="0">
                  <a:solidFill>
                    <a:srgbClr val="04345C"/>
                  </a:solidFill>
                  <a:latin typeface="Glacial Indifference" panose="020B0604020202020204" charset="0"/>
                  <a:ea typeface="Calibri" panose="020F0502020204030204" pitchFamily="34" charset="0"/>
                  <a:cs typeface="Times New Roman" panose="02020603050405020304" pitchFamily="18" charset="0"/>
                </a:rPr>
                <a:t>Can be adapted for different cricket formats or sports, supporting future machine learning integration.</a:t>
              </a:r>
              <a:endParaRPr lang="en-IN" sz="24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grpSp>
        <p:nvGrpSpPr>
          <p:cNvPr id="16" name="Group 11">
            <a:extLst>
              <a:ext uri="{FF2B5EF4-FFF2-40B4-BE49-F238E27FC236}">
                <a16:creationId xmlns:a16="http://schemas.microsoft.com/office/drawing/2014/main" id="{6B374457-3FE6-655E-311B-499325304484}"/>
              </a:ext>
            </a:extLst>
          </p:cNvPr>
          <p:cNvGrpSpPr/>
          <p:nvPr/>
        </p:nvGrpSpPr>
        <p:grpSpPr>
          <a:xfrm>
            <a:off x="1981200" y="7550468"/>
            <a:ext cx="1381041" cy="1431131"/>
            <a:chOff x="0" y="0"/>
            <a:chExt cx="1841389" cy="1908175"/>
          </a:xfrm>
        </p:grpSpPr>
        <p:sp>
          <p:nvSpPr>
            <p:cNvPr id="17" name="Freeform 12">
              <a:extLst>
                <a:ext uri="{FF2B5EF4-FFF2-40B4-BE49-F238E27FC236}">
                  <a16:creationId xmlns:a16="http://schemas.microsoft.com/office/drawing/2014/main" id="{FB8E8AA2-AC40-09BE-751B-86892E62A641}"/>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3">
              <a:extLst>
                <a:ext uri="{FF2B5EF4-FFF2-40B4-BE49-F238E27FC236}">
                  <a16:creationId xmlns:a16="http://schemas.microsoft.com/office/drawing/2014/main" id="{7C431D6A-9C04-ED97-E9D5-9136898C37A8}"/>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9" name="Group 14">
            <a:extLst>
              <a:ext uri="{FF2B5EF4-FFF2-40B4-BE49-F238E27FC236}">
                <a16:creationId xmlns:a16="http://schemas.microsoft.com/office/drawing/2014/main" id="{9256F79F-8558-589D-0CC0-59142F69DF7A}"/>
              </a:ext>
            </a:extLst>
          </p:cNvPr>
          <p:cNvGrpSpPr/>
          <p:nvPr/>
        </p:nvGrpSpPr>
        <p:grpSpPr>
          <a:xfrm>
            <a:off x="3841603" y="7505700"/>
            <a:ext cx="13397823" cy="1105139"/>
            <a:chOff x="0" y="-9525"/>
            <a:chExt cx="18270164" cy="1473519"/>
          </a:xfrm>
        </p:grpSpPr>
        <p:sp>
          <p:nvSpPr>
            <p:cNvPr id="20" name="TextBox 15">
              <a:extLst>
                <a:ext uri="{FF2B5EF4-FFF2-40B4-BE49-F238E27FC236}">
                  <a16:creationId xmlns:a16="http://schemas.microsoft.com/office/drawing/2014/main" id="{4DDD9223-F8CD-1BCC-3C35-CD2EB5FEE43F}"/>
                </a:ext>
              </a:extLst>
            </p:cNvPr>
            <p:cNvSpPr txBox="1"/>
            <p:nvPr/>
          </p:nvSpPr>
          <p:spPr>
            <a:xfrm>
              <a:off x="0" y="-9525"/>
              <a:ext cx="18270164" cy="812188"/>
            </a:xfrm>
            <a:prstGeom prst="rect">
              <a:avLst/>
            </a:prstGeom>
          </p:spPr>
          <p:txBody>
            <a:bodyPr lIns="0" tIns="0" rIns="0" bIns="0" rtlCol="0" anchor="t">
              <a:spAutoFit/>
            </a:bodyPr>
            <a:lstStyle/>
            <a:p>
              <a:pPr>
                <a:lnSpc>
                  <a:spcPts val="5040"/>
                </a:lnSpc>
              </a:pPr>
              <a:r>
                <a:rPr lang="en-US" sz="4000" dirty="0">
                  <a:solidFill>
                    <a:srgbClr val="04345C"/>
                  </a:solidFill>
                  <a:latin typeface="Glacial Indifference Bold" panose="020B0604020202020204" charset="0"/>
                  <a:ea typeface="Times New Roman" panose="02020603050405020304" pitchFamily="18" charset="0"/>
                  <a:cs typeface="Times New Roman" panose="02020603050405020304" pitchFamily="18" charset="0"/>
                </a:rPr>
                <a:t>Real-Time Insights Capability</a:t>
              </a:r>
              <a:endParaRPr lang="en-US" sz="4200" spc="420" dirty="0">
                <a:solidFill>
                  <a:srgbClr val="04345C"/>
                </a:solidFill>
                <a:latin typeface="Glacial Indifference Bold" panose="020B0604020202020204" charset="0"/>
              </a:endParaRPr>
            </a:p>
          </p:txBody>
        </p:sp>
        <p:sp>
          <p:nvSpPr>
            <p:cNvPr id="21" name="TextBox 16">
              <a:extLst>
                <a:ext uri="{FF2B5EF4-FFF2-40B4-BE49-F238E27FC236}">
                  <a16:creationId xmlns:a16="http://schemas.microsoft.com/office/drawing/2014/main" id="{E61FA401-1469-34C8-E3EA-D29D9B81E1AB}"/>
                </a:ext>
              </a:extLst>
            </p:cNvPr>
            <p:cNvSpPr txBox="1"/>
            <p:nvPr/>
          </p:nvSpPr>
          <p:spPr>
            <a:xfrm>
              <a:off x="0" y="971551"/>
              <a:ext cx="18270164" cy="492443"/>
            </a:xfrm>
            <a:prstGeom prst="rect">
              <a:avLst/>
            </a:prstGeom>
          </p:spPr>
          <p:txBody>
            <a:bodyPr lIns="0" tIns="0" rIns="0" bIns="0" rtlCol="0" anchor="t">
              <a:spAutoFit/>
            </a:bodyPr>
            <a:lstStyle/>
            <a:p>
              <a:pPr algn="just">
                <a:spcAft>
                  <a:spcPts val="800"/>
                </a:spcAft>
              </a:pPr>
              <a:r>
                <a:rPr lang="en-US" sz="2400" dirty="0">
                  <a:solidFill>
                    <a:srgbClr val="04345C"/>
                  </a:solidFill>
                  <a:latin typeface="Glacial Indifference" panose="020B0604020202020204" charset="0"/>
                  <a:ea typeface="Times New Roman" panose="02020603050405020304" pitchFamily="18" charset="0"/>
                  <a:cs typeface="Times New Roman" panose="02020603050405020304" pitchFamily="18" charset="0"/>
                </a:rPr>
                <a:t>Processes live data for real-time match updates and on-the-fly analytics.</a:t>
              </a:r>
              <a:endParaRPr lang="en-IN" sz="24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61527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275E-CB06-3BBC-99BC-90B34F3F8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6134F-C879-7A9D-5C33-6E7EE2F36D7E}"/>
              </a:ext>
            </a:extLst>
          </p:cNvPr>
          <p:cNvSpPr>
            <a:spLocks noGrp="1"/>
          </p:cNvSpPr>
          <p:nvPr>
            <p:ph type="title"/>
          </p:nvPr>
        </p:nvSpPr>
        <p:spPr/>
        <p:txBody>
          <a:bodyPr/>
          <a:lstStyle/>
          <a:p>
            <a:r>
              <a:rPr lang="en-US" dirty="0"/>
              <a:t>MODULE DESCRIPTION</a:t>
            </a:r>
            <a:endParaRPr lang="en-SG" dirty="0"/>
          </a:p>
        </p:txBody>
      </p:sp>
      <p:sp>
        <p:nvSpPr>
          <p:cNvPr id="7" name="Slide Number Placeholder 6">
            <a:extLst>
              <a:ext uri="{FF2B5EF4-FFF2-40B4-BE49-F238E27FC236}">
                <a16:creationId xmlns:a16="http://schemas.microsoft.com/office/drawing/2014/main" id="{FAEADC87-BD59-D4D0-319E-24D1302CF18B}"/>
              </a:ext>
            </a:extLst>
          </p:cNvPr>
          <p:cNvSpPr>
            <a:spLocks noGrp="1"/>
          </p:cNvSpPr>
          <p:nvPr>
            <p:ph type="sldNum" sz="quarter" idx="12"/>
          </p:nvPr>
        </p:nvSpPr>
        <p:spPr/>
        <p:txBody>
          <a:bodyPr/>
          <a:lstStyle/>
          <a:p>
            <a:r>
              <a:rPr lang="en-US"/>
              <a:t>Slide - </a:t>
            </a:r>
            <a:fld id="{B6F15528-21DE-4FAA-801E-634DDDAF4B2B}" type="slidenum">
              <a:rPr lang="en-US" smtClean="0"/>
              <a:pPr/>
              <a:t>12</a:t>
            </a:fld>
            <a:endParaRPr lang="en-US" dirty="0"/>
          </a:p>
        </p:txBody>
      </p:sp>
      <p:sp>
        <p:nvSpPr>
          <p:cNvPr id="10" name="Content Placeholder 2">
            <a:extLst>
              <a:ext uri="{FF2B5EF4-FFF2-40B4-BE49-F238E27FC236}">
                <a16:creationId xmlns:a16="http://schemas.microsoft.com/office/drawing/2014/main" id="{7F8348B6-7681-8973-33E4-00AD97905E9A}"/>
              </a:ext>
            </a:extLst>
          </p:cNvPr>
          <p:cNvSpPr txBox="1">
            <a:spLocks/>
          </p:cNvSpPr>
          <p:nvPr/>
        </p:nvSpPr>
        <p:spPr>
          <a:xfrm>
            <a:off x="1295400" y="1866900"/>
            <a:ext cx="14630400" cy="1143000"/>
          </a:xfrm>
          <a:prstGeom prst="rect">
            <a:avLst/>
          </a:prstGeom>
        </p:spPr>
        <p:txBody>
          <a:bodyPr vert="horz" lIns="91440" tIns="45720" rIns="91440" bIns="45720" rtlCol="0" anchor="ctr">
            <a:noAutofit/>
          </a:bodyPr>
          <a:lst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a:lstStyle>
          <a:p>
            <a:pPr marL="0" marR="0" lvl="0" indent="0" algn="just" defTabSz="342900" rtl="0" eaLnBrk="1" fontAlgn="auto" latinLnBrk="0" hangingPunct="1">
              <a:lnSpc>
                <a:spcPct val="100000"/>
              </a:lnSpc>
              <a:spcBef>
                <a:spcPts val="0"/>
              </a:spcBef>
              <a:spcAft>
                <a:spcPts val="750"/>
              </a:spcAft>
              <a:buClr>
                <a:sysClr val="window" lastClr="FFFFFF"/>
              </a:buClr>
              <a:buSzPct val="100000"/>
              <a:buFont typeface="Arial"/>
              <a:buNone/>
              <a:tabLst/>
              <a:defRPr/>
            </a:pPr>
            <a:r>
              <a:rPr kumimoji="0" lang="en-US" sz="2800" b="0" i="0" u="none" strike="noStrike" kern="1200" cap="none" spc="0" normalizeH="0" baseline="0" noProof="0" dirty="0">
                <a:ln>
                  <a:noFill/>
                </a:ln>
                <a:solidFill>
                  <a:sysClr val="window" lastClr="FFFFFF"/>
                </a:solidFill>
                <a:effectLst/>
                <a:uLnTx/>
                <a:uFillTx/>
                <a:latin typeface="Glacial Indifference" panose="020B0604020202020204" charset="0"/>
              </a:rPr>
              <a:t>Following are the modules and work involved in each module. In this project the modules correspond to the use cases of this project. </a:t>
            </a:r>
          </a:p>
          <a:p>
            <a:pPr marL="214313" marR="0" lvl="0" indent="-214313" algn="l" defTabSz="342900" rtl="0" eaLnBrk="1" fontAlgn="auto" latinLnBrk="0" hangingPunct="1">
              <a:lnSpc>
                <a:spcPct val="100000"/>
              </a:lnSpc>
              <a:spcBef>
                <a:spcPts val="0"/>
              </a:spcBef>
              <a:spcAft>
                <a:spcPts val="750"/>
              </a:spcAft>
              <a:buClr>
                <a:sysClr val="window" lastClr="FFFFFF"/>
              </a:buClr>
              <a:buSzPct val="100000"/>
              <a:buFont typeface="Arial"/>
              <a:buChar char="•"/>
              <a:tabLst/>
              <a:defRPr/>
            </a:pPr>
            <a:endParaRPr kumimoji="0" lang="en-SG" sz="2800" b="0" i="0" u="none" strike="noStrike" kern="1200" cap="none" spc="0" normalizeH="0" baseline="0" noProof="0" dirty="0">
              <a:ln>
                <a:noFill/>
              </a:ln>
              <a:solidFill>
                <a:sysClr val="window" lastClr="FFFFFF"/>
              </a:solidFill>
              <a:effectLst/>
              <a:uLnTx/>
              <a:uFillTx/>
              <a:latin typeface="Glacial Indifference" panose="020B0604020202020204" charset="0"/>
            </a:endParaRPr>
          </a:p>
        </p:txBody>
      </p:sp>
      <p:sp>
        <p:nvSpPr>
          <p:cNvPr id="12" name="Content Placeholder 2">
            <a:extLst>
              <a:ext uri="{FF2B5EF4-FFF2-40B4-BE49-F238E27FC236}">
                <a16:creationId xmlns:a16="http://schemas.microsoft.com/office/drawing/2014/main" id="{A79FF43F-5D44-AE08-5CA6-F225EFB6B7B9}"/>
              </a:ext>
            </a:extLst>
          </p:cNvPr>
          <p:cNvSpPr txBox="1">
            <a:spLocks/>
          </p:cNvSpPr>
          <p:nvPr/>
        </p:nvSpPr>
        <p:spPr>
          <a:xfrm>
            <a:off x="1385646" y="6667500"/>
            <a:ext cx="14540154" cy="2819400"/>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Clr>
                <a:srgbClr val="AC3EC1"/>
              </a:buClr>
              <a:buFont typeface="Wingdings 3" charset="2"/>
              <a:buNone/>
            </a:pPr>
            <a:r>
              <a:rPr lang="en-US" sz="2800" b="1" dirty="0">
                <a:solidFill>
                  <a:prstClr val="white"/>
                </a:solidFill>
                <a:latin typeface="Glacial Indifference" panose="020B0604020202020204" charset="0"/>
              </a:rPr>
              <a:t>Data Gathering (Module 1)</a:t>
            </a:r>
          </a:p>
          <a:p>
            <a:pPr marL="0" indent="0" algn="just">
              <a:buClr>
                <a:srgbClr val="AC3EC1"/>
              </a:buClr>
              <a:buFont typeface="Wingdings 3" charset="2"/>
              <a:buNone/>
            </a:pPr>
            <a:endParaRPr lang="en-US" sz="2800" b="1" dirty="0">
              <a:solidFill>
                <a:prstClr val="white"/>
              </a:solidFill>
              <a:latin typeface="Glacial Indifference" panose="020B0604020202020204" charset="0"/>
            </a:endParaRPr>
          </a:p>
          <a:p>
            <a:pPr algn="just">
              <a:buClr>
                <a:schemeClr val="tx2">
                  <a:lumMod val="20000"/>
                  <a:lumOff val="80000"/>
                </a:schemeClr>
              </a:buClr>
              <a:buFont typeface="Wingdings" panose="05000000000000000000" pitchFamily="2" charset="2"/>
              <a:buChar char="Ø"/>
            </a:pPr>
            <a:r>
              <a:rPr lang="en-US" sz="2800" b="1" dirty="0">
                <a:solidFill>
                  <a:prstClr val="white"/>
                </a:solidFill>
                <a:latin typeface="Glacial Indifference" panose="020B0604020202020204" charset="0"/>
              </a:rPr>
              <a:t>Collected IPL auction data from online platforms using Python-based web scraping tools.</a:t>
            </a:r>
          </a:p>
          <a:p>
            <a:pPr algn="just">
              <a:buClr>
                <a:schemeClr val="tx2">
                  <a:lumMod val="20000"/>
                  <a:lumOff val="80000"/>
                </a:schemeClr>
              </a:buClr>
              <a:buFont typeface="Wingdings" panose="05000000000000000000" pitchFamily="2" charset="2"/>
              <a:buChar char="Ø"/>
            </a:pPr>
            <a:r>
              <a:rPr lang="en-US" sz="2800" b="1" dirty="0">
                <a:solidFill>
                  <a:prstClr val="white"/>
                </a:solidFill>
                <a:latin typeface="Glacial Indifference" panose="020B0604020202020204" charset="0"/>
              </a:rPr>
              <a:t>Stored the data in structured formats (CSV/JSON) for further processing.</a:t>
            </a:r>
          </a:p>
          <a:p>
            <a:pPr marL="922337" indent="-457200" algn="just">
              <a:buClr>
                <a:schemeClr val="tx2">
                  <a:lumMod val="20000"/>
                  <a:lumOff val="80000"/>
                </a:schemeClr>
              </a:buClr>
              <a:buFont typeface="Wingdings" panose="05000000000000000000" pitchFamily="2" charset="2"/>
              <a:buChar char="Ø"/>
            </a:pPr>
            <a:endParaRPr lang="en-US" sz="2800" dirty="0">
              <a:solidFill>
                <a:prstClr val="white"/>
              </a:solidFill>
              <a:latin typeface="Glacial Indifference" panose="020B0604020202020204" charset="0"/>
            </a:endParaRPr>
          </a:p>
          <a:p>
            <a:pPr algn="just">
              <a:buClr>
                <a:srgbClr val="AC3EC1"/>
              </a:buClr>
            </a:pPr>
            <a:endParaRPr lang="en-SG" sz="2800" dirty="0">
              <a:solidFill>
                <a:prstClr val="white"/>
              </a:solidFill>
              <a:latin typeface="Glacial Indifference" panose="020B0604020202020204" charset="0"/>
            </a:endParaRPr>
          </a:p>
        </p:txBody>
      </p:sp>
      <p:graphicFrame>
        <p:nvGraphicFramePr>
          <p:cNvPr id="3" name="Table 2">
            <a:extLst>
              <a:ext uri="{FF2B5EF4-FFF2-40B4-BE49-F238E27FC236}">
                <a16:creationId xmlns:a16="http://schemas.microsoft.com/office/drawing/2014/main" id="{2C2ABCAB-612B-4CF3-3F5D-44949F32E657}"/>
              </a:ext>
            </a:extLst>
          </p:cNvPr>
          <p:cNvGraphicFramePr>
            <a:graphicFrameLocks noGrp="1"/>
          </p:cNvGraphicFramePr>
          <p:nvPr>
            <p:extLst>
              <p:ext uri="{D42A27DB-BD31-4B8C-83A1-F6EECF244321}">
                <p14:modId xmlns:p14="http://schemas.microsoft.com/office/powerpoint/2010/main" val="205869296"/>
              </p:ext>
            </p:extLst>
          </p:nvPr>
        </p:nvGraphicFramePr>
        <p:xfrm>
          <a:off x="2819400" y="3074483"/>
          <a:ext cx="6477000" cy="3566160"/>
        </p:xfrm>
        <a:graphic>
          <a:graphicData uri="http://schemas.openxmlformats.org/drawingml/2006/table">
            <a:tbl>
              <a:tblPr>
                <a:tableStyleId>{35758FB7-9AC5-4552-8A53-C91805E547FA}</a:tableStyleId>
              </a:tblPr>
              <a:tblGrid>
                <a:gridCol w="1507227">
                  <a:extLst>
                    <a:ext uri="{9D8B030D-6E8A-4147-A177-3AD203B41FA5}">
                      <a16:colId xmlns:a16="http://schemas.microsoft.com/office/drawing/2014/main" val="4245794357"/>
                    </a:ext>
                  </a:extLst>
                </a:gridCol>
                <a:gridCol w="4969773">
                  <a:extLst>
                    <a:ext uri="{9D8B030D-6E8A-4147-A177-3AD203B41FA5}">
                      <a16:colId xmlns:a16="http://schemas.microsoft.com/office/drawing/2014/main" val="1717232861"/>
                    </a:ext>
                  </a:extLst>
                </a:gridCol>
              </a:tblGrid>
              <a:tr h="352425">
                <a:tc>
                  <a:txBody>
                    <a:bodyPr/>
                    <a:lstStyle/>
                    <a:p>
                      <a:r>
                        <a:rPr lang="en-IN" b="1" dirty="0">
                          <a:solidFill>
                            <a:schemeClr val="bg1"/>
                          </a:solidFill>
                        </a:rPr>
                        <a:t>Module No.</a:t>
                      </a:r>
                      <a:endParaRPr lang="en-IN" dirty="0">
                        <a:solidFill>
                          <a:schemeClr val="bg1"/>
                        </a:solidFill>
                      </a:endParaRPr>
                    </a:p>
                  </a:txBody>
                  <a:tcPr anchor="ctr">
                    <a:solidFill>
                      <a:schemeClr val="tx2">
                        <a:lumMod val="60000"/>
                        <a:lumOff val="40000"/>
                      </a:schemeClr>
                    </a:solidFill>
                  </a:tcPr>
                </a:tc>
                <a:tc>
                  <a:txBody>
                    <a:bodyPr/>
                    <a:lstStyle/>
                    <a:p>
                      <a:r>
                        <a:rPr lang="en-IN" b="1" dirty="0">
                          <a:solidFill>
                            <a:schemeClr val="bg1"/>
                          </a:solidFill>
                        </a:rPr>
                        <a:t>Module Name</a:t>
                      </a:r>
                      <a:endParaRPr lang="en-IN" dirty="0">
                        <a:solidFill>
                          <a:schemeClr val="bg1"/>
                        </a:solidFill>
                      </a:endParaRPr>
                    </a:p>
                  </a:txBody>
                  <a:tcPr anchor="ctr">
                    <a:solidFill>
                      <a:schemeClr val="accent1"/>
                    </a:solidFill>
                  </a:tcPr>
                </a:tc>
                <a:extLst>
                  <a:ext uri="{0D108BD9-81ED-4DB2-BD59-A6C34878D82A}">
                    <a16:rowId xmlns:a16="http://schemas.microsoft.com/office/drawing/2014/main" val="2168530486"/>
                  </a:ext>
                </a:extLst>
              </a:tr>
              <a:tr h="352425">
                <a:tc>
                  <a:txBody>
                    <a:bodyPr/>
                    <a:lstStyle/>
                    <a:p>
                      <a:r>
                        <a:rPr lang="en-IN" sz="2400" dirty="0"/>
                        <a:t>Module 1</a:t>
                      </a:r>
                    </a:p>
                  </a:txBody>
                  <a:tcPr anchor="ctr"/>
                </a:tc>
                <a:tc>
                  <a:txBody>
                    <a:bodyPr/>
                    <a:lstStyle/>
                    <a:p>
                      <a:r>
                        <a:rPr lang="en-IN" sz="2400" dirty="0"/>
                        <a:t>Data Gathering</a:t>
                      </a:r>
                    </a:p>
                  </a:txBody>
                  <a:tcPr anchor="ctr"/>
                </a:tc>
                <a:extLst>
                  <a:ext uri="{0D108BD9-81ED-4DB2-BD59-A6C34878D82A}">
                    <a16:rowId xmlns:a16="http://schemas.microsoft.com/office/drawing/2014/main" val="1075694336"/>
                  </a:ext>
                </a:extLst>
              </a:tr>
              <a:tr h="352425">
                <a:tc>
                  <a:txBody>
                    <a:bodyPr/>
                    <a:lstStyle/>
                    <a:p>
                      <a:r>
                        <a:rPr lang="en-IN" sz="2400"/>
                        <a:t>Module 2</a:t>
                      </a:r>
                    </a:p>
                  </a:txBody>
                  <a:tcPr anchor="ctr"/>
                </a:tc>
                <a:tc>
                  <a:txBody>
                    <a:bodyPr/>
                    <a:lstStyle/>
                    <a:p>
                      <a:r>
                        <a:rPr lang="en-IN" sz="2400" dirty="0"/>
                        <a:t>Data Cleaning</a:t>
                      </a:r>
                    </a:p>
                  </a:txBody>
                  <a:tcPr anchor="ctr"/>
                </a:tc>
                <a:extLst>
                  <a:ext uri="{0D108BD9-81ED-4DB2-BD59-A6C34878D82A}">
                    <a16:rowId xmlns:a16="http://schemas.microsoft.com/office/drawing/2014/main" val="2851052247"/>
                  </a:ext>
                </a:extLst>
              </a:tr>
              <a:tr h="352425">
                <a:tc>
                  <a:txBody>
                    <a:bodyPr/>
                    <a:lstStyle/>
                    <a:p>
                      <a:r>
                        <a:rPr lang="en-IN" sz="2400" dirty="0"/>
                        <a:t>Module 3</a:t>
                      </a:r>
                    </a:p>
                  </a:txBody>
                  <a:tcPr anchor="ctr"/>
                </a:tc>
                <a:tc>
                  <a:txBody>
                    <a:bodyPr/>
                    <a:lstStyle/>
                    <a:p>
                      <a:r>
                        <a:rPr lang="en-IN" sz="2400" dirty="0"/>
                        <a:t>Data Analysis for Insights</a:t>
                      </a:r>
                    </a:p>
                  </a:txBody>
                  <a:tcPr anchor="ctr"/>
                </a:tc>
                <a:extLst>
                  <a:ext uri="{0D108BD9-81ED-4DB2-BD59-A6C34878D82A}">
                    <a16:rowId xmlns:a16="http://schemas.microsoft.com/office/drawing/2014/main" val="1023369245"/>
                  </a:ext>
                </a:extLst>
              </a:tr>
              <a:tr h="352425">
                <a:tc>
                  <a:txBody>
                    <a:bodyPr/>
                    <a:lstStyle/>
                    <a:p>
                      <a:r>
                        <a:rPr lang="en-IN" sz="2400"/>
                        <a:t>Module 4</a:t>
                      </a:r>
                    </a:p>
                  </a:txBody>
                  <a:tcPr anchor="ctr"/>
                </a:tc>
                <a:tc>
                  <a:txBody>
                    <a:bodyPr/>
                    <a:lstStyle/>
                    <a:p>
                      <a:r>
                        <a:rPr lang="en-IN" sz="2400" dirty="0"/>
                        <a:t>Data Visualization for Representation</a:t>
                      </a:r>
                    </a:p>
                  </a:txBody>
                  <a:tcPr anchor="ctr"/>
                </a:tc>
                <a:extLst>
                  <a:ext uri="{0D108BD9-81ED-4DB2-BD59-A6C34878D82A}">
                    <a16:rowId xmlns:a16="http://schemas.microsoft.com/office/drawing/2014/main" val="2851927329"/>
                  </a:ext>
                </a:extLst>
              </a:tr>
              <a:tr h="352425">
                <a:tc>
                  <a:txBody>
                    <a:bodyPr/>
                    <a:lstStyle/>
                    <a:p>
                      <a:r>
                        <a:rPr lang="en-IN" sz="2400"/>
                        <a:t>Module 5</a:t>
                      </a:r>
                    </a:p>
                  </a:txBody>
                  <a:tcPr anchor="ctr"/>
                </a:tc>
                <a:tc>
                  <a:txBody>
                    <a:bodyPr/>
                    <a:lstStyle/>
                    <a:p>
                      <a:r>
                        <a:rPr lang="en-IN" sz="2400" dirty="0"/>
                        <a:t>Insights Extraction</a:t>
                      </a:r>
                    </a:p>
                  </a:txBody>
                  <a:tcPr anchor="ctr"/>
                </a:tc>
                <a:extLst>
                  <a:ext uri="{0D108BD9-81ED-4DB2-BD59-A6C34878D82A}">
                    <a16:rowId xmlns:a16="http://schemas.microsoft.com/office/drawing/2014/main" val="1057528501"/>
                  </a:ext>
                </a:extLst>
              </a:tr>
              <a:tr h="352425">
                <a:tc>
                  <a:txBody>
                    <a:bodyPr/>
                    <a:lstStyle/>
                    <a:p>
                      <a:r>
                        <a:rPr lang="en-IN" sz="2400"/>
                        <a:t>Module 6</a:t>
                      </a:r>
                    </a:p>
                  </a:txBody>
                  <a:tcPr anchor="ctr"/>
                </a:tc>
                <a:tc>
                  <a:txBody>
                    <a:bodyPr/>
                    <a:lstStyle/>
                    <a:p>
                      <a:r>
                        <a:rPr lang="en-IN" sz="2400" dirty="0"/>
                        <a:t>Formulating the Best XI</a:t>
                      </a:r>
                    </a:p>
                  </a:txBody>
                  <a:tcPr anchor="ctr"/>
                </a:tc>
                <a:extLst>
                  <a:ext uri="{0D108BD9-81ED-4DB2-BD59-A6C34878D82A}">
                    <a16:rowId xmlns:a16="http://schemas.microsoft.com/office/drawing/2014/main" val="3458910048"/>
                  </a:ext>
                </a:extLst>
              </a:tr>
              <a:tr h="352425">
                <a:tc>
                  <a:txBody>
                    <a:bodyPr/>
                    <a:lstStyle/>
                    <a:p>
                      <a:r>
                        <a:rPr lang="en-IN" sz="2400"/>
                        <a:t>-</a:t>
                      </a:r>
                    </a:p>
                  </a:txBody>
                  <a:tcPr anchor="ctr"/>
                </a:tc>
                <a:tc>
                  <a:txBody>
                    <a:bodyPr/>
                    <a:lstStyle/>
                    <a:p>
                      <a:r>
                        <a:rPr lang="en-IN" sz="2400" dirty="0"/>
                        <a:t>Power BI Dashboard</a:t>
                      </a:r>
                    </a:p>
                  </a:txBody>
                  <a:tcPr anchor="ctr"/>
                </a:tc>
                <a:extLst>
                  <a:ext uri="{0D108BD9-81ED-4DB2-BD59-A6C34878D82A}">
                    <a16:rowId xmlns:a16="http://schemas.microsoft.com/office/drawing/2014/main" val="921431485"/>
                  </a:ext>
                </a:extLst>
              </a:tr>
            </a:tbl>
          </a:graphicData>
        </a:graphic>
      </p:graphicFrame>
    </p:spTree>
    <p:extLst>
      <p:ext uri="{BB962C8B-B14F-4D97-AF65-F5344CB8AC3E}">
        <p14:creationId xmlns:p14="http://schemas.microsoft.com/office/powerpoint/2010/main" val="460563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FBB3-8155-20C7-F636-792DE89F0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313F8-E4FC-56BD-E447-54F15C5617BF}"/>
              </a:ext>
            </a:extLst>
          </p:cNvPr>
          <p:cNvSpPr>
            <a:spLocks noGrp="1"/>
          </p:cNvSpPr>
          <p:nvPr>
            <p:ph type="title"/>
          </p:nvPr>
        </p:nvSpPr>
        <p:spPr/>
        <p:txBody>
          <a:bodyPr/>
          <a:lstStyle/>
          <a:p>
            <a:r>
              <a:rPr lang="en-US" dirty="0"/>
              <a:t>MODULE DESCRIPTION</a:t>
            </a:r>
            <a:endParaRPr lang="en-SG" dirty="0"/>
          </a:p>
        </p:txBody>
      </p:sp>
      <p:sp>
        <p:nvSpPr>
          <p:cNvPr id="3" name="Content Placeholder 2">
            <a:extLst>
              <a:ext uri="{FF2B5EF4-FFF2-40B4-BE49-F238E27FC236}">
                <a16:creationId xmlns:a16="http://schemas.microsoft.com/office/drawing/2014/main" id="{7A373700-0BE1-49AF-B01A-8E1AC0ACBBBF}"/>
              </a:ext>
            </a:extLst>
          </p:cNvPr>
          <p:cNvSpPr txBox="1">
            <a:spLocks/>
          </p:cNvSpPr>
          <p:nvPr/>
        </p:nvSpPr>
        <p:spPr>
          <a:xfrm>
            <a:off x="685800" y="1594842"/>
            <a:ext cx="16344900" cy="7954962"/>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r>
              <a:rPr lang="en-US" sz="3200" b="1" dirty="0">
                <a:solidFill>
                  <a:schemeClr val="bg1"/>
                </a:solidFill>
                <a:latin typeface="Glacial Indifference" panose="020B0604020202020204" charset="0"/>
              </a:rPr>
              <a:t>Data Cleaning (Module 2)</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tx2">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Performed data cleaning using Python and Pandas to remove noise and inconsistencies.</a:t>
            </a:r>
          </a:p>
          <a:p>
            <a:pPr algn="just">
              <a:buClr>
                <a:schemeClr val="tx2">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Addressed missing values, duplicate entries, and standardized formats to prepare data for analysis</a:t>
            </a:r>
            <a:r>
              <a:rPr lang="en-US" sz="2800" b="1" dirty="0">
                <a:solidFill>
                  <a:schemeClr val="bg1"/>
                </a:solidFill>
                <a:latin typeface="Glacial Indifference" panose="020B0604020202020204" charset="0"/>
              </a:rPr>
              <a:t>.</a:t>
            </a:r>
          </a:p>
          <a:p>
            <a:pPr marL="0" indent="0" algn="just">
              <a:buClr>
                <a:schemeClr val="tx2">
                  <a:lumMod val="40000"/>
                  <a:lumOff val="60000"/>
                </a:schemeClr>
              </a:buClr>
              <a:buNone/>
            </a:pPr>
            <a:endParaRPr lang="en-US" sz="2800" b="1" dirty="0">
              <a:solidFill>
                <a:schemeClr val="bg1"/>
              </a:solidFill>
              <a:latin typeface="Glacial Indifference" panose="020B0604020202020204" charset="0"/>
            </a:endParaRPr>
          </a:p>
          <a:p>
            <a:pPr marL="0" indent="0" algn="just">
              <a:buFont typeface="Wingdings 3" charset="2"/>
              <a:buNone/>
            </a:pPr>
            <a:r>
              <a:rPr lang="en-US" sz="3200" b="1" dirty="0">
                <a:solidFill>
                  <a:schemeClr val="bg1"/>
                </a:solidFill>
                <a:latin typeface="Glacial Indifference" panose="020B0604020202020204" charset="0"/>
              </a:rPr>
              <a:t>Data Analysis for Insights (Module 3)</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accent1">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Conducted exploratory data analysis (EDA) using Python libraries (Matplotlib and Seaborn).</a:t>
            </a:r>
          </a:p>
          <a:p>
            <a:pPr algn="just">
              <a:buClr>
                <a:schemeClr val="accent1">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Focused on uncovering trends such as player performances, team statistics, and positional roles (batsmen, bowlers, all-rounders, wicketkeepers).</a:t>
            </a:r>
          </a:p>
          <a:p>
            <a:pPr algn="just">
              <a:buClr>
                <a:schemeClr val="accent1">
                  <a:lumMod val="40000"/>
                  <a:lumOff val="60000"/>
                </a:schemeClr>
              </a:buClr>
              <a:buFont typeface="Wingdings" panose="05000000000000000000" pitchFamily="2" charset="2"/>
              <a:buChar char="Ø"/>
            </a:pPr>
            <a:endParaRPr lang="en-US" sz="2800" b="1" dirty="0">
              <a:solidFill>
                <a:schemeClr val="bg1"/>
              </a:solidFill>
              <a:latin typeface="Glacial Indifference" panose="020B0604020202020204" charset="0"/>
            </a:endParaRPr>
          </a:p>
          <a:p>
            <a:pPr marL="0" indent="0" algn="just">
              <a:buFont typeface="Wingdings 3" charset="2"/>
              <a:buNone/>
            </a:pPr>
            <a:r>
              <a:rPr lang="en-US" sz="3200" b="1" dirty="0">
                <a:solidFill>
                  <a:schemeClr val="bg1"/>
                </a:solidFill>
                <a:latin typeface="Glacial Indifference" panose="020B0604020202020204" charset="0"/>
              </a:rPr>
              <a:t>Data Visualization for Representation (Module 4)</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accent1">
                  <a:lumMod val="60000"/>
                  <a:lumOff val="40000"/>
                </a:schemeClr>
              </a:buClr>
              <a:buFont typeface="Wingdings" panose="05000000000000000000" pitchFamily="2" charset="2"/>
              <a:buChar char="Ø"/>
            </a:pPr>
            <a:r>
              <a:rPr lang="en-US" sz="2800" dirty="0">
                <a:solidFill>
                  <a:schemeClr val="bg1"/>
                </a:solidFill>
                <a:latin typeface="Glacial Indifference" panose="020B0604020202020204" charset="0"/>
              </a:rPr>
              <a:t>Created meaningful visualizations (e.g., bar plots, heatmaps) to highlight insights like player effectiveness, team strategies, and auction trends.</a:t>
            </a:r>
          </a:p>
        </p:txBody>
      </p:sp>
      <p:sp>
        <p:nvSpPr>
          <p:cNvPr id="4" name="Slide Number Placeholder 3">
            <a:extLst>
              <a:ext uri="{FF2B5EF4-FFF2-40B4-BE49-F238E27FC236}">
                <a16:creationId xmlns:a16="http://schemas.microsoft.com/office/drawing/2014/main" id="{4F7FADB8-8610-E027-E425-CF818F25425E}"/>
              </a:ext>
            </a:extLst>
          </p:cNvPr>
          <p:cNvSpPr>
            <a:spLocks noGrp="1"/>
          </p:cNvSpPr>
          <p:nvPr>
            <p:ph type="sldNum" sz="quarter" idx="12"/>
          </p:nvPr>
        </p:nvSpPr>
        <p:spPr/>
        <p:txBody>
          <a:bodyPr/>
          <a:lstStyle/>
          <a:p>
            <a:r>
              <a:rPr lang="en-US"/>
              <a:t>Slide - </a:t>
            </a:r>
            <a:fld id="{B6F15528-21DE-4FAA-801E-634DDDAF4B2B}" type="slidenum">
              <a:rPr lang="en-US" smtClean="0"/>
              <a:pPr/>
              <a:t>13</a:t>
            </a:fld>
            <a:endParaRPr lang="en-US" dirty="0"/>
          </a:p>
        </p:txBody>
      </p:sp>
    </p:spTree>
    <p:extLst>
      <p:ext uri="{BB962C8B-B14F-4D97-AF65-F5344CB8AC3E}">
        <p14:creationId xmlns:p14="http://schemas.microsoft.com/office/powerpoint/2010/main" val="2372504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CEA06-FD7D-1B1A-E24E-ACA9FC416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76E60-22CB-9FE3-464E-517B91290C11}"/>
              </a:ext>
            </a:extLst>
          </p:cNvPr>
          <p:cNvSpPr>
            <a:spLocks noGrp="1"/>
          </p:cNvSpPr>
          <p:nvPr>
            <p:ph type="title"/>
          </p:nvPr>
        </p:nvSpPr>
        <p:spPr/>
        <p:txBody>
          <a:bodyPr/>
          <a:lstStyle/>
          <a:p>
            <a:r>
              <a:rPr lang="en-US" dirty="0"/>
              <a:t>MODULE DESCRIPTION</a:t>
            </a:r>
            <a:endParaRPr lang="en-SG" dirty="0"/>
          </a:p>
        </p:txBody>
      </p:sp>
      <p:sp>
        <p:nvSpPr>
          <p:cNvPr id="4" name="Slide Number Placeholder 3">
            <a:extLst>
              <a:ext uri="{FF2B5EF4-FFF2-40B4-BE49-F238E27FC236}">
                <a16:creationId xmlns:a16="http://schemas.microsoft.com/office/drawing/2014/main" id="{A11FEEB6-992C-46DE-8B81-8A690C28569E}"/>
              </a:ext>
            </a:extLst>
          </p:cNvPr>
          <p:cNvSpPr>
            <a:spLocks noGrp="1"/>
          </p:cNvSpPr>
          <p:nvPr>
            <p:ph type="sldNum" sz="quarter" idx="12"/>
          </p:nvPr>
        </p:nvSpPr>
        <p:spPr/>
        <p:txBody>
          <a:bodyPr/>
          <a:lstStyle/>
          <a:p>
            <a:r>
              <a:rPr lang="en-US"/>
              <a:t>Slide - </a:t>
            </a:r>
            <a:fld id="{B6F15528-21DE-4FAA-801E-634DDDAF4B2B}" type="slidenum">
              <a:rPr lang="en-US" smtClean="0"/>
              <a:pPr/>
              <a:t>14</a:t>
            </a:fld>
            <a:endParaRPr lang="en-US" dirty="0"/>
          </a:p>
        </p:txBody>
      </p:sp>
      <p:sp>
        <p:nvSpPr>
          <p:cNvPr id="5" name="Content Placeholder 2">
            <a:extLst>
              <a:ext uri="{FF2B5EF4-FFF2-40B4-BE49-F238E27FC236}">
                <a16:creationId xmlns:a16="http://schemas.microsoft.com/office/drawing/2014/main" id="{F02DF035-BF5A-B757-DEC8-E804BD4855E3}"/>
              </a:ext>
            </a:extLst>
          </p:cNvPr>
          <p:cNvSpPr txBox="1">
            <a:spLocks/>
          </p:cNvSpPr>
          <p:nvPr/>
        </p:nvSpPr>
        <p:spPr>
          <a:xfrm>
            <a:off x="1600200" y="1638299"/>
            <a:ext cx="14630400" cy="8044987"/>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r>
              <a:rPr lang="en-US" sz="3200" b="1" dirty="0">
                <a:solidFill>
                  <a:schemeClr val="bg1"/>
                </a:solidFill>
                <a:latin typeface="Glacial Indifference" panose="020B0604020202020204" charset="0"/>
              </a:rPr>
              <a:t>Data Visualization for Representation (Module 4)</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accent1">
                  <a:lumMod val="60000"/>
                  <a:lumOff val="40000"/>
                </a:schemeClr>
              </a:buClr>
              <a:buFont typeface="Wingdings" panose="05000000000000000000" pitchFamily="2" charset="2"/>
              <a:buChar char="Ø"/>
            </a:pPr>
            <a:r>
              <a:rPr lang="en-US" sz="2800" dirty="0">
                <a:solidFill>
                  <a:schemeClr val="bg1"/>
                </a:solidFill>
                <a:latin typeface="Glacial Indifference" panose="020B0604020202020204" charset="0"/>
              </a:rPr>
              <a:t>Created meaningful visualizations (e.g., bar plots, heatmaps) to highlight insights like player effectiveness, team strategies, and auction trends.</a:t>
            </a:r>
          </a:p>
          <a:p>
            <a:pPr marL="0" indent="0" algn="just">
              <a:buFont typeface="Wingdings 3" charset="2"/>
              <a:buNone/>
            </a:pPr>
            <a:endParaRPr lang="en-US" sz="2800" b="1" dirty="0">
              <a:solidFill>
                <a:schemeClr val="bg1"/>
              </a:solidFill>
              <a:latin typeface="Glacial Indifference" panose="020B0604020202020204" charset="0"/>
            </a:endParaRPr>
          </a:p>
          <a:p>
            <a:pPr marL="0" indent="0" algn="just">
              <a:buFont typeface="Wingdings 3" charset="2"/>
              <a:buNone/>
            </a:pPr>
            <a:r>
              <a:rPr lang="en-US" sz="3200" b="1" dirty="0">
                <a:solidFill>
                  <a:schemeClr val="bg1"/>
                </a:solidFill>
                <a:latin typeface="Glacial Indifference" panose="020B0604020202020204" charset="0"/>
              </a:rPr>
              <a:t>Insights Extraction (Module 5)</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accent1">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Identified top-performing players and roles based on visual and statistical analysis.</a:t>
            </a:r>
          </a:p>
          <a:p>
            <a:pPr algn="just">
              <a:buClr>
                <a:schemeClr val="accent1">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Derived actionable insights for forming the "Best XI" players by evaluating player contributions and team balance.</a:t>
            </a:r>
          </a:p>
          <a:p>
            <a:pPr marL="0" indent="0" algn="just">
              <a:buFont typeface="Wingdings 3" charset="2"/>
              <a:buNone/>
            </a:pPr>
            <a:endParaRPr lang="en-US" sz="2800" b="1" dirty="0">
              <a:solidFill>
                <a:schemeClr val="bg1"/>
              </a:solidFill>
              <a:latin typeface="Glacial Indifference" panose="020B0604020202020204" charset="0"/>
            </a:endParaRPr>
          </a:p>
          <a:p>
            <a:pPr marL="0" indent="0" algn="just">
              <a:buFont typeface="Wingdings 3" charset="2"/>
              <a:buNone/>
            </a:pPr>
            <a:r>
              <a:rPr lang="en-US" sz="3200" b="1" dirty="0">
                <a:solidFill>
                  <a:schemeClr val="bg1"/>
                </a:solidFill>
                <a:latin typeface="Glacial Indifference" panose="020B0604020202020204" charset="0"/>
              </a:rPr>
              <a:t>Formulating the Best XI (Module 6)</a:t>
            </a:r>
          </a:p>
          <a:p>
            <a:pPr marL="0" indent="0" algn="just">
              <a:buFont typeface="Wingdings 3" charset="2"/>
              <a:buNone/>
            </a:pPr>
            <a:endParaRPr lang="en-US" sz="2800" b="1" dirty="0">
              <a:solidFill>
                <a:schemeClr val="bg1"/>
              </a:solidFill>
              <a:latin typeface="Glacial Indifference" panose="020B0604020202020204" charset="0"/>
            </a:endParaRPr>
          </a:p>
          <a:p>
            <a:pPr algn="just">
              <a:buClr>
                <a:schemeClr val="accent1">
                  <a:lumMod val="40000"/>
                  <a:lumOff val="60000"/>
                </a:schemeClr>
              </a:buClr>
              <a:buFont typeface="Wingdings" panose="05000000000000000000" pitchFamily="2" charset="2"/>
              <a:buChar char="Ø"/>
            </a:pPr>
            <a:r>
              <a:rPr lang="en-US" sz="2800" dirty="0">
                <a:solidFill>
                  <a:schemeClr val="bg1"/>
                </a:solidFill>
                <a:latin typeface="Glacial Indifference" panose="020B0604020202020204" charset="0"/>
              </a:rPr>
              <a:t>Based on the analysis, finalized an optimal combination of 11 players, including the required balance of batsmen, bowlers, all-rounders, and wicketkeepers.</a:t>
            </a:r>
          </a:p>
          <a:p>
            <a:pPr marL="0" indent="0" algn="just">
              <a:buFont typeface="Wingdings 3" charset="2"/>
              <a:buNone/>
            </a:pPr>
            <a:endParaRPr lang="en-US" sz="2800" b="1" dirty="0">
              <a:solidFill>
                <a:schemeClr val="bg1"/>
              </a:solidFill>
              <a:latin typeface="Glacial Indifference" panose="020B0604020202020204" charset="0"/>
            </a:endParaRPr>
          </a:p>
        </p:txBody>
      </p:sp>
    </p:spTree>
    <p:extLst>
      <p:ext uri="{BB962C8B-B14F-4D97-AF65-F5344CB8AC3E}">
        <p14:creationId xmlns:p14="http://schemas.microsoft.com/office/powerpoint/2010/main" val="3032464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F45DC-B0AA-037F-BEAD-EDB3BBFAC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5D043-7DAF-82D7-5247-30C77CC2013B}"/>
              </a:ext>
            </a:extLst>
          </p:cNvPr>
          <p:cNvSpPr>
            <a:spLocks noGrp="1"/>
          </p:cNvSpPr>
          <p:nvPr>
            <p:ph type="title"/>
          </p:nvPr>
        </p:nvSpPr>
        <p:spPr/>
        <p:txBody>
          <a:bodyPr/>
          <a:lstStyle/>
          <a:p>
            <a:r>
              <a:rPr lang="en-US" dirty="0"/>
              <a:t>MODULE DESCRIPTION</a:t>
            </a:r>
            <a:endParaRPr lang="en-SG" dirty="0"/>
          </a:p>
        </p:txBody>
      </p:sp>
      <p:sp>
        <p:nvSpPr>
          <p:cNvPr id="4" name="Slide Number Placeholder 3">
            <a:extLst>
              <a:ext uri="{FF2B5EF4-FFF2-40B4-BE49-F238E27FC236}">
                <a16:creationId xmlns:a16="http://schemas.microsoft.com/office/drawing/2014/main" id="{94D6C1E7-A7C5-3244-46C1-B08F15B5EB9F}"/>
              </a:ext>
            </a:extLst>
          </p:cNvPr>
          <p:cNvSpPr>
            <a:spLocks noGrp="1"/>
          </p:cNvSpPr>
          <p:nvPr>
            <p:ph type="sldNum" sz="quarter" idx="12"/>
          </p:nvPr>
        </p:nvSpPr>
        <p:spPr/>
        <p:txBody>
          <a:bodyPr/>
          <a:lstStyle/>
          <a:p>
            <a:r>
              <a:rPr lang="en-US"/>
              <a:t>Slide - </a:t>
            </a:r>
            <a:fld id="{B6F15528-21DE-4FAA-801E-634DDDAF4B2B}" type="slidenum">
              <a:rPr lang="en-US" smtClean="0"/>
              <a:pPr/>
              <a:t>15</a:t>
            </a:fld>
            <a:endParaRPr lang="en-US" dirty="0"/>
          </a:p>
        </p:txBody>
      </p:sp>
      <p:sp>
        <p:nvSpPr>
          <p:cNvPr id="3" name="Content Placeholder 2">
            <a:extLst>
              <a:ext uri="{FF2B5EF4-FFF2-40B4-BE49-F238E27FC236}">
                <a16:creationId xmlns:a16="http://schemas.microsoft.com/office/drawing/2014/main" id="{B88E6346-5AE3-DEE2-0D7D-303C9CB79931}"/>
              </a:ext>
            </a:extLst>
          </p:cNvPr>
          <p:cNvSpPr txBox="1">
            <a:spLocks/>
          </p:cNvSpPr>
          <p:nvPr/>
        </p:nvSpPr>
        <p:spPr>
          <a:xfrm>
            <a:off x="1219200" y="2247900"/>
            <a:ext cx="15230272" cy="3858688"/>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endParaRPr lang="en-US" sz="2800" dirty="0">
              <a:solidFill>
                <a:schemeClr val="bg1"/>
              </a:solidFill>
              <a:latin typeface="Glacial Indifference" panose="020B0604020202020204" charset="0"/>
            </a:endParaRPr>
          </a:p>
          <a:p>
            <a:pPr marL="0" indent="0" algn="just">
              <a:buNone/>
            </a:pPr>
            <a:r>
              <a:rPr lang="en-US" sz="3200" b="1" dirty="0">
                <a:solidFill>
                  <a:schemeClr val="bg1"/>
                </a:solidFill>
                <a:latin typeface="Glacial Indifference" panose="020B0604020202020204" charset="0"/>
              </a:rPr>
              <a:t>Power BI Dashboard</a:t>
            </a:r>
          </a:p>
          <a:p>
            <a:pPr algn="just"/>
            <a:endParaRPr lang="en-US" sz="2800" dirty="0">
              <a:solidFill>
                <a:schemeClr val="bg1"/>
              </a:solidFill>
              <a:latin typeface="Glacial Indifference" panose="020B0604020202020204" charset="0"/>
            </a:endParaRPr>
          </a:p>
          <a:p>
            <a:pPr algn="just">
              <a:buClr>
                <a:schemeClr val="accent1">
                  <a:lumMod val="40000"/>
                  <a:lumOff val="60000"/>
                </a:schemeClr>
              </a:buClr>
            </a:pPr>
            <a:r>
              <a:rPr lang="en-US" sz="2800" dirty="0">
                <a:solidFill>
                  <a:schemeClr val="bg1"/>
                </a:solidFill>
                <a:latin typeface="Glacial Indifference" panose="020B0604020202020204" charset="0"/>
              </a:rPr>
              <a:t>Created an interactive Power BI dashboard summarizing team and player performance trends from IPL seasons up to 2022.</a:t>
            </a:r>
          </a:p>
          <a:p>
            <a:pPr algn="just">
              <a:buClr>
                <a:schemeClr val="accent1">
                  <a:lumMod val="40000"/>
                  <a:lumOff val="60000"/>
                </a:schemeClr>
              </a:buClr>
            </a:pPr>
            <a:r>
              <a:rPr lang="en-US" sz="2800" dirty="0">
                <a:solidFill>
                  <a:schemeClr val="bg1"/>
                </a:solidFill>
                <a:latin typeface="Glacial Indifference" panose="020B0604020202020204" charset="0"/>
              </a:rPr>
              <a:t>Enabled dynamic filtering to explore detailed player stats and team metrics.</a:t>
            </a:r>
          </a:p>
        </p:txBody>
      </p:sp>
    </p:spTree>
    <p:extLst>
      <p:ext uri="{BB962C8B-B14F-4D97-AF65-F5344CB8AC3E}">
        <p14:creationId xmlns:p14="http://schemas.microsoft.com/office/powerpoint/2010/main" val="3990286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D9B43-06FD-E7E3-FA2D-98A601E78FB6}"/>
              </a:ext>
            </a:extLst>
          </p:cNvPr>
          <p:cNvSpPr>
            <a:spLocks noGrp="1"/>
          </p:cNvSpPr>
          <p:nvPr>
            <p:ph type="title"/>
          </p:nvPr>
        </p:nvSpPr>
        <p:spPr/>
        <p:txBody>
          <a:bodyPr/>
          <a:lstStyle/>
          <a:p>
            <a:r>
              <a:rPr lang="en-US" dirty="0"/>
              <a:t>SYSTEM REQUIREMENTS</a:t>
            </a:r>
            <a:endParaRPr lang="en-SG" dirty="0"/>
          </a:p>
        </p:txBody>
      </p:sp>
      <p:sp>
        <p:nvSpPr>
          <p:cNvPr id="3" name="Slide Number Placeholder 2">
            <a:extLst>
              <a:ext uri="{FF2B5EF4-FFF2-40B4-BE49-F238E27FC236}">
                <a16:creationId xmlns:a16="http://schemas.microsoft.com/office/drawing/2014/main" id="{2036E5F8-9C1E-2DB4-9E7D-0EEB5FB894F4}"/>
              </a:ext>
            </a:extLst>
          </p:cNvPr>
          <p:cNvSpPr>
            <a:spLocks noGrp="1"/>
          </p:cNvSpPr>
          <p:nvPr>
            <p:ph type="sldNum" sz="quarter" idx="11"/>
          </p:nvPr>
        </p:nvSpPr>
        <p:spPr/>
        <p:txBody>
          <a:bodyPr/>
          <a:lstStyle/>
          <a:p>
            <a:r>
              <a:rPr lang="en-US"/>
              <a:t>Slide - </a:t>
            </a:r>
            <a:fld id="{B6F15528-21DE-4FAA-801E-634DDDAF4B2B}" type="slidenum">
              <a:rPr lang="en-US" smtClean="0"/>
              <a:pPr/>
              <a:t>16</a:t>
            </a:fld>
            <a:endParaRPr lang="en-US" dirty="0"/>
          </a:p>
        </p:txBody>
      </p:sp>
      <p:sp>
        <p:nvSpPr>
          <p:cNvPr id="4" name="Content Placeholder 2">
            <a:extLst>
              <a:ext uri="{FF2B5EF4-FFF2-40B4-BE49-F238E27FC236}">
                <a16:creationId xmlns:a16="http://schemas.microsoft.com/office/drawing/2014/main" id="{B522679A-D5AF-0FEE-698D-D0869E9B9156}"/>
              </a:ext>
            </a:extLst>
          </p:cNvPr>
          <p:cNvSpPr txBox="1">
            <a:spLocks/>
          </p:cNvSpPr>
          <p:nvPr/>
        </p:nvSpPr>
        <p:spPr>
          <a:xfrm>
            <a:off x="1224516" y="2065023"/>
            <a:ext cx="6781800" cy="411480"/>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ctr">
              <a:buFont typeface="Wingdings 3" charset="2"/>
              <a:buNone/>
            </a:pPr>
            <a:r>
              <a:rPr lang="en-US" sz="2800" b="1" dirty="0">
                <a:solidFill>
                  <a:schemeClr val="bg1"/>
                </a:solidFill>
                <a:latin typeface="Glacial Indifference" panose="020B0604020202020204" charset="0"/>
              </a:rPr>
              <a:t>Hardware Requirements</a:t>
            </a:r>
            <a:endParaRPr lang="en-US" sz="2800" dirty="0">
              <a:solidFill>
                <a:schemeClr val="bg1"/>
              </a:solidFill>
              <a:latin typeface="Glacial Indifference" panose="020B0604020202020204" charset="0"/>
            </a:endParaRPr>
          </a:p>
        </p:txBody>
      </p:sp>
      <p:sp>
        <p:nvSpPr>
          <p:cNvPr id="6" name="Content Placeholder 2">
            <a:extLst>
              <a:ext uri="{FF2B5EF4-FFF2-40B4-BE49-F238E27FC236}">
                <a16:creationId xmlns:a16="http://schemas.microsoft.com/office/drawing/2014/main" id="{1C22A14A-D4C3-661F-0EFA-29ED6FE024E3}"/>
              </a:ext>
            </a:extLst>
          </p:cNvPr>
          <p:cNvSpPr txBox="1">
            <a:spLocks/>
          </p:cNvSpPr>
          <p:nvPr/>
        </p:nvSpPr>
        <p:spPr>
          <a:xfrm>
            <a:off x="11236842" y="2065023"/>
            <a:ext cx="5029200" cy="411480"/>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ctr">
              <a:buFont typeface="Wingdings 3" charset="2"/>
              <a:buNone/>
            </a:pPr>
            <a:r>
              <a:rPr lang="en-US" sz="2800" b="1" dirty="0">
                <a:solidFill>
                  <a:schemeClr val="bg1"/>
                </a:solidFill>
                <a:latin typeface="Glacial Indifference" panose="020B0604020202020204" charset="0"/>
              </a:rPr>
              <a:t>Software Requirements</a:t>
            </a:r>
            <a:endParaRPr lang="en-US" sz="2800" dirty="0">
              <a:solidFill>
                <a:schemeClr val="bg1"/>
              </a:solidFill>
              <a:latin typeface="Glacial Indifference" panose="020B0604020202020204" charset="0"/>
            </a:endParaRPr>
          </a:p>
        </p:txBody>
      </p:sp>
      <p:graphicFrame>
        <p:nvGraphicFramePr>
          <p:cNvPr id="13" name="Table 12">
            <a:extLst>
              <a:ext uri="{FF2B5EF4-FFF2-40B4-BE49-F238E27FC236}">
                <a16:creationId xmlns:a16="http://schemas.microsoft.com/office/drawing/2014/main" id="{55849EEA-4910-09AF-0FC0-3CCDD3877340}"/>
              </a:ext>
            </a:extLst>
          </p:cNvPr>
          <p:cNvGraphicFramePr>
            <a:graphicFrameLocks noGrp="1"/>
          </p:cNvGraphicFramePr>
          <p:nvPr>
            <p:extLst>
              <p:ext uri="{D42A27DB-BD31-4B8C-83A1-F6EECF244321}">
                <p14:modId xmlns:p14="http://schemas.microsoft.com/office/powerpoint/2010/main" val="2897066756"/>
              </p:ext>
            </p:extLst>
          </p:nvPr>
        </p:nvGraphicFramePr>
        <p:xfrm>
          <a:off x="762000" y="2979418"/>
          <a:ext cx="7391400" cy="5440680"/>
        </p:xfrm>
        <a:graphic>
          <a:graphicData uri="http://schemas.openxmlformats.org/drawingml/2006/table">
            <a:tbl>
              <a:tblPr>
                <a:tableStyleId>{35758FB7-9AC5-4552-8A53-C91805E547FA}</a:tableStyleId>
              </a:tblPr>
              <a:tblGrid>
                <a:gridCol w="3695700">
                  <a:extLst>
                    <a:ext uri="{9D8B030D-6E8A-4147-A177-3AD203B41FA5}">
                      <a16:colId xmlns:a16="http://schemas.microsoft.com/office/drawing/2014/main" val="672280695"/>
                    </a:ext>
                  </a:extLst>
                </a:gridCol>
                <a:gridCol w="3695700">
                  <a:extLst>
                    <a:ext uri="{9D8B030D-6E8A-4147-A177-3AD203B41FA5}">
                      <a16:colId xmlns:a16="http://schemas.microsoft.com/office/drawing/2014/main" val="3099110592"/>
                    </a:ext>
                  </a:extLst>
                </a:gridCol>
              </a:tblGrid>
              <a:tr h="745532">
                <a:tc>
                  <a:txBody>
                    <a:bodyPr/>
                    <a:lstStyle/>
                    <a:p>
                      <a:r>
                        <a:rPr lang="en-IN" b="1" dirty="0">
                          <a:solidFill>
                            <a:schemeClr val="accent1">
                              <a:lumMod val="75000"/>
                            </a:schemeClr>
                          </a:solidFill>
                        </a:rPr>
                        <a:t>Specification</a:t>
                      </a:r>
                      <a:endParaRPr lang="en-IN" dirty="0">
                        <a:solidFill>
                          <a:schemeClr val="accent1">
                            <a:lumMod val="75000"/>
                          </a:schemeClr>
                        </a:solidFill>
                      </a:endParaRPr>
                    </a:p>
                  </a:txBody>
                  <a:tcPr anchor="ctr"/>
                </a:tc>
                <a:tc>
                  <a:txBody>
                    <a:bodyPr/>
                    <a:lstStyle/>
                    <a:p>
                      <a:r>
                        <a:rPr lang="en-IN" b="1" dirty="0">
                          <a:solidFill>
                            <a:schemeClr val="accent1">
                              <a:lumMod val="75000"/>
                            </a:schemeClr>
                          </a:solidFill>
                        </a:rPr>
                        <a:t>Details</a:t>
                      </a:r>
                      <a:endParaRPr lang="en-IN" dirty="0">
                        <a:solidFill>
                          <a:schemeClr val="accent1">
                            <a:lumMod val="75000"/>
                          </a:schemeClr>
                        </a:solidFill>
                      </a:endParaRPr>
                    </a:p>
                  </a:txBody>
                  <a:tcPr anchor="ctr"/>
                </a:tc>
                <a:extLst>
                  <a:ext uri="{0D108BD9-81ED-4DB2-BD59-A6C34878D82A}">
                    <a16:rowId xmlns:a16="http://schemas.microsoft.com/office/drawing/2014/main" val="3766403727"/>
                  </a:ext>
                </a:extLst>
              </a:tr>
              <a:tr h="987404">
                <a:tc>
                  <a:txBody>
                    <a:bodyPr/>
                    <a:lstStyle/>
                    <a:p>
                      <a:r>
                        <a:rPr lang="en-IN" b="1"/>
                        <a:t>Processor</a:t>
                      </a:r>
                      <a:endParaRPr lang="en-IN"/>
                    </a:p>
                  </a:txBody>
                  <a:tcPr anchor="ctr"/>
                </a:tc>
                <a:tc>
                  <a:txBody>
                    <a:bodyPr/>
                    <a:lstStyle/>
                    <a:p>
                      <a:r>
                        <a:rPr lang="en-US"/>
                        <a:t>Intel Core i5 or AMD (4 cores), supporting parallel tasks</a:t>
                      </a:r>
                    </a:p>
                  </a:txBody>
                  <a:tcPr anchor="ctr"/>
                </a:tc>
                <a:extLst>
                  <a:ext uri="{0D108BD9-81ED-4DB2-BD59-A6C34878D82A}">
                    <a16:rowId xmlns:a16="http://schemas.microsoft.com/office/drawing/2014/main" val="2280354093"/>
                  </a:ext>
                </a:extLst>
              </a:tr>
              <a:tr h="987404">
                <a:tc>
                  <a:txBody>
                    <a:bodyPr/>
                    <a:lstStyle/>
                    <a:p>
                      <a:r>
                        <a:rPr lang="en-IN" b="1"/>
                        <a:t>RAM</a:t>
                      </a:r>
                      <a:endParaRPr lang="en-IN"/>
                    </a:p>
                  </a:txBody>
                  <a:tcPr anchor="ctr"/>
                </a:tc>
                <a:tc>
                  <a:txBody>
                    <a:bodyPr/>
                    <a:lstStyle/>
                    <a:p>
                      <a:r>
                        <a:rPr lang="en-IN" dirty="0"/>
                        <a:t>8 GB DDR4 for handling medium datasets</a:t>
                      </a:r>
                    </a:p>
                  </a:txBody>
                  <a:tcPr anchor="ctr"/>
                </a:tc>
                <a:extLst>
                  <a:ext uri="{0D108BD9-81ED-4DB2-BD59-A6C34878D82A}">
                    <a16:rowId xmlns:a16="http://schemas.microsoft.com/office/drawing/2014/main" val="3323935658"/>
                  </a:ext>
                </a:extLst>
              </a:tr>
              <a:tr h="745532">
                <a:tc>
                  <a:txBody>
                    <a:bodyPr/>
                    <a:lstStyle/>
                    <a:p>
                      <a:r>
                        <a:rPr lang="en-IN" b="1"/>
                        <a:t>Storage</a:t>
                      </a:r>
                      <a:endParaRPr lang="en-IN"/>
                    </a:p>
                  </a:txBody>
                  <a:tcPr anchor="ctr"/>
                </a:tc>
                <a:tc>
                  <a:txBody>
                    <a:bodyPr/>
                    <a:lstStyle/>
                    <a:p>
                      <a:r>
                        <a:rPr lang="en-IN"/>
                        <a:t>256 GB SSD for fast data access</a:t>
                      </a:r>
                    </a:p>
                  </a:txBody>
                  <a:tcPr anchor="ctr"/>
                </a:tc>
                <a:extLst>
                  <a:ext uri="{0D108BD9-81ED-4DB2-BD59-A6C34878D82A}">
                    <a16:rowId xmlns:a16="http://schemas.microsoft.com/office/drawing/2014/main" val="1431098011"/>
                  </a:ext>
                </a:extLst>
              </a:tr>
              <a:tr h="987404">
                <a:tc>
                  <a:txBody>
                    <a:bodyPr/>
                    <a:lstStyle/>
                    <a:p>
                      <a:r>
                        <a:rPr lang="en-IN" b="1"/>
                        <a:t>Graphics Card</a:t>
                      </a:r>
                      <a:endParaRPr lang="en-IN"/>
                    </a:p>
                  </a:txBody>
                  <a:tcPr anchor="ctr"/>
                </a:tc>
                <a:tc>
                  <a:txBody>
                    <a:bodyPr/>
                    <a:lstStyle/>
                    <a:p>
                      <a:r>
                        <a:rPr lang="en-US"/>
                        <a:t>Integrated GPU (dedicated optional for intensive Power BI visualizations)</a:t>
                      </a:r>
                    </a:p>
                  </a:txBody>
                  <a:tcPr anchor="ctr"/>
                </a:tc>
                <a:extLst>
                  <a:ext uri="{0D108BD9-81ED-4DB2-BD59-A6C34878D82A}">
                    <a16:rowId xmlns:a16="http://schemas.microsoft.com/office/drawing/2014/main" val="11341108"/>
                  </a:ext>
                </a:extLst>
              </a:tr>
              <a:tr h="987404">
                <a:tc>
                  <a:txBody>
                    <a:bodyPr/>
                    <a:lstStyle/>
                    <a:p>
                      <a:r>
                        <a:rPr lang="en-IN" b="1" dirty="0"/>
                        <a:t>Internet</a:t>
                      </a:r>
                      <a:endParaRPr lang="en-IN" dirty="0"/>
                    </a:p>
                  </a:txBody>
                  <a:tcPr anchor="ctr"/>
                </a:tc>
                <a:tc>
                  <a:txBody>
                    <a:bodyPr/>
                    <a:lstStyle/>
                    <a:p>
                      <a:r>
                        <a:rPr lang="en-US" dirty="0"/>
                        <a:t>Stable, high-speed connection for web scraping</a:t>
                      </a:r>
                    </a:p>
                  </a:txBody>
                  <a:tcPr anchor="ctr"/>
                </a:tc>
                <a:extLst>
                  <a:ext uri="{0D108BD9-81ED-4DB2-BD59-A6C34878D82A}">
                    <a16:rowId xmlns:a16="http://schemas.microsoft.com/office/drawing/2014/main" val="1644371965"/>
                  </a:ext>
                </a:extLst>
              </a:tr>
            </a:tbl>
          </a:graphicData>
        </a:graphic>
      </p:graphicFrame>
      <p:graphicFrame>
        <p:nvGraphicFramePr>
          <p:cNvPr id="14" name="Table 13">
            <a:extLst>
              <a:ext uri="{FF2B5EF4-FFF2-40B4-BE49-F238E27FC236}">
                <a16:creationId xmlns:a16="http://schemas.microsoft.com/office/drawing/2014/main" id="{78EB3418-3B33-4C83-C393-9FAB9FEC2498}"/>
              </a:ext>
            </a:extLst>
          </p:cNvPr>
          <p:cNvGraphicFramePr>
            <a:graphicFrameLocks noGrp="1"/>
          </p:cNvGraphicFramePr>
          <p:nvPr>
            <p:extLst>
              <p:ext uri="{D42A27DB-BD31-4B8C-83A1-F6EECF244321}">
                <p14:modId xmlns:p14="http://schemas.microsoft.com/office/powerpoint/2010/main" val="1144486458"/>
              </p:ext>
            </p:extLst>
          </p:nvPr>
        </p:nvGraphicFramePr>
        <p:xfrm>
          <a:off x="9448800" y="2871448"/>
          <a:ext cx="8077200" cy="5548650"/>
        </p:xfrm>
        <a:graphic>
          <a:graphicData uri="http://schemas.openxmlformats.org/drawingml/2006/table">
            <a:tbl>
              <a:tblPr>
                <a:tableStyleId>{35758FB7-9AC5-4552-8A53-C91805E547FA}</a:tableStyleId>
              </a:tblPr>
              <a:tblGrid>
                <a:gridCol w="4038600">
                  <a:extLst>
                    <a:ext uri="{9D8B030D-6E8A-4147-A177-3AD203B41FA5}">
                      <a16:colId xmlns:a16="http://schemas.microsoft.com/office/drawing/2014/main" val="3199759110"/>
                    </a:ext>
                  </a:extLst>
                </a:gridCol>
                <a:gridCol w="4038600">
                  <a:extLst>
                    <a:ext uri="{9D8B030D-6E8A-4147-A177-3AD203B41FA5}">
                      <a16:colId xmlns:a16="http://schemas.microsoft.com/office/drawing/2014/main" val="3880540379"/>
                    </a:ext>
                  </a:extLst>
                </a:gridCol>
              </a:tblGrid>
              <a:tr h="659631">
                <a:tc>
                  <a:txBody>
                    <a:bodyPr/>
                    <a:lstStyle/>
                    <a:p>
                      <a:r>
                        <a:rPr lang="en-IN" b="1" dirty="0">
                          <a:solidFill>
                            <a:schemeClr val="accent1">
                              <a:lumMod val="75000"/>
                            </a:schemeClr>
                          </a:solidFill>
                        </a:rPr>
                        <a:t>Category</a:t>
                      </a:r>
                      <a:endParaRPr lang="en-IN" dirty="0">
                        <a:solidFill>
                          <a:schemeClr val="accent1">
                            <a:lumMod val="75000"/>
                          </a:schemeClr>
                        </a:solidFill>
                      </a:endParaRPr>
                    </a:p>
                  </a:txBody>
                  <a:tcPr anchor="ctr"/>
                </a:tc>
                <a:tc>
                  <a:txBody>
                    <a:bodyPr/>
                    <a:lstStyle/>
                    <a:p>
                      <a:r>
                        <a:rPr lang="en-IN" b="1" dirty="0">
                          <a:solidFill>
                            <a:schemeClr val="accent1">
                              <a:lumMod val="75000"/>
                            </a:schemeClr>
                          </a:solidFill>
                        </a:rPr>
                        <a:t>Tools/Technologies</a:t>
                      </a:r>
                      <a:endParaRPr lang="en-IN" dirty="0">
                        <a:solidFill>
                          <a:schemeClr val="accent1">
                            <a:lumMod val="75000"/>
                          </a:schemeClr>
                        </a:solidFill>
                      </a:endParaRPr>
                    </a:p>
                  </a:txBody>
                  <a:tcPr anchor="ctr"/>
                </a:tc>
                <a:extLst>
                  <a:ext uri="{0D108BD9-81ED-4DB2-BD59-A6C34878D82A}">
                    <a16:rowId xmlns:a16="http://schemas.microsoft.com/office/drawing/2014/main" val="2070896415"/>
                  </a:ext>
                </a:extLst>
              </a:tr>
              <a:tr h="806074">
                <a:tc>
                  <a:txBody>
                    <a:bodyPr/>
                    <a:lstStyle/>
                    <a:p>
                      <a:r>
                        <a:rPr lang="en-IN" b="1"/>
                        <a:t>Operating System</a:t>
                      </a:r>
                      <a:endParaRPr lang="en-IN"/>
                    </a:p>
                  </a:txBody>
                  <a:tcPr anchor="ctr"/>
                </a:tc>
                <a:tc>
                  <a:txBody>
                    <a:bodyPr/>
                    <a:lstStyle/>
                    <a:p>
                      <a:r>
                        <a:rPr lang="en-US"/>
                        <a:t>Windows 10/11, macOS, or Linux (Linux preferred for cloud-based scraping)</a:t>
                      </a:r>
                    </a:p>
                  </a:txBody>
                  <a:tcPr anchor="ctr"/>
                </a:tc>
                <a:extLst>
                  <a:ext uri="{0D108BD9-81ED-4DB2-BD59-A6C34878D82A}">
                    <a16:rowId xmlns:a16="http://schemas.microsoft.com/office/drawing/2014/main" val="176926924"/>
                  </a:ext>
                </a:extLst>
              </a:tr>
              <a:tr h="659631">
                <a:tc>
                  <a:txBody>
                    <a:bodyPr/>
                    <a:lstStyle/>
                    <a:p>
                      <a:r>
                        <a:rPr lang="en-IN" b="1"/>
                        <a:t>Development Environment</a:t>
                      </a:r>
                      <a:endParaRPr lang="en-IN"/>
                    </a:p>
                  </a:txBody>
                  <a:tcPr anchor="ctr"/>
                </a:tc>
                <a:tc>
                  <a:txBody>
                    <a:bodyPr/>
                    <a:lstStyle/>
                    <a:p>
                      <a:r>
                        <a:rPr lang="en-IN"/>
                        <a:t>Python 3.x, Jupyter Notebooks</a:t>
                      </a:r>
                    </a:p>
                  </a:txBody>
                  <a:tcPr anchor="ctr"/>
                </a:tc>
                <a:extLst>
                  <a:ext uri="{0D108BD9-81ED-4DB2-BD59-A6C34878D82A}">
                    <a16:rowId xmlns:a16="http://schemas.microsoft.com/office/drawing/2014/main" val="1902106405"/>
                  </a:ext>
                </a:extLst>
              </a:tr>
              <a:tr h="806074">
                <a:tc>
                  <a:txBody>
                    <a:bodyPr/>
                    <a:lstStyle/>
                    <a:p>
                      <a:r>
                        <a:rPr lang="en-IN" b="1"/>
                        <a:t>Visualization Tools</a:t>
                      </a:r>
                      <a:endParaRPr lang="en-IN"/>
                    </a:p>
                  </a:txBody>
                  <a:tcPr anchor="ctr"/>
                </a:tc>
                <a:tc>
                  <a:txBody>
                    <a:bodyPr/>
                    <a:lstStyle/>
                    <a:p>
                      <a:r>
                        <a:rPr lang="en-US" dirty="0"/>
                        <a:t>Power BI Desktop, Power BI Service (Cloud)</a:t>
                      </a:r>
                    </a:p>
                  </a:txBody>
                  <a:tcPr anchor="ctr"/>
                </a:tc>
                <a:extLst>
                  <a:ext uri="{0D108BD9-81ED-4DB2-BD59-A6C34878D82A}">
                    <a16:rowId xmlns:a16="http://schemas.microsoft.com/office/drawing/2014/main" val="1239090161"/>
                  </a:ext>
                </a:extLst>
              </a:tr>
              <a:tr h="659631">
                <a:tc>
                  <a:txBody>
                    <a:bodyPr/>
                    <a:lstStyle/>
                    <a:p>
                      <a:r>
                        <a:rPr lang="en-IN" b="1"/>
                        <a:t>Python Libraries</a:t>
                      </a:r>
                      <a:endParaRPr lang="en-IN"/>
                    </a:p>
                  </a:txBody>
                  <a:tcPr anchor="ctr"/>
                </a:tc>
                <a:tc>
                  <a:txBody>
                    <a:bodyPr/>
                    <a:lstStyle/>
                    <a:p>
                      <a:r>
                        <a:rPr lang="en-IN"/>
                        <a:t>Pandas, NumPy, Matplotlib, Seaborn</a:t>
                      </a:r>
                    </a:p>
                  </a:txBody>
                  <a:tcPr anchor="ctr"/>
                </a:tc>
                <a:extLst>
                  <a:ext uri="{0D108BD9-81ED-4DB2-BD59-A6C34878D82A}">
                    <a16:rowId xmlns:a16="http://schemas.microsoft.com/office/drawing/2014/main" val="356866213"/>
                  </a:ext>
                </a:extLst>
              </a:tr>
              <a:tr h="1151535">
                <a:tc>
                  <a:txBody>
                    <a:bodyPr/>
                    <a:lstStyle/>
                    <a:p>
                      <a:r>
                        <a:rPr lang="en-IN" b="1"/>
                        <a:t>Data Storage</a:t>
                      </a:r>
                      <a:endParaRPr lang="en-IN"/>
                    </a:p>
                  </a:txBody>
                  <a:tcPr anchor="ctr"/>
                </a:tc>
                <a:tc>
                  <a:txBody>
                    <a:bodyPr/>
                    <a:lstStyle/>
                    <a:p>
                      <a:r>
                        <a:rPr lang="en-US"/>
                        <a:t>CSV, JSON (raw/processed data), MySQL/PostgreSQL (optional for large data)</a:t>
                      </a:r>
                    </a:p>
                  </a:txBody>
                  <a:tcPr anchor="ctr"/>
                </a:tc>
                <a:extLst>
                  <a:ext uri="{0D108BD9-81ED-4DB2-BD59-A6C34878D82A}">
                    <a16:rowId xmlns:a16="http://schemas.microsoft.com/office/drawing/2014/main" val="3652019736"/>
                  </a:ext>
                </a:extLst>
              </a:tr>
              <a:tr h="806074">
                <a:tc>
                  <a:txBody>
                    <a:bodyPr/>
                    <a:lstStyle/>
                    <a:p>
                      <a:r>
                        <a:rPr lang="en-IN" b="1"/>
                        <a:t>Version Control</a:t>
                      </a:r>
                      <a:endParaRPr lang="en-IN"/>
                    </a:p>
                  </a:txBody>
                  <a:tcPr anchor="ctr"/>
                </a:tc>
                <a:tc>
                  <a:txBody>
                    <a:bodyPr/>
                    <a:lstStyle/>
                    <a:p>
                      <a:r>
                        <a:rPr lang="en-US" dirty="0"/>
                        <a:t>Git/GitHub/GitLab for version control and team collaboration</a:t>
                      </a:r>
                    </a:p>
                  </a:txBody>
                  <a:tcPr anchor="ctr"/>
                </a:tc>
                <a:extLst>
                  <a:ext uri="{0D108BD9-81ED-4DB2-BD59-A6C34878D82A}">
                    <a16:rowId xmlns:a16="http://schemas.microsoft.com/office/drawing/2014/main" val="3402511359"/>
                  </a:ext>
                </a:extLst>
              </a:tr>
            </a:tbl>
          </a:graphicData>
        </a:graphic>
      </p:graphicFrame>
    </p:spTree>
    <p:extLst>
      <p:ext uri="{BB962C8B-B14F-4D97-AF65-F5344CB8AC3E}">
        <p14:creationId xmlns:p14="http://schemas.microsoft.com/office/powerpoint/2010/main" val="3067810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9B8D73-89A1-322A-AB73-5DAF92FED9EB}"/>
              </a:ext>
            </a:extLst>
          </p:cNvPr>
          <p:cNvSpPr>
            <a:spLocks noGrp="1"/>
          </p:cNvSpPr>
          <p:nvPr>
            <p:ph type="sldNum" sz="quarter" idx="12"/>
          </p:nvPr>
        </p:nvSpPr>
        <p:spPr/>
        <p:txBody>
          <a:bodyPr/>
          <a:lstStyle/>
          <a:p>
            <a:r>
              <a:rPr lang="en-US"/>
              <a:t>Slide - </a:t>
            </a:r>
            <a:fld id="{B6F15528-21DE-4FAA-801E-634DDDAF4B2B}" type="slidenum">
              <a:rPr lang="en-US" smtClean="0"/>
              <a:pPr/>
              <a:t>17</a:t>
            </a:fld>
            <a:endParaRPr lang="en-US" dirty="0"/>
          </a:p>
        </p:txBody>
      </p:sp>
      <p:graphicFrame>
        <p:nvGraphicFramePr>
          <p:cNvPr id="3" name="Table 2">
            <a:extLst>
              <a:ext uri="{FF2B5EF4-FFF2-40B4-BE49-F238E27FC236}">
                <a16:creationId xmlns:a16="http://schemas.microsoft.com/office/drawing/2014/main" id="{5EAF1D10-1E85-F80C-F5FA-618A04583138}"/>
              </a:ext>
            </a:extLst>
          </p:cNvPr>
          <p:cNvGraphicFramePr>
            <a:graphicFrameLocks noGrp="1"/>
          </p:cNvGraphicFramePr>
          <p:nvPr>
            <p:extLst>
              <p:ext uri="{D42A27DB-BD31-4B8C-83A1-F6EECF244321}">
                <p14:modId xmlns:p14="http://schemas.microsoft.com/office/powerpoint/2010/main" val="2612578202"/>
              </p:ext>
            </p:extLst>
          </p:nvPr>
        </p:nvGraphicFramePr>
        <p:xfrm>
          <a:off x="685800" y="1531225"/>
          <a:ext cx="16916400" cy="7866115"/>
        </p:xfrm>
        <a:graphic>
          <a:graphicData uri="http://schemas.openxmlformats.org/drawingml/2006/table">
            <a:tbl>
              <a:tblPr>
                <a:tableStyleId>{35758FB7-9AC5-4552-8A53-C91805E547FA}</a:tableStyleId>
              </a:tblPr>
              <a:tblGrid>
                <a:gridCol w="3352800">
                  <a:extLst>
                    <a:ext uri="{9D8B030D-6E8A-4147-A177-3AD203B41FA5}">
                      <a16:colId xmlns:a16="http://schemas.microsoft.com/office/drawing/2014/main" val="2749197127"/>
                    </a:ext>
                  </a:extLst>
                </a:gridCol>
                <a:gridCol w="6705600">
                  <a:extLst>
                    <a:ext uri="{9D8B030D-6E8A-4147-A177-3AD203B41FA5}">
                      <a16:colId xmlns:a16="http://schemas.microsoft.com/office/drawing/2014/main" val="4272112089"/>
                    </a:ext>
                  </a:extLst>
                </a:gridCol>
                <a:gridCol w="6858000">
                  <a:extLst>
                    <a:ext uri="{9D8B030D-6E8A-4147-A177-3AD203B41FA5}">
                      <a16:colId xmlns:a16="http://schemas.microsoft.com/office/drawing/2014/main" val="3038807776"/>
                    </a:ext>
                  </a:extLst>
                </a:gridCol>
              </a:tblGrid>
              <a:tr h="459475">
                <a:tc>
                  <a:txBody>
                    <a:bodyPr/>
                    <a:lstStyle/>
                    <a:p>
                      <a:r>
                        <a:rPr lang="en-IN" sz="2400" b="1" dirty="0">
                          <a:solidFill>
                            <a:schemeClr val="accent1">
                              <a:lumMod val="75000"/>
                            </a:schemeClr>
                          </a:solidFill>
                          <a:latin typeface="Times New Roman" panose="02020603050405020304" pitchFamily="18" charset="0"/>
                          <a:cs typeface="Times New Roman" panose="02020603050405020304" pitchFamily="18" charset="0"/>
                        </a:rPr>
                        <a:t>Aspect</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a:txBody>
                  <a:tcPr anchor="ctr"/>
                </a:tc>
                <a:tc>
                  <a:txBody>
                    <a:bodyPr/>
                    <a:lstStyle/>
                    <a:p>
                      <a:r>
                        <a:rPr lang="en-IN" sz="2400" b="1" dirty="0">
                          <a:solidFill>
                            <a:schemeClr val="accent1">
                              <a:lumMod val="75000"/>
                            </a:schemeClr>
                          </a:solidFill>
                          <a:latin typeface="Times New Roman" panose="02020603050405020304" pitchFamily="18" charset="0"/>
                          <a:cs typeface="Times New Roman" panose="02020603050405020304" pitchFamily="18" charset="0"/>
                        </a:rPr>
                        <a:t>Existing System</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a:txBody>
                  <a:tcPr anchor="ctr"/>
                </a:tc>
                <a:tc>
                  <a:txBody>
                    <a:bodyPr/>
                    <a:lstStyle/>
                    <a:p>
                      <a:r>
                        <a:rPr lang="en-IN" sz="2400" b="1" dirty="0">
                          <a:solidFill>
                            <a:schemeClr val="accent1">
                              <a:lumMod val="75000"/>
                            </a:schemeClr>
                          </a:solidFill>
                          <a:latin typeface="Times New Roman" panose="02020603050405020304" pitchFamily="18" charset="0"/>
                          <a:cs typeface="Times New Roman" panose="02020603050405020304" pitchFamily="18" charset="0"/>
                        </a:rPr>
                        <a:t>Proposed System</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28139396"/>
                  </a:ext>
                </a:extLst>
              </a:tr>
              <a:tr h="804081">
                <a:tc>
                  <a:txBody>
                    <a:bodyPr/>
                    <a:lstStyle/>
                    <a:p>
                      <a:r>
                        <a:rPr lang="en-IN" sz="2400" b="1" dirty="0">
                          <a:latin typeface="Times New Roman" panose="02020603050405020304" pitchFamily="18" charset="0"/>
                          <a:cs typeface="Times New Roman" panose="02020603050405020304" pitchFamily="18" charset="0"/>
                        </a:rPr>
                        <a:t>Data Collection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dirty="0">
                          <a:latin typeface="Times New Roman" panose="02020603050405020304" pitchFamily="18" charset="0"/>
                          <a:cs typeface="Times New Roman" panose="02020603050405020304" pitchFamily="18" charset="0"/>
                        </a:rPr>
                        <a:t>Manual or limited automated collection of cricket data.</a:t>
                      </a:r>
                    </a:p>
                  </a:txBody>
                  <a:tcPr anchor="ctr"/>
                </a:tc>
                <a:tc>
                  <a:txBody>
                    <a:bodyPr/>
                    <a:lstStyle/>
                    <a:p>
                      <a:r>
                        <a:rPr lang="en-US" sz="2400" dirty="0">
                          <a:latin typeface="Times New Roman" panose="02020603050405020304" pitchFamily="18" charset="0"/>
                          <a:cs typeface="Times New Roman" panose="02020603050405020304" pitchFamily="18" charset="0"/>
                        </a:rPr>
                        <a:t>Automated data scraping from online sources like ESPN </a:t>
                      </a:r>
                      <a:r>
                        <a:rPr lang="en-US" sz="2400" dirty="0" err="1">
                          <a:latin typeface="Times New Roman" panose="02020603050405020304" pitchFamily="18" charset="0"/>
                          <a:cs typeface="Times New Roman" panose="02020603050405020304" pitchFamily="18" charset="0"/>
                        </a:rPr>
                        <a:t>Cricinfo</a:t>
                      </a:r>
                      <a:r>
                        <a:rPr lang="en-US" sz="2400" dirty="0">
                          <a:latin typeface="Times New Roman" panose="02020603050405020304" pitchFamily="18" charset="0"/>
                          <a:cs typeface="Times New Roman" panose="02020603050405020304" pitchFamily="18" charset="0"/>
                        </a:rPr>
                        <a:t> using Python tools.</a:t>
                      </a:r>
                    </a:p>
                  </a:txBody>
                  <a:tcPr anchor="ctr"/>
                </a:tc>
                <a:extLst>
                  <a:ext uri="{0D108BD9-81ED-4DB2-BD59-A6C34878D82A}">
                    <a16:rowId xmlns:a16="http://schemas.microsoft.com/office/drawing/2014/main" val="1875316938"/>
                  </a:ext>
                </a:extLst>
              </a:tr>
              <a:tr h="804081">
                <a:tc>
                  <a:txBody>
                    <a:bodyPr/>
                    <a:lstStyle/>
                    <a:p>
                      <a:r>
                        <a:rPr lang="en-IN" sz="2400" b="1" dirty="0">
                          <a:latin typeface="Times New Roman" panose="02020603050405020304" pitchFamily="18" charset="0"/>
                          <a:cs typeface="Times New Roman" panose="02020603050405020304" pitchFamily="18" charset="0"/>
                        </a:rPr>
                        <a:t>Data Format</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dirty="0">
                          <a:latin typeface="Times New Roman" panose="02020603050405020304" pitchFamily="18" charset="0"/>
                          <a:cs typeface="Times New Roman" panose="02020603050405020304" pitchFamily="18" charset="0"/>
                        </a:rPr>
                        <a:t>Unstructured data scattered across multiple platforms.</a:t>
                      </a:r>
                    </a:p>
                  </a:txBody>
                  <a:tcPr anchor="ctr"/>
                </a:tc>
                <a:tc>
                  <a:txBody>
                    <a:bodyPr/>
                    <a:lstStyle/>
                    <a:p>
                      <a:r>
                        <a:rPr lang="en-US" sz="2400" dirty="0">
                          <a:latin typeface="Times New Roman" panose="02020603050405020304" pitchFamily="18" charset="0"/>
                          <a:cs typeface="Times New Roman" panose="02020603050405020304" pitchFamily="18" charset="0"/>
                        </a:rPr>
                        <a:t>Structured data stored in CSV/JSON for easy processing and analysis.</a:t>
                      </a:r>
                    </a:p>
                  </a:txBody>
                  <a:tcPr anchor="ctr"/>
                </a:tc>
                <a:extLst>
                  <a:ext uri="{0D108BD9-81ED-4DB2-BD59-A6C34878D82A}">
                    <a16:rowId xmlns:a16="http://schemas.microsoft.com/office/drawing/2014/main" val="4073417518"/>
                  </a:ext>
                </a:extLst>
              </a:tr>
              <a:tr h="804081">
                <a:tc>
                  <a:txBody>
                    <a:bodyPr/>
                    <a:lstStyle/>
                    <a:p>
                      <a:r>
                        <a:rPr lang="en-IN" sz="2400" b="1" dirty="0">
                          <a:latin typeface="Times New Roman" panose="02020603050405020304" pitchFamily="18" charset="0"/>
                          <a:cs typeface="Times New Roman" panose="02020603050405020304" pitchFamily="18" charset="0"/>
                        </a:rPr>
                        <a:t>Data Cleaning</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dirty="0">
                          <a:latin typeface="Times New Roman" panose="02020603050405020304" pitchFamily="18" charset="0"/>
                          <a:cs typeface="Times New Roman" panose="02020603050405020304" pitchFamily="18" charset="0"/>
                        </a:rPr>
                        <a:t>Minimal or no preprocessing of data, leading to inconsistencies.</a:t>
                      </a:r>
                    </a:p>
                  </a:txBody>
                  <a:tcPr anchor="ctr"/>
                </a:tc>
                <a:tc>
                  <a:txBody>
                    <a:bodyPr/>
                    <a:lstStyle/>
                    <a:p>
                      <a:r>
                        <a:rPr lang="en-US" sz="2400" dirty="0">
                          <a:latin typeface="Times New Roman" panose="02020603050405020304" pitchFamily="18" charset="0"/>
                          <a:cs typeface="Times New Roman" panose="02020603050405020304" pitchFamily="18" charset="0"/>
                        </a:rPr>
                        <a:t>Comprehensive cleaning using Python and Pandas to remove noise and standardize data.</a:t>
                      </a:r>
                    </a:p>
                  </a:txBody>
                  <a:tcPr anchor="ctr"/>
                </a:tc>
                <a:extLst>
                  <a:ext uri="{0D108BD9-81ED-4DB2-BD59-A6C34878D82A}">
                    <a16:rowId xmlns:a16="http://schemas.microsoft.com/office/drawing/2014/main" val="3181595398"/>
                  </a:ext>
                </a:extLst>
              </a:tr>
              <a:tr h="804081">
                <a:tc>
                  <a:txBody>
                    <a:bodyPr/>
                    <a:lstStyle/>
                    <a:p>
                      <a:r>
                        <a:rPr lang="en-IN" sz="2400" b="1" dirty="0">
                          <a:latin typeface="Times New Roman" panose="02020603050405020304" pitchFamily="18" charset="0"/>
                          <a:cs typeface="Times New Roman" panose="02020603050405020304" pitchFamily="18" charset="0"/>
                        </a:rPr>
                        <a:t>Insights Generation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dirty="0">
                          <a:latin typeface="Times New Roman" panose="02020603050405020304" pitchFamily="18" charset="0"/>
                          <a:cs typeface="Times New Roman" panose="02020603050405020304" pitchFamily="18" charset="0"/>
                        </a:rPr>
                        <a:t>Limited insights with manual effort and basic statistics.</a:t>
                      </a:r>
                    </a:p>
                  </a:txBody>
                  <a:tcPr anchor="ctr"/>
                </a:tc>
                <a:tc>
                  <a:txBody>
                    <a:bodyPr/>
                    <a:lstStyle/>
                    <a:p>
                      <a:r>
                        <a:rPr lang="en-US" sz="2400" dirty="0">
                          <a:latin typeface="Times New Roman" panose="02020603050405020304" pitchFamily="18" charset="0"/>
                          <a:cs typeface="Times New Roman" panose="02020603050405020304" pitchFamily="18" charset="0"/>
                        </a:rPr>
                        <a:t>Advanced EDA using Matplotlib and Seaborn for detailed trend and performance analysis.</a:t>
                      </a:r>
                    </a:p>
                  </a:txBody>
                  <a:tcPr anchor="ctr"/>
                </a:tc>
                <a:extLst>
                  <a:ext uri="{0D108BD9-81ED-4DB2-BD59-A6C34878D82A}">
                    <a16:rowId xmlns:a16="http://schemas.microsoft.com/office/drawing/2014/main" val="2476387416"/>
                  </a:ext>
                </a:extLst>
              </a:tr>
              <a:tr h="804081">
                <a:tc>
                  <a:txBody>
                    <a:bodyPr/>
                    <a:lstStyle/>
                    <a:p>
                      <a:r>
                        <a:rPr lang="en-IN" sz="2400" b="1" dirty="0">
                          <a:latin typeface="Times New Roman" panose="02020603050405020304" pitchFamily="18" charset="0"/>
                          <a:cs typeface="Times New Roman" panose="02020603050405020304" pitchFamily="18" charset="0"/>
                        </a:rPr>
                        <a:t>Visualization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IN" sz="2400" dirty="0">
                          <a:latin typeface="Times New Roman" panose="02020603050405020304" pitchFamily="18" charset="0"/>
                          <a:cs typeface="Times New Roman" panose="02020603050405020304" pitchFamily="18" charset="0"/>
                        </a:rPr>
                        <a:t>Static and non-interactive reports.</a:t>
                      </a:r>
                    </a:p>
                  </a:txBody>
                  <a:tcPr anchor="ctr"/>
                </a:tc>
                <a:tc>
                  <a:txBody>
                    <a:bodyPr/>
                    <a:lstStyle/>
                    <a:p>
                      <a:r>
                        <a:rPr lang="en-US" sz="2400" dirty="0">
                          <a:latin typeface="Times New Roman" panose="02020603050405020304" pitchFamily="18" charset="0"/>
                          <a:cs typeface="Times New Roman" panose="02020603050405020304" pitchFamily="18" charset="0"/>
                        </a:rPr>
                        <a:t>Interactive dashboards in Power BI with dynamic filtering and exploration options.</a:t>
                      </a:r>
                    </a:p>
                  </a:txBody>
                  <a:tcPr anchor="ctr"/>
                </a:tc>
                <a:extLst>
                  <a:ext uri="{0D108BD9-81ED-4DB2-BD59-A6C34878D82A}">
                    <a16:rowId xmlns:a16="http://schemas.microsoft.com/office/drawing/2014/main" val="2615944705"/>
                  </a:ext>
                </a:extLst>
              </a:tr>
              <a:tr h="804081">
                <a:tc>
                  <a:txBody>
                    <a:bodyPr/>
                    <a:lstStyle/>
                    <a:p>
                      <a:r>
                        <a:rPr lang="en-IN" sz="2400" b="1" dirty="0">
                          <a:latin typeface="Times New Roman" panose="02020603050405020304" pitchFamily="18" charset="0"/>
                          <a:cs typeface="Times New Roman" panose="02020603050405020304" pitchFamily="18" charset="0"/>
                        </a:rPr>
                        <a:t>Best XI Selection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dirty="0">
                          <a:latin typeface="Times New Roman" panose="02020603050405020304" pitchFamily="18" charset="0"/>
                          <a:cs typeface="Times New Roman" panose="02020603050405020304" pitchFamily="18" charset="0"/>
                        </a:rPr>
                        <a:t>Based on subjective judgment or limited analysis.</a:t>
                      </a:r>
                    </a:p>
                  </a:txBody>
                  <a:tcPr anchor="ctr"/>
                </a:tc>
                <a:tc>
                  <a:txBody>
                    <a:bodyPr/>
                    <a:lstStyle/>
                    <a:p>
                      <a:r>
                        <a:rPr lang="en-US" sz="2400" dirty="0">
                          <a:latin typeface="Times New Roman" panose="02020603050405020304" pitchFamily="18" charset="0"/>
                          <a:cs typeface="Times New Roman" panose="02020603050405020304" pitchFamily="18" charset="0"/>
                        </a:rPr>
                        <a:t>Data-driven selection using insights from statistical and visual analysis.</a:t>
                      </a:r>
                    </a:p>
                  </a:txBody>
                  <a:tcPr anchor="ctr"/>
                </a:tc>
                <a:extLst>
                  <a:ext uri="{0D108BD9-81ED-4DB2-BD59-A6C34878D82A}">
                    <a16:rowId xmlns:a16="http://schemas.microsoft.com/office/drawing/2014/main" val="2900313787"/>
                  </a:ext>
                </a:extLst>
              </a:tr>
              <a:tr h="804081">
                <a:tc>
                  <a:txBody>
                    <a:bodyPr/>
                    <a:lstStyle/>
                    <a:p>
                      <a:r>
                        <a:rPr lang="en-IN" sz="2400" b="1" dirty="0">
                          <a:latin typeface="Times New Roman" panose="02020603050405020304" pitchFamily="18" charset="0"/>
                          <a:cs typeface="Times New Roman" panose="02020603050405020304" pitchFamily="18" charset="0"/>
                        </a:rPr>
                        <a:t>Scalability</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a:latin typeface="Times New Roman" panose="02020603050405020304" pitchFamily="18" charset="0"/>
                          <a:cs typeface="Times New Roman" panose="02020603050405020304" pitchFamily="18" charset="0"/>
                        </a:rPr>
                        <a:t>Not scalable to handle large datasets or other sports data.</a:t>
                      </a:r>
                    </a:p>
                  </a:txBody>
                  <a:tcPr anchor="ctr"/>
                </a:tc>
                <a:tc>
                  <a:txBody>
                    <a:bodyPr/>
                    <a:lstStyle/>
                    <a:p>
                      <a:r>
                        <a:rPr lang="en-US" sz="2400" dirty="0">
                          <a:latin typeface="Times New Roman" panose="02020603050405020304" pitchFamily="18" charset="0"/>
                          <a:cs typeface="Times New Roman" panose="02020603050405020304" pitchFamily="18" charset="0"/>
                        </a:rPr>
                        <a:t>Modular design adaptable to other formats like ODIs, Tests, or even other sports.</a:t>
                      </a:r>
                    </a:p>
                  </a:txBody>
                  <a:tcPr anchor="ctr"/>
                </a:tc>
                <a:extLst>
                  <a:ext uri="{0D108BD9-81ED-4DB2-BD59-A6C34878D82A}">
                    <a16:rowId xmlns:a16="http://schemas.microsoft.com/office/drawing/2014/main" val="1153340206"/>
                  </a:ext>
                </a:extLst>
              </a:tr>
              <a:tr h="804081">
                <a:tc>
                  <a:txBody>
                    <a:bodyPr/>
                    <a:lstStyle/>
                    <a:p>
                      <a:r>
                        <a:rPr lang="en-IN" sz="2400" b="1" dirty="0">
                          <a:latin typeface="Times New Roman" panose="02020603050405020304" pitchFamily="18" charset="0"/>
                          <a:cs typeface="Times New Roman" panose="02020603050405020304" pitchFamily="18" charset="0"/>
                        </a:rPr>
                        <a:t>Efficiency</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a:latin typeface="Times New Roman" panose="02020603050405020304" pitchFamily="18" charset="0"/>
                          <a:cs typeface="Times New Roman" panose="02020603050405020304" pitchFamily="18" charset="0"/>
                        </a:rPr>
                        <a:t>Time-consuming and prone to human error.</a:t>
                      </a:r>
                    </a:p>
                  </a:txBody>
                  <a:tcPr anchor="ctr"/>
                </a:tc>
                <a:tc>
                  <a:txBody>
                    <a:bodyPr/>
                    <a:lstStyle/>
                    <a:p>
                      <a:r>
                        <a:rPr lang="en-US" sz="2400" dirty="0">
                          <a:latin typeface="Times New Roman" panose="02020603050405020304" pitchFamily="18" charset="0"/>
                          <a:cs typeface="Times New Roman" panose="02020603050405020304" pitchFamily="18" charset="0"/>
                        </a:rPr>
                        <a:t>Automated and efficient workflow for faster and more accurate analysis.</a:t>
                      </a:r>
                    </a:p>
                  </a:txBody>
                  <a:tcPr anchor="ctr"/>
                </a:tc>
                <a:extLst>
                  <a:ext uri="{0D108BD9-81ED-4DB2-BD59-A6C34878D82A}">
                    <a16:rowId xmlns:a16="http://schemas.microsoft.com/office/drawing/2014/main" val="722920363"/>
                  </a:ext>
                </a:extLst>
              </a:tr>
              <a:tr h="804081">
                <a:tc>
                  <a:txBody>
                    <a:bodyPr/>
                    <a:lstStyle/>
                    <a:p>
                      <a:r>
                        <a:rPr lang="en-IN" sz="2400" b="1" dirty="0">
                          <a:latin typeface="Times New Roman" panose="02020603050405020304" pitchFamily="18" charset="0"/>
                          <a:cs typeface="Times New Roman" panose="02020603050405020304" pitchFamily="18" charset="0"/>
                        </a:rPr>
                        <a:t>User Accessibility</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US" sz="2400">
                          <a:latin typeface="Times New Roman" panose="02020603050405020304" pitchFamily="18" charset="0"/>
                          <a:cs typeface="Times New Roman" panose="02020603050405020304" pitchFamily="18" charset="0"/>
                        </a:rPr>
                        <a:t>Limited access to reports and insights.</a:t>
                      </a:r>
                    </a:p>
                  </a:txBody>
                  <a:tcPr anchor="ctr"/>
                </a:tc>
                <a:tc>
                  <a:txBody>
                    <a:bodyPr/>
                    <a:lstStyle/>
                    <a:p>
                      <a:r>
                        <a:rPr lang="en-US" sz="2400" dirty="0">
                          <a:latin typeface="Times New Roman" panose="02020603050405020304" pitchFamily="18" charset="0"/>
                          <a:cs typeface="Times New Roman" panose="02020603050405020304" pitchFamily="18" charset="0"/>
                        </a:rPr>
                        <a:t>Power BI dashboards allow easy sharing and collaboration among stakeholders.</a:t>
                      </a:r>
                    </a:p>
                  </a:txBody>
                  <a:tcPr anchor="ctr"/>
                </a:tc>
                <a:extLst>
                  <a:ext uri="{0D108BD9-81ED-4DB2-BD59-A6C34878D82A}">
                    <a16:rowId xmlns:a16="http://schemas.microsoft.com/office/drawing/2014/main" val="1741912979"/>
                  </a:ext>
                </a:extLst>
              </a:tr>
            </a:tbl>
          </a:graphicData>
        </a:graphic>
      </p:graphicFrame>
      <p:sp>
        <p:nvSpPr>
          <p:cNvPr id="8" name="TextBox 7">
            <a:extLst>
              <a:ext uri="{FF2B5EF4-FFF2-40B4-BE49-F238E27FC236}">
                <a16:creationId xmlns:a16="http://schemas.microsoft.com/office/drawing/2014/main" id="{D4BAF56E-03E8-4126-0A5D-92739E0732AD}"/>
              </a:ext>
            </a:extLst>
          </p:cNvPr>
          <p:cNvSpPr txBox="1"/>
          <p:nvPr/>
        </p:nvSpPr>
        <p:spPr>
          <a:xfrm>
            <a:off x="849709" y="218244"/>
            <a:ext cx="14443022" cy="923330"/>
          </a:xfrm>
          <a:prstGeom prst="rect">
            <a:avLst/>
          </a:prstGeom>
          <a:noFill/>
        </p:spPr>
        <p:txBody>
          <a:bodyPr wrap="square">
            <a:spAutoFit/>
          </a:bodyPr>
          <a:lstStyle/>
          <a:p>
            <a:r>
              <a:rPr kumimoji="0" lang="en-US" sz="5400" b="0" i="0" u="none" strike="noStrike" kern="1200" cap="none" spc="0" normalizeH="0" baseline="0" noProof="0" dirty="0">
                <a:ln>
                  <a:noFill/>
                </a:ln>
                <a:solidFill>
                  <a:srgbClr val="6BD4CD"/>
                </a:solidFill>
                <a:effectLst/>
                <a:uLnTx/>
                <a:uFillTx/>
                <a:latin typeface="Glacial Indifference Bold" panose="020B0604020202020204" charset="0"/>
                <a:ea typeface="+mj-ea"/>
                <a:cs typeface="+mj-cs"/>
              </a:rPr>
              <a:t>EXISTING SYSTEM VS PROPOSED SYSTEM</a:t>
            </a:r>
            <a:endParaRPr lang="en-IN" dirty="0"/>
          </a:p>
        </p:txBody>
      </p:sp>
    </p:spTree>
    <p:extLst>
      <p:ext uri="{BB962C8B-B14F-4D97-AF65-F5344CB8AC3E}">
        <p14:creationId xmlns:p14="http://schemas.microsoft.com/office/powerpoint/2010/main" val="1738293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13E28-EC7D-3EC7-BE19-2C5053873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0EB1D-CDDF-2B6A-35A4-B06ABB3D96EE}"/>
              </a:ext>
            </a:extLst>
          </p:cNvPr>
          <p:cNvSpPr>
            <a:spLocks noGrp="1"/>
          </p:cNvSpPr>
          <p:nvPr>
            <p:ph type="title"/>
          </p:nvPr>
        </p:nvSpPr>
        <p:spPr/>
        <p:txBody>
          <a:bodyPr/>
          <a:lstStyle/>
          <a:p>
            <a:r>
              <a:rPr lang="en-US" dirty="0"/>
              <a:t>PROPOSED SYSTEM</a:t>
            </a:r>
            <a:endParaRPr lang="en-SG" dirty="0"/>
          </a:p>
        </p:txBody>
      </p:sp>
      <p:graphicFrame>
        <p:nvGraphicFramePr>
          <p:cNvPr id="9" name="Content Placeholder 5">
            <a:extLst>
              <a:ext uri="{FF2B5EF4-FFF2-40B4-BE49-F238E27FC236}">
                <a16:creationId xmlns:a16="http://schemas.microsoft.com/office/drawing/2014/main" id="{89BF440A-BE14-F84B-7A76-F684D20B4363}"/>
              </a:ext>
            </a:extLst>
          </p:cNvPr>
          <p:cNvGraphicFramePr>
            <a:graphicFrameLocks noGrp="1"/>
          </p:cNvGraphicFramePr>
          <p:nvPr>
            <p:ph idx="1"/>
            <p:extLst>
              <p:ext uri="{D42A27DB-BD31-4B8C-83A1-F6EECF244321}">
                <p14:modId xmlns:p14="http://schemas.microsoft.com/office/powerpoint/2010/main" val="2230236539"/>
              </p:ext>
            </p:extLst>
          </p:nvPr>
        </p:nvGraphicFramePr>
        <p:xfrm>
          <a:off x="1000920" y="1257300"/>
          <a:ext cx="8219280" cy="861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90BB012B-095B-03B2-CC0A-A0B25FD94E2A}"/>
              </a:ext>
            </a:extLst>
          </p:cNvPr>
          <p:cNvSpPr txBox="1"/>
          <p:nvPr/>
        </p:nvSpPr>
        <p:spPr>
          <a:xfrm>
            <a:off x="10287000" y="2247900"/>
            <a:ext cx="6553199" cy="584775"/>
          </a:xfrm>
          <a:prstGeom prst="rect">
            <a:avLst/>
          </a:prstGeom>
          <a:solidFill>
            <a:srgbClr val="00B050">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3200" dirty="0">
                <a:latin typeface="Glacial Indifference Bold" panose="020B0604020202020204" charset="0"/>
              </a:rPr>
              <a:t>Fully Automated Process</a:t>
            </a:r>
            <a:endParaRPr lang="en-SG" sz="3200" dirty="0">
              <a:latin typeface="Glacial Indifference Bold" panose="020B0604020202020204" charset="0"/>
            </a:endParaRPr>
          </a:p>
        </p:txBody>
      </p:sp>
      <p:sp>
        <p:nvSpPr>
          <p:cNvPr id="11" name="Content Placeholder 2">
            <a:extLst>
              <a:ext uri="{FF2B5EF4-FFF2-40B4-BE49-F238E27FC236}">
                <a16:creationId xmlns:a16="http://schemas.microsoft.com/office/drawing/2014/main" id="{F66BA9E5-43CC-BC4F-2DC0-8E548A2BE06F}"/>
              </a:ext>
            </a:extLst>
          </p:cNvPr>
          <p:cNvSpPr txBox="1">
            <a:spLocks/>
          </p:cNvSpPr>
          <p:nvPr/>
        </p:nvSpPr>
        <p:spPr>
          <a:xfrm>
            <a:off x="10287000" y="3238500"/>
            <a:ext cx="7543800" cy="7048500"/>
          </a:xfrm>
          <a:prstGeom prst="rect">
            <a:avLst/>
          </a:prstGeom>
          <a:solidFill>
            <a:srgbClr val="57B6B7">
              <a:alpha val="19000"/>
            </a:srgbClr>
          </a:solidFill>
        </p:spPr>
        <p:txBody>
          <a:bodyPr vert="horz" lIns="91440" tIns="45720" rIns="91440" bIns="45720" rtlCol="0">
            <a:normAutofit fontScale="77500" lnSpcReduction="20000"/>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buNone/>
            </a:pPr>
            <a:endParaRPr lang="en-US" sz="2800" dirty="0">
              <a:solidFill>
                <a:schemeClr val="bg1"/>
              </a:solidFill>
              <a:latin typeface="Glacial Indifference" panose="020B0604020202020204" charset="0"/>
            </a:endParaRPr>
          </a:p>
          <a:p>
            <a:pPr>
              <a:buFont typeface="Wingdings" panose="05000000000000000000" pitchFamily="2" charset="2"/>
              <a:buChar char="Ø"/>
            </a:pPr>
            <a:r>
              <a:rPr lang="en-US" sz="2800" dirty="0">
                <a:solidFill>
                  <a:schemeClr val="bg1"/>
                </a:solidFill>
                <a:latin typeface="Glacial Indifference" panose="020B0604020202020204" charset="0"/>
              </a:rPr>
              <a:t>Data Gathering: Collected IPL auction data through Python-based web scraping tools (</a:t>
            </a:r>
            <a:r>
              <a:rPr lang="en-US" sz="2800" dirty="0" err="1">
                <a:solidFill>
                  <a:schemeClr val="bg1"/>
                </a:solidFill>
                <a:latin typeface="Glacial Indifference" panose="020B0604020202020204" charset="0"/>
              </a:rPr>
              <a:t>BeautifulSoup</a:t>
            </a:r>
            <a:r>
              <a:rPr lang="en-US" sz="2800" dirty="0">
                <a:solidFill>
                  <a:schemeClr val="bg1"/>
                </a:solidFill>
                <a:latin typeface="Glacial Indifference" panose="020B0604020202020204" charset="0"/>
              </a:rPr>
              <a:t>, Selenium).  </a:t>
            </a:r>
          </a:p>
          <a:p>
            <a:endParaRPr lang="en-US" sz="2800" dirty="0">
              <a:solidFill>
                <a:schemeClr val="bg1"/>
              </a:solidFill>
              <a:latin typeface="Glacial Indifference" panose="020B0604020202020204" charset="0"/>
            </a:endParaRPr>
          </a:p>
          <a:p>
            <a:r>
              <a:rPr lang="en-US" sz="2800" dirty="0">
                <a:solidFill>
                  <a:schemeClr val="bg1"/>
                </a:solidFill>
                <a:latin typeface="Glacial Indifference" panose="020B0604020202020204" charset="0"/>
              </a:rPr>
              <a:t>Data Cleaning: Removed noise, inconsistencies, and duplicate entries using Python and Pandas.  </a:t>
            </a:r>
          </a:p>
          <a:p>
            <a:endParaRPr lang="en-US" sz="2800" dirty="0">
              <a:solidFill>
                <a:schemeClr val="bg1"/>
              </a:solidFill>
              <a:latin typeface="Glacial Indifference" panose="020B0604020202020204" charset="0"/>
            </a:endParaRPr>
          </a:p>
          <a:p>
            <a:r>
              <a:rPr lang="en-US" sz="2800" dirty="0">
                <a:solidFill>
                  <a:schemeClr val="bg1"/>
                </a:solidFill>
                <a:latin typeface="Glacial Indifference" panose="020B0604020202020204" charset="0"/>
              </a:rPr>
              <a:t>Data Analysis: Conducted Exploratory Data Analysis (EDA) using Matplotlib and Seaborn.  </a:t>
            </a:r>
          </a:p>
          <a:p>
            <a:endParaRPr lang="en-US" sz="2800" dirty="0">
              <a:solidFill>
                <a:schemeClr val="bg1"/>
              </a:solidFill>
              <a:latin typeface="Glacial Indifference" panose="020B0604020202020204" charset="0"/>
            </a:endParaRPr>
          </a:p>
          <a:p>
            <a:r>
              <a:rPr lang="en-US" sz="2800" dirty="0">
                <a:solidFill>
                  <a:schemeClr val="bg1"/>
                </a:solidFill>
                <a:latin typeface="Glacial Indifference" panose="020B0604020202020204" charset="0"/>
              </a:rPr>
              <a:t>Data Visualization: Created visual representations like bar charts and heatmaps for insights on players and teams.  </a:t>
            </a:r>
          </a:p>
          <a:p>
            <a:endParaRPr lang="en-US" sz="2800" dirty="0">
              <a:solidFill>
                <a:schemeClr val="bg1"/>
              </a:solidFill>
              <a:latin typeface="Glacial Indifference" panose="020B0604020202020204" charset="0"/>
            </a:endParaRPr>
          </a:p>
          <a:p>
            <a:r>
              <a:rPr lang="en-US" sz="2800" dirty="0">
                <a:solidFill>
                  <a:schemeClr val="bg1"/>
                </a:solidFill>
                <a:latin typeface="Glacial Indifference" panose="020B0604020202020204" charset="0"/>
              </a:rPr>
              <a:t>Insights Extraction: Derived actionable insights to identify top-performing players.  </a:t>
            </a:r>
          </a:p>
          <a:p>
            <a:pPr marL="0" indent="0">
              <a:buNone/>
            </a:pPr>
            <a:endParaRPr lang="en-US" sz="2800" dirty="0">
              <a:solidFill>
                <a:schemeClr val="bg1"/>
              </a:solidFill>
              <a:latin typeface="Glacial Indifference" panose="020B0604020202020204" charset="0"/>
            </a:endParaRPr>
          </a:p>
          <a:p>
            <a:r>
              <a:rPr lang="en-US" sz="2800" dirty="0">
                <a:solidFill>
                  <a:schemeClr val="bg1"/>
                </a:solidFill>
                <a:latin typeface="Glacial Indifference" panose="020B0604020202020204" charset="0"/>
              </a:rPr>
              <a:t>Formation of the Best   </a:t>
            </a:r>
          </a:p>
          <a:p>
            <a:r>
              <a:rPr lang="en-US" sz="2800" dirty="0">
                <a:solidFill>
                  <a:schemeClr val="bg1"/>
                </a:solidFill>
                <a:latin typeface="Glacial Indifference" panose="020B0604020202020204" charset="0"/>
              </a:rPr>
              <a:t>Interactive Dashboards</a:t>
            </a:r>
          </a:p>
        </p:txBody>
      </p:sp>
    </p:spTree>
    <p:extLst>
      <p:ext uri="{BB962C8B-B14F-4D97-AF65-F5344CB8AC3E}">
        <p14:creationId xmlns:p14="http://schemas.microsoft.com/office/powerpoint/2010/main" val="1673467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C5F4-A04B-0613-B842-46BBA30FB340}"/>
              </a:ext>
            </a:extLst>
          </p:cNvPr>
          <p:cNvSpPr>
            <a:spLocks noGrp="1"/>
          </p:cNvSpPr>
          <p:nvPr>
            <p:ph type="title"/>
          </p:nvPr>
        </p:nvSpPr>
        <p:spPr/>
        <p:txBody>
          <a:bodyPr/>
          <a:lstStyle/>
          <a:p>
            <a:r>
              <a:rPr lang="en-US" dirty="0"/>
              <a:t>DFD DIAGRAM- POWER BI</a:t>
            </a:r>
            <a:endParaRPr lang="en-IN" dirty="0"/>
          </a:p>
        </p:txBody>
      </p:sp>
      <p:sp>
        <p:nvSpPr>
          <p:cNvPr id="3" name="Slide Number Placeholder 2">
            <a:extLst>
              <a:ext uri="{FF2B5EF4-FFF2-40B4-BE49-F238E27FC236}">
                <a16:creationId xmlns:a16="http://schemas.microsoft.com/office/drawing/2014/main" id="{DCB12486-E761-0B06-60EF-B9DB29143B5E}"/>
              </a:ext>
            </a:extLst>
          </p:cNvPr>
          <p:cNvSpPr>
            <a:spLocks noGrp="1"/>
          </p:cNvSpPr>
          <p:nvPr>
            <p:ph type="sldNum" sz="quarter" idx="11"/>
          </p:nvPr>
        </p:nvSpPr>
        <p:spPr/>
        <p:txBody>
          <a:bodyPr/>
          <a:lstStyle/>
          <a:p>
            <a:r>
              <a:rPr lang="en-US"/>
              <a:t>Slide - </a:t>
            </a:r>
            <a:fld id="{B6F15528-21DE-4FAA-801E-634DDDAF4B2B}" type="slidenum">
              <a:rPr lang="en-US" smtClean="0"/>
              <a:pPr/>
              <a:t>19</a:t>
            </a:fld>
            <a:endParaRPr lang="en-US" dirty="0"/>
          </a:p>
        </p:txBody>
      </p:sp>
      <p:pic>
        <p:nvPicPr>
          <p:cNvPr id="4" name="Picture 3" descr="Power BI Architecture">
            <a:extLst>
              <a:ext uri="{FF2B5EF4-FFF2-40B4-BE49-F238E27FC236}">
                <a16:creationId xmlns:a16="http://schemas.microsoft.com/office/drawing/2014/main" id="{E0CB00E2-3F64-FFC5-7007-5B48BB7B4C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76300"/>
            <a:ext cx="10210799" cy="39374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What is Power BI">
            <a:extLst>
              <a:ext uri="{FF2B5EF4-FFF2-40B4-BE49-F238E27FC236}">
                <a16:creationId xmlns:a16="http://schemas.microsoft.com/office/drawing/2014/main" id="{878021EA-6259-CE1F-88E7-DB7C17FD36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5196411"/>
            <a:ext cx="10439400" cy="44750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82EB9A93-B54B-659B-6ACF-CD2F1E6C0E95}"/>
              </a:ext>
            </a:extLst>
          </p:cNvPr>
          <p:cNvSpPr txBox="1"/>
          <p:nvPr/>
        </p:nvSpPr>
        <p:spPr>
          <a:xfrm>
            <a:off x="1905000" y="4813769"/>
            <a:ext cx="6781800" cy="548099"/>
          </a:xfrm>
          <a:prstGeom prst="rect">
            <a:avLst/>
          </a:prstGeom>
          <a:noFill/>
        </p:spPr>
        <p:txBody>
          <a:bodyPr wrap="square">
            <a:spAutoFit/>
          </a:bodyPr>
          <a:lstStyle/>
          <a:p>
            <a:pPr algn="ctr">
              <a:lnSpc>
                <a:spcPct val="115000"/>
              </a:lnSpc>
              <a:spcAft>
                <a:spcPts val="800"/>
              </a:spcAft>
            </a:pPr>
            <a:r>
              <a:rPr lang="en-IN" sz="2800" b="1" dirty="0">
                <a:solidFill>
                  <a:schemeClr val="bg2"/>
                </a:solidFill>
                <a:effectLst/>
                <a:latin typeface="Times New Roman" panose="02020603050405020304" pitchFamily="18" charset="0"/>
                <a:ea typeface="Calibri" panose="020F0502020204030204" pitchFamily="34" charset="0"/>
              </a:rPr>
              <a:t>Power BI Architecture</a:t>
            </a:r>
            <a:endParaRPr lang="en-IN" sz="2800" dirty="0">
              <a:solidFill>
                <a:schemeClr val="bg2"/>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139861D5-8E48-DF1B-99C3-CF3A4F63C680}"/>
              </a:ext>
            </a:extLst>
          </p:cNvPr>
          <p:cNvSpPr txBox="1"/>
          <p:nvPr/>
        </p:nvSpPr>
        <p:spPr>
          <a:xfrm>
            <a:off x="11315700" y="9671420"/>
            <a:ext cx="2743200" cy="584775"/>
          </a:xfrm>
          <a:prstGeom prst="rect">
            <a:avLst/>
          </a:prstGeom>
          <a:noFill/>
        </p:spPr>
        <p:txBody>
          <a:bodyPr wrap="square" rtlCol="0">
            <a:spAutoFit/>
          </a:bodyPr>
          <a:lstStyle/>
          <a:p>
            <a:r>
              <a:rPr lang="en-US" sz="3200" b="1" dirty="0">
                <a:solidFill>
                  <a:schemeClr val="bg2"/>
                </a:solidFill>
                <a:latin typeface="Times New Roman" panose="02020603050405020304" pitchFamily="18" charset="0"/>
                <a:cs typeface="Times New Roman" panose="02020603050405020304" pitchFamily="18" charset="0"/>
              </a:rPr>
              <a:t>DFD Diagram</a:t>
            </a:r>
            <a:endParaRPr lang="en-IN" sz="3200"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631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6FEE22-7292-9967-ED77-A557E7D808AC}"/>
              </a:ext>
            </a:extLst>
          </p:cNvPr>
          <p:cNvSpPr>
            <a:spLocks noGrp="1"/>
          </p:cNvSpPr>
          <p:nvPr>
            <p:ph type="sldNum" sz="quarter" idx="11"/>
          </p:nvPr>
        </p:nvSpPr>
        <p:spPr/>
        <p:txBody>
          <a:bodyPr/>
          <a:lstStyle/>
          <a:p>
            <a:r>
              <a:rPr lang="en-US"/>
              <a:t>Slide - </a:t>
            </a:r>
            <a:fld id="{B6F15528-21DE-4FAA-801E-634DDDAF4B2B}" type="slidenum">
              <a:rPr lang="en-US" smtClean="0"/>
              <a:pPr/>
              <a:t>20</a:t>
            </a:fld>
            <a:endParaRPr lang="en-US" dirty="0"/>
          </a:p>
        </p:txBody>
      </p:sp>
      <p:sp>
        <p:nvSpPr>
          <p:cNvPr id="16" name="Title 15">
            <a:extLst>
              <a:ext uri="{FF2B5EF4-FFF2-40B4-BE49-F238E27FC236}">
                <a16:creationId xmlns:a16="http://schemas.microsoft.com/office/drawing/2014/main" id="{0FD3CBE8-D403-2C8C-3B44-E1989B1D5C06}"/>
              </a:ext>
            </a:extLst>
          </p:cNvPr>
          <p:cNvSpPr>
            <a:spLocks noGrp="1"/>
          </p:cNvSpPr>
          <p:nvPr>
            <p:ph type="title"/>
          </p:nvPr>
        </p:nvSpPr>
        <p:spPr>
          <a:xfrm>
            <a:off x="1351898" y="333428"/>
            <a:ext cx="15925800" cy="1143000"/>
          </a:xfrm>
        </p:spPr>
        <p:txBody>
          <a:bodyPr>
            <a:normAutofit fontScale="90000"/>
          </a:bodyPr>
          <a:lstStyle/>
          <a:p>
            <a:r>
              <a:rPr lang="en-US" dirty="0"/>
              <a:t>OUTPUT SCREENSHOTS- Visualization of Batters data</a:t>
            </a:r>
            <a:endParaRPr lang="en-IN" dirty="0"/>
          </a:p>
        </p:txBody>
      </p:sp>
      <p:pic>
        <p:nvPicPr>
          <p:cNvPr id="4" name="Picture 3">
            <a:extLst>
              <a:ext uri="{FF2B5EF4-FFF2-40B4-BE49-F238E27FC236}">
                <a16:creationId xmlns:a16="http://schemas.microsoft.com/office/drawing/2014/main" id="{7C301C4B-CF1F-6A56-5A62-43F2F11825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057453"/>
            <a:ext cx="5763573" cy="3390846"/>
          </a:xfrm>
          <a:prstGeom prst="rect">
            <a:avLst/>
          </a:prstGeom>
        </p:spPr>
      </p:pic>
      <p:pic>
        <p:nvPicPr>
          <p:cNvPr id="5" name="Picture 4">
            <a:extLst>
              <a:ext uri="{FF2B5EF4-FFF2-40B4-BE49-F238E27FC236}">
                <a16:creationId xmlns:a16="http://schemas.microsoft.com/office/drawing/2014/main" id="{660B6C59-CD1D-58FF-AAD9-1870757722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3795" y="2057454"/>
            <a:ext cx="5602006" cy="3390846"/>
          </a:xfrm>
          <a:prstGeom prst="rect">
            <a:avLst/>
          </a:prstGeom>
        </p:spPr>
      </p:pic>
      <p:pic>
        <p:nvPicPr>
          <p:cNvPr id="6" name="Picture 5">
            <a:extLst>
              <a:ext uri="{FF2B5EF4-FFF2-40B4-BE49-F238E27FC236}">
                <a16:creationId xmlns:a16="http://schemas.microsoft.com/office/drawing/2014/main" id="{84D00B0D-9DE4-5000-8082-53051D2233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401394" y="2057454"/>
            <a:ext cx="5810155" cy="3390845"/>
          </a:xfrm>
          <a:prstGeom prst="rect">
            <a:avLst/>
          </a:prstGeom>
        </p:spPr>
      </p:pic>
      <p:pic>
        <p:nvPicPr>
          <p:cNvPr id="7" name="Picture 6">
            <a:extLst>
              <a:ext uri="{FF2B5EF4-FFF2-40B4-BE49-F238E27FC236}">
                <a16:creationId xmlns:a16="http://schemas.microsoft.com/office/drawing/2014/main" id="{CB2BE6A8-E520-B207-58F3-72AC8C30B4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72201" y="6143474"/>
            <a:ext cx="6476999" cy="3625450"/>
          </a:xfrm>
          <a:prstGeom prst="rect">
            <a:avLst/>
          </a:prstGeom>
        </p:spPr>
      </p:pic>
      <p:sp>
        <p:nvSpPr>
          <p:cNvPr id="9" name="TextBox 8">
            <a:extLst>
              <a:ext uri="{FF2B5EF4-FFF2-40B4-BE49-F238E27FC236}">
                <a16:creationId xmlns:a16="http://schemas.microsoft.com/office/drawing/2014/main" id="{1586E8D4-CD57-0A0F-93DB-6DB9D6E37604}"/>
              </a:ext>
            </a:extLst>
          </p:cNvPr>
          <p:cNvSpPr txBox="1"/>
          <p:nvPr/>
        </p:nvSpPr>
        <p:spPr>
          <a:xfrm>
            <a:off x="7280076" y="9746014"/>
            <a:ext cx="4988124"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top batters </a:t>
            </a:r>
            <a:r>
              <a:rPr lang="en-US" b="1" kern="0" dirty="0">
                <a:latin typeface="Times New Roman" panose="02020603050405020304" pitchFamily="18" charset="0"/>
                <a:ea typeface="Times New Roman" panose="02020603050405020304" pitchFamily="18" charset="0"/>
              </a:rPr>
              <a:t>matches played</a:t>
            </a:r>
            <a:endParaRPr lang="en-IN" b="1" dirty="0"/>
          </a:p>
        </p:txBody>
      </p:sp>
      <p:sp>
        <p:nvSpPr>
          <p:cNvPr id="11" name="TextBox 10">
            <a:extLst>
              <a:ext uri="{FF2B5EF4-FFF2-40B4-BE49-F238E27FC236}">
                <a16:creationId xmlns:a16="http://schemas.microsoft.com/office/drawing/2014/main" id="{CA593834-D966-3C79-2282-DAD9703F7B74}"/>
              </a:ext>
            </a:extLst>
          </p:cNvPr>
          <p:cNvSpPr txBox="1"/>
          <p:nvPr/>
        </p:nvSpPr>
        <p:spPr>
          <a:xfrm>
            <a:off x="1676400" y="5448299"/>
            <a:ext cx="3981605"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top batters </a:t>
            </a:r>
            <a:r>
              <a:rPr lang="en-US" b="1" kern="0" dirty="0">
                <a:latin typeface="Times New Roman" panose="02020603050405020304" pitchFamily="18" charset="0"/>
                <a:ea typeface="Times New Roman" panose="02020603050405020304" pitchFamily="18" charset="0"/>
              </a:rPr>
              <a:t>Strike rate</a:t>
            </a:r>
            <a:endParaRPr lang="en-IN" b="1" dirty="0"/>
          </a:p>
        </p:txBody>
      </p:sp>
      <p:sp>
        <p:nvSpPr>
          <p:cNvPr id="13" name="TextBox 12">
            <a:extLst>
              <a:ext uri="{FF2B5EF4-FFF2-40B4-BE49-F238E27FC236}">
                <a16:creationId xmlns:a16="http://schemas.microsoft.com/office/drawing/2014/main" id="{EA6C65BD-4E58-F6FE-ECC3-C631270DEA40}"/>
              </a:ext>
            </a:extLst>
          </p:cNvPr>
          <p:cNvSpPr txBox="1"/>
          <p:nvPr/>
        </p:nvSpPr>
        <p:spPr>
          <a:xfrm>
            <a:off x="7280076" y="5426555"/>
            <a:ext cx="3727847"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top batters runs</a:t>
            </a:r>
            <a:endParaRPr lang="en-IN" b="1" dirty="0"/>
          </a:p>
        </p:txBody>
      </p:sp>
      <p:sp>
        <p:nvSpPr>
          <p:cNvPr id="15" name="TextBox 14">
            <a:extLst>
              <a:ext uri="{FF2B5EF4-FFF2-40B4-BE49-F238E27FC236}">
                <a16:creationId xmlns:a16="http://schemas.microsoft.com/office/drawing/2014/main" id="{7FBD91B9-5EC8-B457-FC76-C8232FFFD123}"/>
              </a:ext>
            </a:extLst>
          </p:cNvPr>
          <p:cNvSpPr txBox="1"/>
          <p:nvPr/>
        </p:nvSpPr>
        <p:spPr>
          <a:xfrm>
            <a:off x="13411200" y="5467349"/>
            <a:ext cx="4114800"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top batters </a:t>
            </a:r>
            <a:r>
              <a:rPr lang="en-US" b="1" kern="0" dirty="0">
                <a:latin typeface="Times New Roman" panose="02020603050405020304" pitchFamily="18" charset="0"/>
                <a:ea typeface="Times New Roman" panose="02020603050405020304" pitchFamily="18" charset="0"/>
              </a:rPr>
              <a:t>average</a:t>
            </a:r>
            <a:endParaRPr lang="en-IN" b="1" dirty="0"/>
          </a:p>
        </p:txBody>
      </p:sp>
      <p:sp>
        <p:nvSpPr>
          <p:cNvPr id="10" name="TextBox 9">
            <a:extLst>
              <a:ext uri="{FF2B5EF4-FFF2-40B4-BE49-F238E27FC236}">
                <a16:creationId xmlns:a16="http://schemas.microsoft.com/office/drawing/2014/main" id="{265C9A35-0FB9-5E7B-1AC3-DFF9E7FFD875}"/>
              </a:ext>
            </a:extLst>
          </p:cNvPr>
          <p:cNvSpPr txBox="1"/>
          <p:nvPr/>
        </p:nvSpPr>
        <p:spPr>
          <a:xfrm>
            <a:off x="493426" y="7023263"/>
            <a:ext cx="5164579" cy="2185214"/>
          </a:xfrm>
          <a:prstGeom prst="rect">
            <a:avLst/>
          </a:prstGeom>
          <a:solidFill>
            <a:schemeClr val="accent5">
              <a:lumMod val="20000"/>
              <a:lumOff val="80000"/>
            </a:schemeClr>
          </a:solidFill>
          <a:ln>
            <a:solidFill>
              <a:schemeClr val="tx2"/>
            </a:solidFill>
          </a:ln>
          <a:effectLst>
            <a:outerShdw blurRad="50800" dist="38100" algn="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dirty="0">
                <a:effectLst/>
                <a:latin typeface="Times New Roman" panose="02020603050405020304" pitchFamily="18" charset="0"/>
                <a:ea typeface="Times New Roman" panose="02020603050405020304" pitchFamily="18" charset="0"/>
              </a:rPr>
              <a:t>If we rank the top batters in order of 1-10 on the above parameters. The top 3 </a:t>
            </a:r>
            <a:r>
              <a:rPr lang="en-US" b="1" dirty="0">
                <a:latin typeface="Times New Roman" panose="02020603050405020304" pitchFamily="18" charset="0"/>
                <a:ea typeface="Times New Roman" panose="02020603050405020304" pitchFamily="18" charset="0"/>
              </a:rPr>
              <a:t>batters</a:t>
            </a:r>
            <a:r>
              <a:rPr lang="en-US" sz="1800" b="1" dirty="0">
                <a:effectLst/>
                <a:latin typeface="Times New Roman" panose="02020603050405020304" pitchFamily="18" charset="0"/>
                <a:ea typeface="Times New Roman" panose="02020603050405020304" pitchFamily="18" charset="0"/>
              </a:rPr>
              <a:t> will be</a:t>
            </a:r>
            <a:endParaRPr lang="en-IN" sz="1600" b="1" dirty="0">
              <a:effectLst/>
              <a:latin typeface="Times New Roman" panose="02020603050405020304" pitchFamily="18" charset="0"/>
              <a:ea typeface="Times New Roman" panose="02020603050405020304" pitchFamily="18" charset="0"/>
            </a:endParaRPr>
          </a:p>
          <a:p>
            <a:endParaRPr lang="en-US" sz="1800" b="1" kern="0" dirty="0">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US" sz="1600" b="1" kern="0" dirty="0">
                <a:effectLst/>
                <a:latin typeface="Times New Roman" panose="02020603050405020304" pitchFamily="18" charset="0"/>
                <a:ea typeface="Times New Roman" panose="02020603050405020304" pitchFamily="18" charset="0"/>
              </a:rPr>
              <a:t> </a:t>
            </a:r>
            <a:r>
              <a:rPr lang="en-US" sz="1600" b="1"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KL Rahul</a:t>
            </a:r>
          </a:p>
          <a:p>
            <a:pPr marL="342900" indent="-342900">
              <a:buFont typeface="+mj-lt"/>
              <a:buAutoNum type="arabicPeriod"/>
            </a:pPr>
            <a:endParaRPr lang="en-US" sz="1600" b="1" kern="0" dirty="0">
              <a:ln w="0"/>
              <a:effectLst>
                <a:outerShdw blurRad="38100" dist="19050" dir="2700000" algn="tl" rotWithShape="0">
                  <a:schemeClr val="dk1">
                    <a:alpha val="40000"/>
                  </a:schemeClr>
                </a:outerShdw>
              </a:effectLst>
              <a:latin typeface="Times New Roman" panose="02020603050405020304" pitchFamily="18" charset="0"/>
            </a:endParaRPr>
          </a:p>
          <a:p>
            <a:pPr marL="342900" indent="-342900">
              <a:buFont typeface="+mj-lt"/>
              <a:buAutoNum type="arabicPeriod"/>
            </a:pPr>
            <a:r>
              <a:rPr lang="en-US" sz="1600" b="1"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Virat Kohli</a:t>
            </a:r>
          </a:p>
          <a:p>
            <a:endParaRPr lang="en-US" sz="1600" b="1"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US" sz="1600" b="1"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David Warne</a:t>
            </a:r>
            <a:r>
              <a:rPr lang="en-US" sz="1800" b="1"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r</a:t>
            </a:r>
            <a:endParaRPr lang="en-IN" b="1"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65695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9B90A2-BDEB-5E8D-58D3-2E2BDB040797}"/>
              </a:ext>
            </a:extLst>
          </p:cNvPr>
          <p:cNvSpPr>
            <a:spLocks noGrp="1"/>
          </p:cNvSpPr>
          <p:nvPr>
            <p:ph type="sldNum" sz="quarter" idx="11"/>
          </p:nvPr>
        </p:nvSpPr>
        <p:spPr/>
        <p:txBody>
          <a:bodyPr/>
          <a:lstStyle/>
          <a:p>
            <a:r>
              <a:rPr lang="en-US"/>
              <a:t>Slide - </a:t>
            </a:r>
            <a:fld id="{B6F15528-21DE-4FAA-801E-634DDDAF4B2B}" type="slidenum">
              <a:rPr lang="en-US" smtClean="0"/>
              <a:pPr/>
              <a:t>21</a:t>
            </a:fld>
            <a:endParaRPr lang="en-US" dirty="0"/>
          </a:p>
        </p:txBody>
      </p:sp>
      <p:sp>
        <p:nvSpPr>
          <p:cNvPr id="19" name="Title 18">
            <a:extLst>
              <a:ext uri="{FF2B5EF4-FFF2-40B4-BE49-F238E27FC236}">
                <a16:creationId xmlns:a16="http://schemas.microsoft.com/office/drawing/2014/main" id="{F12ACCCC-6C5E-1B7B-5AB5-73898B3F9AB3}"/>
              </a:ext>
            </a:extLst>
          </p:cNvPr>
          <p:cNvSpPr>
            <a:spLocks noGrp="1"/>
          </p:cNvSpPr>
          <p:nvPr>
            <p:ph type="title"/>
          </p:nvPr>
        </p:nvSpPr>
        <p:spPr/>
        <p:txBody>
          <a:bodyPr>
            <a:normAutofit fontScale="90000"/>
          </a:bodyPr>
          <a:lstStyle/>
          <a:p>
            <a:r>
              <a:rPr lang="en-US" dirty="0"/>
              <a:t>OUTPUT SCREENSHOTS- Visualization of Bowlers data</a:t>
            </a:r>
            <a:endParaRPr lang="en-IN" dirty="0"/>
          </a:p>
        </p:txBody>
      </p:sp>
      <p:pic>
        <p:nvPicPr>
          <p:cNvPr id="4" name="Picture 3">
            <a:extLst>
              <a:ext uri="{FF2B5EF4-FFF2-40B4-BE49-F238E27FC236}">
                <a16:creationId xmlns:a16="http://schemas.microsoft.com/office/drawing/2014/main" id="{976B3AF7-E4CA-5D55-36C1-B165EE2F4C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809748"/>
            <a:ext cx="5568563" cy="3333751"/>
          </a:xfrm>
          <a:prstGeom prst="rect">
            <a:avLst/>
          </a:prstGeom>
        </p:spPr>
      </p:pic>
      <p:pic>
        <p:nvPicPr>
          <p:cNvPr id="5" name="Picture 4">
            <a:extLst>
              <a:ext uri="{FF2B5EF4-FFF2-40B4-BE49-F238E27FC236}">
                <a16:creationId xmlns:a16="http://schemas.microsoft.com/office/drawing/2014/main" id="{B21DD60A-1F84-C846-FC98-0FEEEF436F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5801" y="1809748"/>
            <a:ext cx="5334000" cy="3333751"/>
          </a:xfrm>
          <a:prstGeom prst="rect">
            <a:avLst/>
          </a:prstGeom>
        </p:spPr>
      </p:pic>
      <p:pic>
        <p:nvPicPr>
          <p:cNvPr id="6" name="Picture 5">
            <a:extLst>
              <a:ext uri="{FF2B5EF4-FFF2-40B4-BE49-F238E27FC236}">
                <a16:creationId xmlns:a16="http://schemas.microsoft.com/office/drawing/2014/main" id="{10E89E4A-B5BF-A962-E9FE-AF424301CE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952675" y="1752599"/>
            <a:ext cx="6071520" cy="3390900"/>
          </a:xfrm>
          <a:prstGeom prst="rect">
            <a:avLst/>
          </a:prstGeom>
        </p:spPr>
      </p:pic>
      <p:pic>
        <p:nvPicPr>
          <p:cNvPr id="7" name="Picture 6">
            <a:extLst>
              <a:ext uri="{FF2B5EF4-FFF2-40B4-BE49-F238E27FC236}">
                <a16:creationId xmlns:a16="http://schemas.microsoft.com/office/drawing/2014/main" id="{1C4E6608-102D-C87E-6AF6-B276B8E5C1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 y="6117817"/>
            <a:ext cx="5568562" cy="3333750"/>
          </a:xfrm>
          <a:prstGeom prst="rect">
            <a:avLst/>
          </a:prstGeom>
        </p:spPr>
      </p:pic>
      <p:pic>
        <p:nvPicPr>
          <p:cNvPr id="8" name="Picture 7">
            <a:extLst>
              <a:ext uri="{FF2B5EF4-FFF2-40B4-BE49-F238E27FC236}">
                <a16:creationId xmlns:a16="http://schemas.microsoft.com/office/drawing/2014/main" id="{3B94D868-E77D-CE79-E54B-E846FF6A56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10400" y="6117817"/>
            <a:ext cx="5143500" cy="3333750"/>
          </a:xfrm>
          <a:prstGeom prst="rect">
            <a:avLst/>
          </a:prstGeom>
        </p:spPr>
      </p:pic>
      <p:sp>
        <p:nvSpPr>
          <p:cNvPr id="10" name="TextBox 9">
            <a:extLst>
              <a:ext uri="{FF2B5EF4-FFF2-40B4-BE49-F238E27FC236}">
                <a16:creationId xmlns:a16="http://schemas.microsoft.com/office/drawing/2014/main" id="{F2F5AE12-1D42-104F-46F3-C32CDEC66A9F}"/>
              </a:ext>
            </a:extLst>
          </p:cNvPr>
          <p:cNvSpPr txBox="1"/>
          <p:nvPr/>
        </p:nvSpPr>
        <p:spPr>
          <a:xfrm>
            <a:off x="7216378" y="9520512"/>
            <a:ext cx="4947047" cy="646331"/>
          </a:xfrm>
          <a:prstGeom prst="rect">
            <a:avLst/>
          </a:prstGeom>
          <a:noFill/>
        </p:spPr>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this plot shows the matches played by each of the top bowlers.</a:t>
            </a:r>
            <a:endParaRPr lang="en-IN" sz="1600" b="1" dirty="0">
              <a:effectLst/>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AA8F7847-AB4A-C28C-874A-A2A844481E63}"/>
              </a:ext>
            </a:extLst>
          </p:cNvPr>
          <p:cNvSpPr txBox="1"/>
          <p:nvPr/>
        </p:nvSpPr>
        <p:spPr>
          <a:xfrm>
            <a:off x="1078716" y="9496699"/>
            <a:ext cx="4947047" cy="646331"/>
          </a:xfrm>
          <a:prstGeom prst="rect">
            <a:avLst/>
          </a:prstGeom>
          <a:noFill/>
        </p:spPr>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this plot shows the wickets taken by each of the top bowlers</a:t>
            </a:r>
            <a:r>
              <a:rPr lang="en-US" sz="18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074B7423-BC41-7CCB-009D-123B3A394063}"/>
              </a:ext>
            </a:extLst>
          </p:cNvPr>
          <p:cNvSpPr txBox="1"/>
          <p:nvPr/>
        </p:nvSpPr>
        <p:spPr>
          <a:xfrm>
            <a:off x="12420600" y="5138736"/>
            <a:ext cx="5603595"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bowling strike rate of each of the top bowlers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6" name="TextBox 15">
            <a:extLst>
              <a:ext uri="{FF2B5EF4-FFF2-40B4-BE49-F238E27FC236}">
                <a16:creationId xmlns:a16="http://schemas.microsoft.com/office/drawing/2014/main" id="{E0A6D876-6C7F-CACE-AAC2-C57E67BB293E}"/>
              </a:ext>
            </a:extLst>
          </p:cNvPr>
          <p:cNvSpPr txBox="1"/>
          <p:nvPr/>
        </p:nvSpPr>
        <p:spPr>
          <a:xfrm>
            <a:off x="1078716" y="5307492"/>
            <a:ext cx="4489231" cy="646331"/>
          </a:xfrm>
          <a:prstGeom prst="rect">
            <a:avLst/>
          </a:prstGeom>
          <a:noFill/>
        </p:spPr>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this plot shows the bowling average of each of the top bowlers.</a:t>
            </a:r>
            <a:endParaRPr lang="en-IN" sz="1600" b="1" dirty="0">
              <a:effectLst/>
              <a:latin typeface="Times New Roman" panose="02020603050405020304" pitchFamily="18" charset="0"/>
              <a:ea typeface="Times New Roman" panose="02020603050405020304" pitchFamily="18" charset="0"/>
            </a:endParaRPr>
          </a:p>
        </p:txBody>
      </p:sp>
      <p:sp>
        <p:nvSpPr>
          <p:cNvPr id="18" name="TextBox 17">
            <a:extLst>
              <a:ext uri="{FF2B5EF4-FFF2-40B4-BE49-F238E27FC236}">
                <a16:creationId xmlns:a16="http://schemas.microsoft.com/office/drawing/2014/main" id="{941CF416-0471-3757-E703-78F46324C855}"/>
              </a:ext>
            </a:extLst>
          </p:cNvPr>
          <p:cNvSpPr txBox="1"/>
          <p:nvPr/>
        </p:nvSpPr>
        <p:spPr>
          <a:xfrm>
            <a:off x="6637170" y="5130057"/>
            <a:ext cx="5022631" cy="646331"/>
          </a:xfrm>
          <a:prstGeom prst="rect">
            <a:avLst/>
          </a:prstGeom>
          <a:noFill/>
        </p:spPr>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this plot shows the </a:t>
            </a:r>
            <a:r>
              <a:rPr lang="en-US" b="1" dirty="0">
                <a:latin typeface="Times New Roman" panose="02020603050405020304" pitchFamily="18" charset="0"/>
                <a:ea typeface="Times New Roman" panose="02020603050405020304" pitchFamily="18" charset="0"/>
              </a:rPr>
              <a:t>economy</a:t>
            </a:r>
            <a:r>
              <a:rPr lang="en-US" sz="1800" b="1" dirty="0">
                <a:effectLst/>
                <a:latin typeface="Times New Roman" panose="02020603050405020304" pitchFamily="18" charset="0"/>
                <a:ea typeface="Times New Roman" panose="02020603050405020304" pitchFamily="18" charset="0"/>
              </a:rPr>
              <a:t> of each of the top bowlers.</a:t>
            </a:r>
            <a:endParaRPr lang="en-IN" sz="1600" b="1"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95CA51E-8CC2-50E1-47C8-7E05412F1425}"/>
              </a:ext>
            </a:extLst>
          </p:cNvPr>
          <p:cNvSpPr txBox="1"/>
          <p:nvPr/>
        </p:nvSpPr>
        <p:spPr>
          <a:xfrm>
            <a:off x="12721485" y="6117817"/>
            <a:ext cx="4533900" cy="3016210"/>
          </a:xfrm>
          <a:prstGeom prst="rect">
            <a:avLst/>
          </a:prstGeom>
          <a:solidFill>
            <a:schemeClr val="accent5">
              <a:lumMod val="20000"/>
              <a:lumOff val="80000"/>
            </a:schemeClr>
          </a:solidFill>
          <a:ln>
            <a:solidFill>
              <a:schemeClr val="tx2"/>
            </a:solidFill>
          </a:ln>
          <a:effectLst>
            <a:outerShdw blurRad="50800" dist="38100" dir="5400000" algn="t"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From the above analysis, if we rank down the parameters from 1-10. The top bowling options are as follows:</a:t>
            </a: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1. Kagiso </a:t>
            </a:r>
            <a:r>
              <a:rPr lang="en-US" sz="1800" b="1" dirty="0" err="1">
                <a:effectLst/>
                <a:latin typeface="Times New Roman" panose="02020603050405020304" pitchFamily="18" charset="0"/>
                <a:ea typeface="Times New Roman" panose="02020603050405020304" pitchFamily="18" charset="0"/>
              </a:rPr>
              <a:t>Rabada</a:t>
            </a:r>
            <a:endParaRPr lang="en-IN" sz="1600" b="1" dirty="0">
              <a:effectLst/>
              <a:latin typeface="Times New Roman" panose="02020603050405020304" pitchFamily="18" charset="0"/>
              <a:ea typeface="Times New Roman" panose="02020603050405020304" pitchFamily="18" charset="0"/>
            </a:endParaRP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2. Jasprit </a:t>
            </a:r>
            <a:r>
              <a:rPr lang="en-US" sz="1800" b="1" dirty="0" err="1">
                <a:effectLst/>
                <a:latin typeface="Times New Roman" panose="02020603050405020304" pitchFamily="18" charset="0"/>
                <a:ea typeface="Times New Roman" panose="02020603050405020304" pitchFamily="18" charset="0"/>
              </a:rPr>
              <a:t>Bumrah</a:t>
            </a:r>
            <a:endParaRPr lang="en-IN" sz="1600" b="1" dirty="0">
              <a:effectLst/>
              <a:latin typeface="Times New Roman" panose="02020603050405020304" pitchFamily="18" charset="0"/>
              <a:ea typeface="Times New Roman" panose="02020603050405020304" pitchFamily="18" charset="0"/>
            </a:endParaRP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3. </a:t>
            </a:r>
            <a:r>
              <a:rPr lang="en-US" sz="1800" b="1" dirty="0" err="1">
                <a:effectLst/>
                <a:latin typeface="Times New Roman" panose="02020603050405020304" pitchFamily="18" charset="0"/>
                <a:ea typeface="Times New Roman" panose="02020603050405020304" pitchFamily="18" charset="0"/>
              </a:rPr>
              <a:t>Yuzvendra</a:t>
            </a:r>
            <a:r>
              <a:rPr lang="en-US" sz="1800" b="1" dirty="0">
                <a:effectLst/>
                <a:latin typeface="Times New Roman" panose="02020603050405020304" pitchFamily="18" charset="0"/>
                <a:ea typeface="Times New Roman" panose="02020603050405020304" pitchFamily="18" charset="0"/>
              </a:rPr>
              <a:t> Chahal</a:t>
            </a:r>
            <a:endParaRPr lang="en-IN" sz="1600" b="1" dirty="0">
              <a:effectLst/>
              <a:latin typeface="Times New Roman" panose="02020603050405020304" pitchFamily="18" charset="0"/>
              <a:ea typeface="Times New Roman" panose="02020603050405020304" pitchFamily="18" charset="0"/>
            </a:endParaRP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4. Nathan Coulter-Nile</a:t>
            </a:r>
            <a:endParaRPr lang="en-IN" sz="16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75073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C16C-2A1A-7B0B-7D00-780C957FFD29}"/>
              </a:ext>
            </a:extLst>
          </p:cNvPr>
          <p:cNvSpPr>
            <a:spLocks noGrp="1"/>
          </p:cNvSpPr>
          <p:nvPr>
            <p:ph type="title"/>
          </p:nvPr>
        </p:nvSpPr>
        <p:spPr>
          <a:xfrm>
            <a:off x="457200" y="274638"/>
            <a:ext cx="16992600" cy="677862"/>
          </a:xfrm>
        </p:spPr>
        <p:txBody>
          <a:bodyPr>
            <a:normAutofit fontScale="90000"/>
          </a:bodyPr>
          <a:lstStyle/>
          <a:p>
            <a:r>
              <a:rPr lang="en-US" dirty="0"/>
              <a:t>OUTPUT SCREENSHOTS- Visualization of allrounders data</a:t>
            </a:r>
            <a:endParaRPr lang="en-IN" dirty="0"/>
          </a:p>
        </p:txBody>
      </p:sp>
      <p:sp>
        <p:nvSpPr>
          <p:cNvPr id="3" name="Slide Number Placeholder 2">
            <a:extLst>
              <a:ext uri="{FF2B5EF4-FFF2-40B4-BE49-F238E27FC236}">
                <a16:creationId xmlns:a16="http://schemas.microsoft.com/office/drawing/2014/main" id="{CD8354CC-0C1F-5BAB-F6F7-43D0FF7689A0}"/>
              </a:ext>
            </a:extLst>
          </p:cNvPr>
          <p:cNvSpPr>
            <a:spLocks noGrp="1"/>
          </p:cNvSpPr>
          <p:nvPr>
            <p:ph type="sldNum" sz="quarter" idx="11"/>
          </p:nvPr>
        </p:nvSpPr>
        <p:spPr/>
        <p:txBody>
          <a:bodyPr/>
          <a:lstStyle/>
          <a:p>
            <a:r>
              <a:rPr lang="en-US"/>
              <a:t>Slide - </a:t>
            </a:r>
            <a:fld id="{B6F15528-21DE-4FAA-801E-634DDDAF4B2B}" type="slidenum">
              <a:rPr lang="en-US" smtClean="0"/>
              <a:pPr/>
              <a:t>22</a:t>
            </a:fld>
            <a:endParaRPr lang="en-US" dirty="0"/>
          </a:p>
        </p:txBody>
      </p:sp>
      <p:pic>
        <p:nvPicPr>
          <p:cNvPr id="4" name="Picture 3">
            <a:extLst>
              <a:ext uri="{FF2B5EF4-FFF2-40B4-BE49-F238E27FC236}">
                <a16:creationId xmlns:a16="http://schemas.microsoft.com/office/drawing/2014/main" id="{32F3AAD2-A804-71D9-3514-BCBEE60CB6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241" y="1121180"/>
            <a:ext cx="4803775" cy="2717165"/>
          </a:xfrm>
          <a:prstGeom prst="rect">
            <a:avLst/>
          </a:prstGeom>
        </p:spPr>
      </p:pic>
      <p:pic>
        <p:nvPicPr>
          <p:cNvPr id="5" name="Picture 4">
            <a:extLst>
              <a:ext uri="{FF2B5EF4-FFF2-40B4-BE49-F238E27FC236}">
                <a16:creationId xmlns:a16="http://schemas.microsoft.com/office/drawing/2014/main" id="{BF1E59B3-1342-4289-7989-D1E42B9744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9094" y="1126260"/>
            <a:ext cx="5138420" cy="2712085"/>
          </a:xfrm>
          <a:prstGeom prst="rect">
            <a:avLst/>
          </a:prstGeom>
        </p:spPr>
      </p:pic>
      <p:pic>
        <p:nvPicPr>
          <p:cNvPr id="6" name="Picture 5">
            <a:extLst>
              <a:ext uri="{FF2B5EF4-FFF2-40B4-BE49-F238E27FC236}">
                <a16:creationId xmlns:a16="http://schemas.microsoft.com/office/drawing/2014/main" id="{6EA56FB5-4759-116F-B988-FC60A73C0F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10378" y="1031010"/>
            <a:ext cx="5311140" cy="2807335"/>
          </a:xfrm>
          <a:prstGeom prst="rect">
            <a:avLst/>
          </a:prstGeom>
        </p:spPr>
      </p:pic>
      <p:pic>
        <p:nvPicPr>
          <p:cNvPr id="7" name="Picture 6">
            <a:extLst>
              <a:ext uri="{FF2B5EF4-FFF2-40B4-BE49-F238E27FC236}">
                <a16:creationId xmlns:a16="http://schemas.microsoft.com/office/drawing/2014/main" id="{A5812B49-314E-51E2-157F-BD1BECE9E9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9241" y="4305300"/>
            <a:ext cx="4803775" cy="2409825"/>
          </a:xfrm>
          <a:prstGeom prst="rect">
            <a:avLst/>
          </a:prstGeom>
        </p:spPr>
      </p:pic>
      <p:pic>
        <p:nvPicPr>
          <p:cNvPr id="8" name="Picture 7">
            <a:extLst>
              <a:ext uri="{FF2B5EF4-FFF2-40B4-BE49-F238E27FC236}">
                <a16:creationId xmlns:a16="http://schemas.microsoft.com/office/drawing/2014/main" id="{98CA0CBF-B870-E913-8EE9-626C18EC67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61211" y="4290094"/>
            <a:ext cx="5138420" cy="2613392"/>
          </a:xfrm>
          <a:prstGeom prst="rect">
            <a:avLst/>
          </a:prstGeom>
        </p:spPr>
      </p:pic>
      <p:pic>
        <p:nvPicPr>
          <p:cNvPr id="9" name="Picture 8">
            <a:extLst>
              <a:ext uri="{FF2B5EF4-FFF2-40B4-BE49-F238E27FC236}">
                <a16:creationId xmlns:a16="http://schemas.microsoft.com/office/drawing/2014/main" id="{69C6A1D5-95F9-50CF-A629-17EBB2D485B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39433" y="4290094"/>
            <a:ext cx="5311140" cy="2752034"/>
          </a:xfrm>
          <a:prstGeom prst="rect">
            <a:avLst/>
          </a:prstGeom>
        </p:spPr>
      </p:pic>
      <p:pic>
        <p:nvPicPr>
          <p:cNvPr id="10" name="Picture 9">
            <a:extLst>
              <a:ext uri="{FF2B5EF4-FFF2-40B4-BE49-F238E27FC236}">
                <a16:creationId xmlns:a16="http://schemas.microsoft.com/office/drawing/2014/main" id="{C5A6A1CB-EC4A-F5CC-4861-36A6A093E0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1858" y="7521696"/>
            <a:ext cx="5138420" cy="2678430"/>
          </a:xfrm>
          <a:prstGeom prst="rect">
            <a:avLst/>
          </a:prstGeom>
        </p:spPr>
      </p:pic>
      <p:pic>
        <p:nvPicPr>
          <p:cNvPr id="11" name="Picture 10">
            <a:extLst>
              <a:ext uri="{FF2B5EF4-FFF2-40B4-BE49-F238E27FC236}">
                <a16:creationId xmlns:a16="http://schemas.microsoft.com/office/drawing/2014/main" id="{AC5F5597-E7CE-A605-E09B-A37DF14F213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23721" y="7385411"/>
            <a:ext cx="4751705" cy="2600325"/>
          </a:xfrm>
          <a:prstGeom prst="rect">
            <a:avLst/>
          </a:prstGeom>
        </p:spPr>
      </p:pic>
      <p:sp>
        <p:nvSpPr>
          <p:cNvPr id="13" name="TextBox 12">
            <a:extLst>
              <a:ext uri="{FF2B5EF4-FFF2-40B4-BE49-F238E27FC236}">
                <a16:creationId xmlns:a16="http://schemas.microsoft.com/office/drawing/2014/main" id="{BA0CC8A8-95D7-725A-DFD1-72457921E834}"/>
              </a:ext>
            </a:extLst>
          </p:cNvPr>
          <p:cNvSpPr txBox="1"/>
          <p:nvPr/>
        </p:nvSpPr>
        <p:spPr>
          <a:xfrm>
            <a:off x="1043891" y="3748657"/>
            <a:ext cx="4222339"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strike rate of each of the allrounders</a:t>
            </a:r>
            <a:endParaRPr lang="en-IN" b="1" dirty="0"/>
          </a:p>
        </p:txBody>
      </p:sp>
      <p:sp>
        <p:nvSpPr>
          <p:cNvPr id="15" name="TextBox 14">
            <a:extLst>
              <a:ext uri="{FF2B5EF4-FFF2-40B4-BE49-F238E27FC236}">
                <a16:creationId xmlns:a16="http://schemas.microsoft.com/office/drawing/2014/main" id="{4A2CF767-EBB2-5368-5802-0685475A0E2C}"/>
              </a:ext>
            </a:extLst>
          </p:cNvPr>
          <p:cNvSpPr txBox="1"/>
          <p:nvPr/>
        </p:nvSpPr>
        <p:spPr>
          <a:xfrm>
            <a:off x="5726471" y="3827439"/>
            <a:ext cx="5485232"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average </a:t>
            </a:r>
            <a:r>
              <a:rPr lang="en-US" sz="1800" b="1" kern="0" dirty="0">
                <a:effectLst/>
                <a:latin typeface="Times New Roman" panose="02020603050405020304" pitchFamily="18" charset="0"/>
                <a:ea typeface="Times New Roman" panose="02020603050405020304" pitchFamily="18" charset="0"/>
              </a:rPr>
              <a:t>of each of the allrounders</a:t>
            </a:r>
            <a:endParaRPr lang="en-IN" b="1" dirty="0"/>
          </a:p>
        </p:txBody>
      </p:sp>
      <p:sp>
        <p:nvSpPr>
          <p:cNvPr id="16" name="TextBox 15">
            <a:extLst>
              <a:ext uri="{FF2B5EF4-FFF2-40B4-BE49-F238E27FC236}">
                <a16:creationId xmlns:a16="http://schemas.microsoft.com/office/drawing/2014/main" id="{187437C1-1939-71A9-45BD-93E6C17CA7E8}"/>
              </a:ext>
            </a:extLst>
          </p:cNvPr>
          <p:cNvSpPr txBox="1"/>
          <p:nvPr/>
        </p:nvSpPr>
        <p:spPr>
          <a:xfrm>
            <a:off x="11395896" y="3831804"/>
            <a:ext cx="6124485"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matches played</a:t>
            </a:r>
            <a:r>
              <a:rPr lang="en-US" sz="1800" b="1" kern="0" dirty="0">
                <a:effectLst/>
                <a:latin typeface="Times New Roman" panose="02020603050405020304" pitchFamily="18" charset="0"/>
                <a:ea typeface="Times New Roman" panose="02020603050405020304" pitchFamily="18" charset="0"/>
              </a:rPr>
              <a:t> of each of the allrounders</a:t>
            </a:r>
            <a:endParaRPr lang="en-IN" b="1" dirty="0"/>
          </a:p>
        </p:txBody>
      </p:sp>
      <p:sp>
        <p:nvSpPr>
          <p:cNvPr id="17" name="TextBox 16">
            <a:extLst>
              <a:ext uri="{FF2B5EF4-FFF2-40B4-BE49-F238E27FC236}">
                <a16:creationId xmlns:a16="http://schemas.microsoft.com/office/drawing/2014/main" id="{6D5D7A3B-43F0-98F5-5AF9-C6AADD61A362}"/>
              </a:ext>
            </a:extLst>
          </p:cNvPr>
          <p:cNvSpPr txBox="1"/>
          <p:nvPr/>
        </p:nvSpPr>
        <p:spPr>
          <a:xfrm>
            <a:off x="309884" y="6730010"/>
            <a:ext cx="5339255"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runs</a:t>
            </a:r>
            <a:r>
              <a:rPr lang="en-US" sz="1800" b="1" kern="0" dirty="0">
                <a:effectLst/>
                <a:latin typeface="Times New Roman" panose="02020603050405020304" pitchFamily="18" charset="0"/>
                <a:ea typeface="Times New Roman" panose="02020603050405020304" pitchFamily="18" charset="0"/>
              </a:rPr>
              <a:t> of each of the allrounders</a:t>
            </a:r>
            <a:endParaRPr lang="en-IN" b="1" dirty="0"/>
          </a:p>
        </p:txBody>
      </p:sp>
      <p:sp>
        <p:nvSpPr>
          <p:cNvPr id="18" name="TextBox 17">
            <a:extLst>
              <a:ext uri="{FF2B5EF4-FFF2-40B4-BE49-F238E27FC236}">
                <a16:creationId xmlns:a16="http://schemas.microsoft.com/office/drawing/2014/main" id="{7C7C705B-4FA8-3AD1-D3F0-AC6077375F1C}"/>
              </a:ext>
            </a:extLst>
          </p:cNvPr>
          <p:cNvSpPr txBox="1"/>
          <p:nvPr/>
        </p:nvSpPr>
        <p:spPr>
          <a:xfrm>
            <a:off x="5872448" y="6857462"/>
            <a:ext cx="5339255"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bowling average</a:t>
            </a:r>
            <a:r>
              <a:rPr lang="en-US" sz="1800" b="1" kern="0" dirty="0">
                <a:effectLst/>
                <a:latin typeface="Times New Roman" panose="02020603050405020304" pitchFamily="18" charset="0"/>
                <a:ea typeface="Times New Roman" panose="02020603050405020304" pitchFamily="18" charset="0"/>
              </a:rPr>
              <a:t> of each of the allrounders</a:t>
            </a:r>
            <a:endParaRPr lang="en-IN" b="1" dirty="0"/>
          </a:p>
        </p:txBody>
      </p:sp>
      <p:sp>
        <p:nvSpPr>
          <p:cNvPr id="19" name="TextBox 18">
            <a:extLst>
              <a:ext uri="{FF2B5EF4-FFF2-40B4-BE49-F238E27FC236}">
                <a16:creationId xmlns:a16="http://schemas.microsoft.com/office/drawing/2014/main" id="{6DFB58BE-036E-4C19-B1ED-ECEBD4765F9F}"/>
              </a:ext>
            </a:extLst>
          </p:cNvPr>
          <p:cNvSpPr txBox="1"/>
          <p:nvPr/>
        </p:nvSpPr>
        <p:spPr>
          <a:xfrm>
            <a:off x="11702541" y="7042128"/>
            <a:ext cx="5609345"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economy</a:t>
            </a:r>
            <a:r>
              <a:rPr lang="en-US" sz="1800" b="1" kern="0" dirty="0">
                <a:effectLst/>
                <a:latin typeface="Times New Roman" panose="02020603050405020304" pitchFamily="18" charset="0"/>
                <a:ea typeface="Times New Roman" panose="02020603050405020304" pitchFamily="18" charset="0"/>
              </a:rPr>
              <a:t> of each of the allrounders</a:t>
            </a:r>
            <a:endParaRPr lang="en-IN" b="1" dirty="0"/>
          </a:p>
        </p:txBody>
      </p:sp>
      <p:sp>
        <p:nvSpPr>
          <p:cNvPr id="20" name="TextBox 19">
            <a:extLst>
              <a:ext uri="{FF2B5EF4-FFF2-40B4-BE49-F238E27FC236}">
                <a16:creationId xmlns:a16="http://schemas.microsoft.com/office/drawing/2014/main" id="{B6E2E470-32C8-6423-5F27-03D85FAE6B22}"/>
              </a:ext>
            </a:extLst>
          </p:cNvPr>
          <p:cNvSpPr txBox="1"/>
          <p:nvPr/>
        </p:nvSpPr>
        <p:spPr>
          <a:xfrm>
            <a:off x="225757" y="8759957"/>
            <a:ext cx="2396218" cy="1200329"/>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bowling strike rate of each of the allrounders</a:t>
            </a:r>
            <a:endParaRPr lang="en-IN" b="1" dirty="0"/>
          </a:p>
        </p:txBody>
      </p:sp>
      <p:sp>
        <p:nvSpPr>
          <p:cNvPr id="21" name="TextBox 20">
            <a:extLst>
              <a:ext uri="{FF2B5EF4-FFF2-40B4-BE49-F238E27FC236}">
                <a16:creationId xmlns:a16="http://schemas.microsoft.com/office/drawing/2014/main" id="{C1786047-5947-7258-3358-85972CF54BA1}"/>
              </a:ext>
            </a:extLst>
          </p:cNvPr>
          <p:cNvSpPr txBox="1"/>
          <p:nvPr/>
        </p:nvSpPr>
        <p:spPr>
          <a:xfrm>
            <a:off x="7697484" y="9959687"/>
            <a:ext cx="5339255" cy="369332"/>
          </a:xfrm>
          <a:prstGeom prst="rect">
            <a:avLst/>
          </a:prstGeom>
          <a:noFill/>
        </p:spPr>
        <p:txBody>
          <a:bodyPr wrap="square">
            <a:spAutoFit/>
          </a:bodyPr>
          <a:lstStyle/>
          <a:p>
            <a:r>
              <a:rPr lang="en-US" sz="1800" kern="0" dirty="0">
                <a:effectLst/>
                <a:latin typeface="Times New Roman" panose="02020603050405020304" pitchFamily="18" charset="0"/>
                <a:ea typeface="Times New Roman" panose="02020603050405020304" pitchFamily="18" charset="0"/>
              </a:rPr>
              <a:t>this plot shows the </a:t>
            </a:r>
            <a:r>
              <a:rPr lang="en-US" kern="0" dirty="0">
                <a:latin typeface="Times New Roman" panose="02020603050405020304" pitchFamily="18" charset="0"/>
                <a:ea typeface="Times New Roman" panose="02020603050405020304" pitchFamily="18" charset="0"/>
              </a:rPr>
              <a:t>wickets</a:t>
            </a:r>
            <a:r>
              <a:rPr lang="en-US" sz="1800" kern="0" dirty="0">
                <a:effectLst/>
                <a:latin typeface="Times New Roman" panose="02020603050405020304" pitchFamily="18" charset="0"/>
                <a:ea typeface="Times New Roman" panose="02020603050405020304" pitchFamily="18" charset="0"/>
              </a:rPr>
              <a:t> of each of the allrounders</a:t>
            </a:r>
            <a:endParaRPr lang="en-IN" dirty="0"/>
          </a:p>
        </p:txBody>
      </p:sp>
      <p:sp>
        <p:nvSpPr>
          <p:cNvPr id="12" name="TextBox 11">
            <a:extLst>
              <a:ext uri="{FF2B5EF4-FFF2-40B4-BE49-F238E27FC236}">
                <a16:creationId xmlns:a16="http://schemas.microsoft.com/office/drawing/2014/main" id="{630AA69C-F343-1EDE-4D3A-015D6E3CF72E}"/>
              </a:ext>
            </a:extLst>
          </p:cNvPr>
          <p:cNvSpPr txBox="1"/>
          <p:nvPr/>
        </p:nvSpPr>
        <p:spPr>
          <a:xfrm>
            <a:off x="13036739" y="7520930"/>
            <a:ext cx="4483642" cy="2585323"/>
          </a:xfrm>
          <a:prstGeom prst="rect">
            <a:avLst/>
          </a:prstGeom>
          <a:solidFill>
            <a:schemeClr val="accent5">
              <a:lumMod val="20000"/>
              <a:lumOff val="80000"/>
            </a:schemeClr>
          </a:solidFill>
          <a:ln>
            <a:solidFill>
              <a:schemeClr val="tx2"/>
            </a:solidFill>
          </a:ln>
          <a:effectLst>
            <a:outerShdw blurRad="50800" dist="38100" dir="5400000" algn="t"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From the above analysis, if we rank down the allrounders from 1-10 on various parameters. The top allrounder options are as follows:</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1. Andre Russell</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2. Sunil </a:t>
            </a:r>
            <a:r>
              <a:rPr lang="en-US" sz="1800" b="1" dirty="0" err="1">
                <a:effectLst/>
                <a:latin typeface="Times New Roman" panose="02020603050405020304" pitchFamily="18" charset="0"/>
                <a:ea typeface="Times New Roman" panose="02020603050405020304" pitchFamily="18" charset="0"/>
              </a:rPr>
              <a:t>Narine</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3. Hardik Pandya</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4. </a:t>
            </a:r>
            <a:r>
              <a:rPr lang="en-US" sz="1800" b="1" dirty="0" err="1">
                <a:effectLst/>
                <a:latin typeface="Times New Roman" panose="02020603050405020304" pitchFamily="18" charset="0"/>
                <a:ea typeface="Times New Roman" panose="02020603050405020304" pitchFamily="18" charset="0"/>
              </a:rPr>
              <a:t>Jofra</a:t>
            </a:r>
            <a:r>
              <a:rPr lang="en-US" sz="1800" b="1" dirty="0">
                <a:effectLst/>
                <a:latin typeface="Times New Roman" panose="02020603050405020304" pitchFamily="18" charset="0"/>
                <a:ea typeface="Times New Roman" panose="02020603050405020304" pitchFamily="18" charset="0"/>
              </a:rPr>
              <a:t> Arche</a:t>
            </a:r>
            <a:endParaRPr lang="en-IN" sz="16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5024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28D29E-7A3C-B6C8-FCC1-2514F09AC3CA}"/>
              </a:ext>
            </a:extLst>
          </p:cNvPr>
          <p:cNvSpPr>
            <a:spLocks noGrp="1"/>
          </p:cNvSpPr>
          <p:nvPr>
            <p:ph type="sldNum" sz="quarter" idx="11"/>
          </p:nvPr>
        </p:nvSpPr>
        <p:spPr/>
        <p:txBody>
          <a:bodyPr/>
          <a:lstStyle/>
          <a:p>
            <a:r>
              <a:rPr lang="en-US"/>
              <a:t>Slide - </a:t>
            </a:r>
            <a:fld id="{B6F15528-21DE-4FAA-801E-634DDDAF4B2B}" type="slidenum">
              <a:rPr lang="en-US" smtClean="0"/>
              <a:pPr/>
              <a:t>23</a:t>
            </a:fld>
            <a:endParaRPr lang="en-US" dirty="0"/>
          </a:p>
        </p:txBody>
      </p:sp>
      <p:sp>
        <p:nvSpPr>
          <p:cNvPr id="3" name="Title 2">
            <a:extLst>
              <a:ext uri="{FF2B5EF4-FFF2-40B4-BE49-F238E27FC236}">
                <a16:creationId xmlns:a16="http://schemas.microsoft.com/office/drawing/2014/main" id="{5CC4BFE0-D7D0-5003-2D2C-08C5DDA68CB9}"/>
              </a:ext>
            </a:extLst>
          </p:cNvPr>
          <p:cNvSpPr>
            <a:spLocks noGrp="1"/>
          </p:cNvSpPr>
          <p:nvPr>
            <p:ph type="title"/>
          </p:nvPr>
        </p:nvSpPr>
        <p:spPr/>
        <p:txBody>
          <a:bodyPr>
            <a:normAutofit fontScale="90000"/>
          </a:bodyPr>
          <a:lstStyle/>
          <a:p>
            <a:r>
              <a:rPr lang="en-US" dirty="0"/>
              <a:t>OUTPUT SCREENSHOTS- Visualization of Keepers data</a:t>
            </a:r>
            <a:endParaRPr lang="en-IN" dirty="0"/>
          </a:p>
        </p:txBody>
      </p:sp>
      <p:pic>
        <p:nvPicPr>
          <p:cNvPr id="4" name="Picture 3">
            <a:extLst>
              <a:ext uri="{FF2B5EF4-FFF2-40B4-BE49-F238E27FC236}">
                <a16:creationId xmlns:a16="http://schemas.microsoft.com/office/drawing/2014/main" id="{0F91EC8D-3A68-D7D2-3F79-A273A65E6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88362"/>
            <a:ext cx="4945119" cy="2773352"/>
          </a:xfrm>
          <a:prstGeom prst="rect">
            <a:avLst/>
          </a:prstGeom>
        </p:spPr>
      </p:pic>
      <p:pic>
        <p:nvPicPr>
          <p:cNvPr id="5" name="Picture 4">
            <a:extLst>
              <a:ext uri="{FF2B5EF4-FFF2-40B4-BE49-F238E27FC236}">
                <a16:creationId xmlns:a16="http://schemas.microsoft.com/office/drawing/2014/main" id="{C7039FCE-3365-5C36-B482-113F6F5E9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438" y="1288362"/>
            <a:ext cx="5112385" cy="2776073"/>
          </a:xfrm>
          <a:prstGeom prst="rect">
            <a:avLst/>
          </a:prstGeom>
        </p:spPr>
      </p:pic>
      <p:pic>
        <p:nvPicPr>
          <p:cNvPr id="6" name="Picture 5">
            <a:extLst>
              <a:ext uri="{FF2B5EF4-FFF2-40B4-BE49-F238E27FC236}">
                <a16:creationId xmlns:a16="http://schemas.microsoft.com/office/drawing/2014/main" id="{7ABF66E7-0F08-673E-CDE6-4175A4CFB7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29661" y="1269969"/>
            <a:ext cx="4830425" cy="2639695"/>
          </a:xfrm>
          <a:prstGeom prst="rect">
            <a:avLst/>
          </a:prstGeom>
        </p:spPr>
      </p:pic>
      <p:pic>
        <p:nvPicPr>
          <p:cNvPr id="7" name="Picture 6">
            <a:extLst>
              <a:ext uri="{FF2B5EF4-FFF2-40B4-BE49-F238E27FC236}">
                <a16:creationId xmlns:a16="http://schemas.microsoft.com/office/drawing/2014/main" id="{BEBCDCE7-B0E8-4621-68E8-850A5645F9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2684" y="4457700"/>
            <a:ext cx="4945118" cy="2917013"/>
          </a:xfrm>
          <a:prstGeom prst="rect">
            <a:avLst/>
          </a:prstGeom>
        </p:spPr>
      </p:pic>
      <p:pic>
        <p:nvPicPr>
          <p:cNvPr id="8" name="Picture 7">
            <a:extLst>
              <a:ext uri="{FF2B5EF4-FFF2-40B4-BE49-F238E27FC236}">
                <a16:creationId xmlns:a16="http://schemas.microsoft.com/office/drawing/2014/main" id="{3447B34B-942D-9C73-FDAF-7F91F8317F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4454" y="4367047"/>
            <a:ext cx="5112385" cy="2793111"/>
          </a:xfrm>
          <a:prstGeom prst="rect">
            <a:avLst/>
          </a:prstGeom>
        </p:spPr>
      </p:pic>
      <p:pic>
        <p:nvPicPr>
          <p:cNvPr id="9" name="Picture 8">
            <a:extLst>
              <a:ext uri="{FF2B5EF4-FFF2-40B4-BE49-F238E27FC236}">
                <a16:creationId xmlns:a16="http://schemas.microsoft.com/office/drawing/2014/main" id="{2039987C-61BF-6933-5C67-BF68961211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29661" y="4385504"/>
            <a:ext cx="5112385" cy="2639695"/>
          </a:xfrm>
          <a:prstGeom prst="rect">
            <a:avLst/>
          </a:prstGeom>
        </p:spPr>
      </p:pic>
      <p:pic>
        <p:nvPicPr>
          <p:cNvPr id="10" name="Picture 9">
            <a:extLst>
              <a:ext uri="{FF2B5EF4-FFF2-40B4-BE49-F238E27FC236}">
                <a16:creationId xmlns:a16="http://schemas.microsoft.com/office/drawing/2014/main" id="{9028908B-D2EC-3264-DA7F-2E7B4CDEFB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19218" y="7546971"/>
            <a:ext cx="5060950" cy="2691130"/>
          </a:xfrm>
          <a:prstGeom prst="rect">
            <a:avLst/>
          </a:prstGeom>
        </p:spPr>
      </p:pic>
      <p:sp>
        <p:nvSpPr>
          <p:cNvPr id="12" name="TextBox 11">
            <a:extLst>
              <a:ext uri="{FF2B5EF4-FFF2-40B4-BE49-F238E27FC236}">
                <a16:creationId xmlns:a16="http://schemas.microsoft.com/office/drawing/2014/main" id="{D6FE0DCB-9C6C-D131-CC54-719B5CFC82AC}"/>
              </a:ext>
            </a:extLst>
          </p:cNvPr>
          <p:cNvSpPr txBox="1"/>
          <p:nvPr/>
        </p:nvSpPr>
        <p:spPr>
          <a:xfrm>
            <a:off x="845954" y="4061714"/>
            <a:ext cx="4597332"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average of top keepers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3" name="TextBox 12">
            <a:extLst>
              <a:ext uri="{FF2B5EF4-FFF2-40B4-BE49-F238E27FC236}">
                <a16:creationId xmlns:a16="http://schemas.microsoft.com/office/drawing/2014/main" id="{83842BE8-C76C-A550-BF00-73EDE6EDAF01}"/>
              </a:ext>
            </a:extLst>
          </p:cNvPr>
          <p:cNvSpPr txBox="1"/>
          <p:nvPr/>
        </p:nvSpPr>
        <p:spPr>
          <a:xfrm>
            <a:off x="6781175" y="4016172"/>
            <a:ext cx="4210597"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runs</a:t>
            </a:r>
            <a:r>
              <a:rPr lang="en-US" sz="1800" b="1" kern="0" dirty="0">
                <a:effectLst/>
                <a:latin typeface="Times New Roman" panose="02020603050405020304" pitchFamily="18" charset="0"/>
                <a:ea typeface="Times New Roman" panose="02020603050405020304" pitchFamily="18" charset="0"/>
              </a:rPr>
              <a:t> of top keepers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4" name="TextBox 13">
            <a:extLst>
              <a:ext uri="{FF2B5EF4-FFF2-40B4-BE49-F238E27FC236}">
                <a16:creationId xmlns:a16="http://schemas.microsoft.com/office/drawing/2014/main" id="{0E3B8EF8-007F-BB2A-FF35-CA9058DC8C7E}"/>
              </a:ext>
            </a:extLst>
          </p:cNvPr>
          <p:cNvSpPr txBox="1"/>
          <p:nvPr/>
        </p:nvSpPr>
        <p:spPr>
          <a:xfrm>
            <a:off x="12573888" y="3941515"/>
            <a:ext cx="4623929"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strike rate</a:t>
            </a:r>
            <a:r>
              <a:rPr lang="en-US" sz="1800" b="1" kern="0" dirty="0">
                <a:effectLst/>
                <a:latin typeface="Times New Roman" panose="02020603050405020304" pitchFamily="18" charset="0"/>
                <a:ea typeface="Times New Roman" panose="02020603050405020304" pitchFamily="18" charset="0"/>
              </a:rPr>
              <a:t> of top keepers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5" name="TextBox 14">
            <a:extLst>
              <a:ext uri="{FF2B5EF4-FFF2-40B4-BE49-F238E27FC236}">
                <a16:creationId xmlns:a16="http://schemas.microsoft.com/office/drawing/2014/main" id="{396061F5-7660-D594-3FC3-63130C7ADB37}"/>
              </a:ext>
            </a:extLst>
          </p:cNvPr>
          <p:cNvSpPr txBox="1"/>
          <p:nvPr/>
        </p:nvSpPr>
        <p:spPr>
          <a:xfrm>
            <a:off x="486577" y="7342838"/>
            <a:ext cx="4597332"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catches</a:t>
            </a:r>
            <a:r>
              <a:rPr lang="en-US" sz="1800" b="1" kern="0" dirty="0">
                <a:effectLst/>
                <a:latin typeface="Times New Roman" panose="02020603050405020304" pitchFamily="18" charset="0"/>
                <a:ea typeface="Times New Roman" panose="02020603050405020304" pitchFamily="18" charset="0"/>
              </a:rPr>
              <a:t> of top keepers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6" name="TextBox 15">
            <a:extLst>
              <a:ext uri="{FF2B5EF4-FFF2-40B4-BE49-F238E27FC236}">
                <a16:creationId xmlns:a16="http://schemas.microsoft.com/office/drawing/2014/main" id="{7D1B4FB6-4139-07E1-8A45-2D4C796A1194}"/>
              </a:ext>
            </a:extLst>
          </p:cNvPr>
          <p:cNvSpPr txBox="1"/>
          <p:nvPr/>
        </p:nvSpPr>
        <p:spPr>
          <a:xfrm>
            <a:off x="6461125" y="7117204"/>
            <a:ext cx="5060950"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Run outs</a:t>
            </a:r>
            <a:r>
              <a:rPr lang="en-US" sz="1800" b="1" kern="0" dirty="0">
                <a:effectLst/>
                <a:latin typeface="Times New Roman" panose="02020603050405020304" pitchFamily="18" charset="0"/>
                <a:ea typeface="Times New Roman" panose="02020603050405020304" pitchFamily="18" charset="0"/>
              </a:rPr>
              <a:t> of top keepers</a:t>
            </a:r>
            <a:r>
              <a:rPr lang="en-US" sz="1800" kern="0" dirty="0">
                <a:effectLst/>
                <a:latin typeface="Times New Roman" panose="02020603050405020304" pitchFamily="18" charset="0"/>
                <a:ea typeface="Times New Roman" panose="02020603050405020304" pitchFamily="18" charset="0"/>
              </a:rPr>
              <a:t>.</a:t>
            </a:r>
            <a:endParaRPr lang="en-IN" dirty="0"/>
          </a:p>
        </p:txBody>
      </p:sp>
      <p:sp>
        <p:nvSpPr>
          <p:cNvPr id="17" name="TextBox 16">
            <a:extLst>
              <a:ext uri="{FF2B5EF4-FFF2-40B4-BE49-F238E27FC236}">
                <a16:creationId xmlns:a16="http://schemas.microsoft.com/office/drawing/2014/main" id="{60A76919-F150-3BCF-0786-5D425A665FDE}"/>
              </a:ext>
            </a:extLst>
          </p:cNvPr>
          <p:cNvSpPr txBox="1"/>
          <p:nvPr/>
        </p:nvSpPr>
        <p:spPr>
          <a:xfrm>
            <a:off x="12949489" y="6964748"/>
            <a:ext cx="4492557"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Stumps of top keepers.</a:t>
            </a:r>
            <a:endParaRPr lang="en-IN" b="1" dirty="0"/>
          </a:p>
        </p:txBody>
      </p:sp>
      <p:sp>
        <p:nvSpPr>
          <p:cNvPr id="18" name="TextBox 17">
            <a:extLst>
              <a:ext uri="{FF2B5EF4-FFF2-40B4-BE49-F238E27FC236}">
                <a16:creationId xmlns:a16="http://schemas.microsoft.com/office/drawing/2014/main" id="{9426A68D-952E-864D-27AE-0B534BFAF20C}"/>
              </a:ext>
            </a:extLst>
          </p:cNvPr>
          <p:cNvSpPr txBox="1"/>
          <p:nvPr/>
        </p:nvSpPr>
        <p:spPr>
          <a:xfrm>
            <a:off x="12633873" y="8550674"/>
            <a:ext cx="3211598"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this plot shows the </a:t>
            </a:r>
            <a:r>
              <a:rPr lang="en-US" b="1" kern="0" dirty="0">
                <a:latin typeface="Times New Roman" panose="02020603050405020304" pitchFamily="18" charset="0"/>
                <a:ea typeface="Times New Roman" panose="02020603050405020304" pitchFamily="18" charset="0"/>
              </a:rPr>
              <a:t>matches played</a:t>
            </a:r>
            <a:r>
              <a:rPr lang="en-US" sz="1800" b="1" kern="0" dirty="0">
                <a:effectLst/>
                <a:latin typeface="Times New Roman" panose="02020603050405020304" pitchFamily="18" charset="0"/>
                <a:ea typeface="Times New Roman" panose="02020603050405020304" pitchFamily="18" charset="0"/>
              </a:rPr>
              <a:t> of top keepers.</a:t>
            </a:r>
            <a:endParaRPr lang="en-IN" b="1" dirty="0"/>
          </a:p>
        </p:txBody>
      </p:sp>
      <p:sp>
        <p:nvSpPr>
          <p:cNvPr id="11" name="TextBox 10">
            <a:extLst>
              <a:ext uri="{FF2B5EF4-FFF2-40B4-BE49-F238E27FC236}">
                <a16:creationId xmlns:a16="http://schemas.microsoft.com/office/drawing/2014/main" id="{02BCA448-AE23-1CE2-B67A-BDD51C869DA1}"/>
              </a:ext>
            </a:extLst>
          </p:cNvPr>
          <p:cNvSpPr txBox="1"/>
          <p:nvPr/>
        </p:nvSpPr>
        <p:spPr>
          <a:xfrm>
            <a:off x="977223" y="7810638"/>
            <a:ext cx="5004000" cy="2246769"/>
          </a:xfrm>
          <a:prstGeom prst="rect">
            <a:avLst/>
          </a:prstGeom>
          <a:solidFill>
            <a:schemeClr val="accent5">
              <a:lumMod val="20000"/>
              <a:lumOff val="80000"/>
            </a:schemeClr>
          </a:solidFill>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1800" b="1" dirty="0">
                <a:effectLst/>
                <a:latin typeface="Times New Roman" panose="02020603050405020304" pitchFamily="18" charset="0"/>
                <a:ea typeface="Times New Roman" panose="02020603050405020304" pitchFamily="18" charset="0"/>
              </a:rPr>
              <a:t>If we rank the keepers in order of 1-10 on the above parameters. The top 3 keepers will be</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 </a:t>
            </a:r>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1. MS Dhoni</a:t>
            </a:r>
            <a:endParaRPr lang="en-IN" sz="1600" b="1" dirty="0">
              <a:effectLst/>
              <a:latin typeface="Times New Roman" panose="02020603050405020304" pitchFamily="18" charset="0"/>
              <a:ea typeface="Times New Roman" panose="02020603050405020304" pitchFamily="18" charset="0"/>
            </a:endParaRP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2. Dinesh Karthik</a:t>
            </a:r>
            <a:endParaRPr lang="en-IN" sz="1600" b="1" dirty="0">
              <a:effectLst/>
              <a:latin typeface="Times New Roman" panose="02020603050405020304" pitchFamily="18" charset="0"/>
              <a:ea typeface="Times New Roman" panose="02020603050405020304" pitchFamily="18" charset="0"/>
            </a:endParaRPr>
          </a:p>
          <a:p>
            <a:pPr algn="just"/>
            <a:endParaRPr lang="en-IN" sz="1600" b="1" dirty="0">
              <a:effectLst/>
              <a:latin typeface="Times New Roman" panose="02020603050405020304" pitchFamily="18" charset="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3. Rishabh Pant</a:t>
            </a:r>
            <a:endParaRPr lang="en-IN" sz="16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66702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693D15-856B-D775-9DB7-476F8AF48D2C}"/>
              </a:ext>
            </a:extLst>
          </p:cNvPr>
          <p:cNvSpPr>
            <a:spLocks noGrp="1"/>
          </p:cNvSpPr>
          <p:nvPr>
            <p:ph type="sldNum" sz="quarter" idx="11"/>
          </p:nvPr>
        </p:nvSpPr>
        <p:spPr/>
        <p:txBody>
          <a:bodyPr/>
          <a:lstStyle/>
          <a:p>
            <a:r>
              <a:rPr lang="en-US"/>
              <a:t>Slide - </a:t>
            </a:r>
            <a:fld id="{B6F15528-21DE-4FAA-801E-634DDDAF4B2B}" type="slidenum">
              <a:rPr lang="en-US" smtClean="0"/>
              <a:pPr/>
              <a:t>24</a:t>
            </a:fld>
            <a:endParaRPr lang="en-US" dirty="0"/>
          </a:p>
        </p:txBody>
      </p:sp>
      <p:sp>
        <p:nvSpPr>
          <p:cNvPr id="2" name="Title 1">
            <a:extLst>
              <a:ext uri="{FF2B5EF4-FFF2-40B4-BE49-F238E27FC236}">
                <a16:creationId xmlns:a16="http://schemas.microsoft.com/office/drawing/2014/main" id="{980E459C-F12A-4E91-67D3-D3F5F16C26AF}"/>
              </a:ext>
            </a:extLst>
          </p:cNvPr>
          <p:cNvSpPr>
            <a:spLocks noGrp="1"/>
          </p:cNvSpPr>
          <p:nvPr>
            <p:ph type="title"/>
          </p:nvPr>
        </p:nvSpPr>
        <p:spPr>
          <a:xfrm>
            <a:off x="990600" y="747841"/>
            <a:ext cx="15735300" cy="816349"/>
          </a:xfrm>
        </p:spPr>
        <p:txBody>
          <a:bodyPr>
            <a:normAutofit fontScale="90000"/>
          </a:bodyPr>
          <a:lstStyle/>
          <a:p>
            <a:r>
              <a:rPr lang="en-US" dirty="0">
                <a:solidFill>
                  <a:schemeClr val="tx2">
                    <a:lumMod val="50000"/>
                  </a:schemeClr>
                </a:solidFill>
              </a:rPr>
              <a:t>OUTPUT SCREENSHOTS - </a:t>
            </a:r>
            <a:r>
              <a:rPr lang="en-IN" sz="5400" b="1" dirty="0">
                <a:solidFill>
                  <a:schemeClr val="tx2">
                    <a:lumMod val="50000"/>
                  </a:schemeClr>
                </a:solidFill>
              </a:rPr>
              <a:t>Formulating the Best XI</a:t>
            </a:r>
            <a:br>
              <a:rPr lang="en-IN" sz="5400" b="1" dirty="0"/>
            </a:br>
            <a:endParaRPr lang="en-SG" dirty="0">
              <a:solidFill>
                <a:schemeClr val="tx2">
                  <a:lumMod val="50000"/>
                </a:schemeClr>
              </a:solidFill>
            </a:endParaRPr>
          </a:p>
        </p:txBody>
      </p:sp>
      <p:pic>
        <p:nvPicPr>
          <p:cNvPr id="8" name="Picture 7">
            <a:extLst>
              <a:ext uri="{FF2B5EF4-FFF2-40B4-BE49-F238E27FC236}">
                <a16:creationId xmlns:a16="http://schemas.microsoft.com/office/drawing/2014/main" id="{AB5CF194-34D9-0982-5409-2006342CE1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811" y="2171699"/>
            <a:ext cx="5794551" cy="5564303"/>
          </a:xfrm>
          <a:prstGeom prst="rect">
            <a:avLst/>
          </a:prstGeom>
        </p:spPr>
      </p:pic>
      <p:pic>
        <p:nvPicPr>
          <p:cNvPr id="9" name="Picture 8">
            <a:extLst>
              <a:ext uri="{FF2B5EF4-FFF2-40B4-BE49-F238E27FC236}">
                <a16:creationId xmlns:a16="http://schemas.microsoft.com/office/drawing/2014/main" id="{29A632AB-4E1B-9368-B4B4-0104A59C2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9842" y="2059058"/>
            <a:ext cx="5857358" cy="4262177"/>
          </a:xfrm>
          <a:prstGeom prst="rect">
            <a:avLst/>
          </a:prstGeom>
        </p:spPr>
      </p:pic>
      <p:pic>
        <p:nvPicPr>
          <p:cNvPr id="10" name="Picture 9">
            <a:extLst>
              <a:ext uri="{FF2B5EF4-FFF2-40B4-BE49-F238E27FC236}">
                <a16:creationId xmlns:a16="http://schemas.microsoft.com/office/drawing/2014/main" id="{A91B722A-EE75-560D-BFFB-A656505925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9841" y="6286500"/>
            <a:ext cx="5857359" cy="1461982"/>
          </a:xfrm>
          <a:prstGeom prst="rect">
            <a:avLst/>
          </a:prstGeom>
        </p:spPr>
      </p:pic>
      <p:pic>
        <p:nvPicPr>
          <p:cNvPr id="11" name="Picture 10">
            <a:extLst>
              <a:ext uri="{FF2B5EF4-FFF2-40B4-BE49-F238E27FC236}">
                <a16:creationId xmlns:a16="http://schemas.microsoft.com/office/drawing/2014/main" id="{2F787DF7-DD17-68E6-8780-7812033221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1920" y="1897946"/>
            <a:ext cx="6060894" cy="5944504"/>
          </a:xfrm>
          <a:prstGeom prst="rect">
            <a:avLst/>
          </a:prstGeom>
        </p:spPr>
      </p:pic>
      <p:sp>
        <p:nvSpPr>
          <p:cNvPr id="7" name="TextBox 6">
            <a:extLst>
              <a:ext uri="{FF2B5EF4-FFF2-40B4-BE49-F238E27FC236}">
                <a16:creationId xmlns:a16="http://schemas.microsoft.com/office/drawing/2014/main" id="{4A091177-A517-DC6A-68BE-B848458769E0}"/>
              </a:ext>
            </a:extLst>
          </p:cNvPr>
          <p:cNvSpPr txBox="1"/>
          <p:nvPr/>
        </p:nvSpPr>
        <p:spPr>
          <a:xfrm>
            <a:off x="6287125" y="7795619"/>
            <a:ext cx="5600075"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Allrounders for the final 11 - Andre Russell, Sunil </a:t>
            </a:r>
            <a:r>
              <a:rPr lang="en-US" sz="1800" b="1" kern="0" dirty="0" err="1">
                <a:effectLst/>
                <a:latin typeface="Times New Roman" panose="02020603050405020304" pitchFamily="18" charset="0"/>
                <a:ea typeface="Times New Roman" panose="02020603050405020304" pitchFamily="18" charset="0"/>
              </a:rPr>
              <a:t>Narine</a:t>
            </a:r>
            <a:r>
              <a:rPr lang="en-US" sz="1800" b="1" kern="0" dirty="0">
                <a:effectLst/>
                <a:latin typeface="Times New Roman" panose="02020603050405020304" pitchFamily="18" charset="0"/>
                <a:ea typeface="Times New Roman" panose="02020603050405020304" pitchFamily="18" charset="0"/>
              </a:rPr>
              <a:t>, Hardik Pandya</a:t>
            </a:r>
            <a:endParaRPr lang="en-IN" b="1" dirty="0"/>
          </a:p>
        </p:txBody>
      </p:sp>
      <p:sp>
        <p:nvSpPr>
          <p:cNvPr id="13" name="TextBox 12">
            <a:extLst>
              <a:ext uri="{FF2B5EF4-FFF2-40B4-BE49-F238E27FC236}">
                <a16:creationId xmlns:a16="http://schemas.microsoft.com/office/drawing/2014/main" id="{240BC7EB-36EB-B8B9-C590-5C2FEC4664D8}"/>
              </a:ext>
            </a:extLst>
          </p:cNvPr>
          <p:cNvSpPr txBox="1"/>
          <p:nvPr/>
        </p:nvSpPr>
        <p:spPr>
          <a:xfrm>
            <a:off x="12864061" y="7795619"/>
            <a:ext cx="4517037" cy="923330"/>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Bowlers for the final 11-Jasprit </a:t>
            </a:r>
            <a:r>
              <a:rPr lang="en-US" sz="1800" b="1" kern="0" dirty="0" err="1">
                <a:effectLst/>
                <a:latin typeface="Times New Roman" panose="02020603050405020304" pitchFamily="18" charset="0"/>
                <a:ea typeface="Times New Roman" panose="02020603050405020304" pitchFamily="18" charset="0"/>
              </a:rPr>
              <a:t>Bumrah</a:t>
            </a:r>
            <a:r>
              <a:rPr lang="en-US" sz="1800" b="1" kern="0" dirty="0">
                <a:effectLst/>
                <a:latin typeface="Times New Roman" panose="02020603050405020304" pitchFamily="18" charset="0"/>
                <a:ea typeface="Times New Roman" panose="02020603050405020304" pitchFamily="18" charset="0"/>
              </a:rPr>
              <a:t>, Kagiso </a:t>
            </a:r>
            <a:r>
              <a:rPr lang="en-US" sz="1800" b="1" kern="0" dirty="0" err="1">
                <a:effectLst/>
                <a:latin typeface="Times New Roman" panose="02020603050405020304" pitchFamily="18" charset="0"/>
                <a:ea typeface="Times New Roman" panose="02020603050405020304" pitchFamily="18" charset="0"/>
              </a:rPr>
              <a:t>Rabada</a:t>
            </a:r>
            <a:r>
              <a:rPr lang="en-US" sz="1800" b="1" kern="0" dirty="0">
                <a:effectLst/>
                <a:latin typeface="Times New Roman" panose="02020603050405020304" pitchFamily="18" charset="0"/>
                <a:ea typeface="Times New Roman" panose="02020603050405020304" pitchFamily="18" charset="0"/>
              </a:rPr>
              <a:t>, Nathan Coulter Nile, </a:t>
            </a:r>
            <a:r>
              <a:rPr lang="en-US" sz="1800" b="1" kern="0" dirty="0" err="1">
                <a:effectLst/>
                <a:latin typeface="Times New Roman" panose="02020603050405020304" pitchFamily="18" charset="0"/>
                <a:ea typeface="Times New Roman" panose="02020603050405020304" pitchFamily="18" charset="0"/>
              </a:rPr>
              <a:t>Yuzi</a:t>
            </a:r>
            <a:r>
              <a:rPr lang="en-US" sz="1800" b="1" kern="0" dirty="0">
                <a:effectLst/>
                <a:latin typeface="Times New Roman" panose="02020603050405020304" pitchFamily="18" charset="0"/>
                <a:ea typeface="Times New Roman" panose="02020603050405020304" pitchFamily="18" charset="0"/>
              </a:rPr>
              <a:t> Chahal</a:t>
            </a:r>
            <a:endParaRPr lang="en-IN" b="1" dirty="0"/>
          </a:p>
        </p:txBody>
      </p:sp>
      <p:sp>
        <p:nvSpPr>
          <p:cNvPr id="15" name="TextBox 14">
            <a:extLst>
              <a:ext uri="{FF2B5EF4-FFF2-40B4-BE49-F238E27FC236}">
                <a16:creationId xmlns:a16="http://schemas.microsoft.com/office/drawing/2014/main" id="{DDB03C70-A33B-EEA3-AA0E-A52BCB33F8DA}"/>
              </a:ext>
            </a:extLst>
          </p:cNvPr>
          <p:cNvSpPr txBox="1"/>
          <p:nvPr/>
        </p:nvSpPr>
        <p:spPr>
          <a:xfrm>
            <a:off x="255047" y="7884617"/>
            <a:ext cx="5647751" cy="646331"/>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Batters for the Final 11- KL Rahul, Virat Kohli, David Warner</a:t>
            </a:r>
            <a:endParaRPr lang="en-IN" b="1" dirty="0"/>
          </a:p>
        </p:txBody>
      </p:sp>
    </p:spTree>
    <p:extLst>
      <p:ext uri="{BB962C8B-B14F-4D97-AF65-F5344CB8AC3E}">
        <p14:creationId xmlns:p14="http://schemas.microsoft.com/office/powerpoint/2010/main" val="3122878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DA61-ECE0-8CE0-9F91-735D1DF0E733}"/>
              </a:ext>
            </a:extLst>
          </p:cNvPr>
          <p:cNvSpPr>
            <a:spLocks noGrp="1"/>
          </p:cNvSpPr>
          <p:nvPr>
            <p:ph type="title"/>
          </p:nvPr>
        </p:nvSpPr>
        <p:spPr>
          <a:xfrm>
            <a:off x="457200" y="274638"/>
            <a:ext cx="16230600" cy="365125"/>
          </a:xfrm>
        </p:spPr>
        <p:txBody>
          <a:bodyPr>
            <a:noAutofit/>
          </a:bodyPr>
          <a:lstStyle/>
          <a:p>
            <a:r>
              <a:rPr lang="en-US" sz="4000" dirty="0"/>
              <a:t>OUTPUT SCREENSHOTS-</a:t>
            </a:r>
            <a:r>
              <a:rPr lang="en-IN" sz="4000" b="1" dirty="0">
                <a:solidFill>
                  <a:schemeClr val="tx2">
                    <a:lumMod val="50000"/>
                  </a:schemeClr>
                </a:solidFill>
              </a:rPr>
              <a:t> Formulating the Best XI</a:t>
            </a:r>
            <a:endParaRPr lang="en-SG" sz="4000" dirty="0"/>
          </a:p>
        </p:txBody>
      </p:sp>
      <p:sp>
        <p:nvSpPr>
          <p:cNvPr id="3" name="Slide Number Placeholder 2">
            <a:extLst>
              <a:ext uri="{FF2B5EF4-FFF2-40B4-BE49-F238E27FC236}">
                <a16:creationId xmlns:a16="http://schemas.microsoft.com/office/drawing/2014/main" id="{32A05767-6626-80C8-9C2F-EC23B4304121}"/>
              </a:ext>
            </a:extLst>
          </p:cNvPr>
          <p:cNvSpPr>
            <a:spLocks noGrp="1"/>
          </p:cNvSpPr>
          <p:nvPr>
            <p:ph type="sldNum" sz="quarter" idx="11"/>
          </p:nvPr>
        </p:nvSpPr>
        <p:spPr/>
        <p:txBody>
          <a:bodyPr/>
          <a:lstStyle/>
          <a:p>
            <a:r>
              <a:rPr lang="en-US"/>
              <a:t>Slide - </a:t>
            </a:r>
            <a:fld id="{B6F15528-21DE-4FAA-801E-634DDDAF4B2B}" type="slidenum">
              <a:rPr lang="en-US" smtClean="0"/>
              <a:pPr/>
              <a:t>25</a:t>
            </a:fld>
            <a:endParaRPr lang="en-US" dirty="0"/>
          </a:p>
        </p:txBody>
      </p:sp>
      <p:pic>
        <p:nvPicPr>
          <p:cNvPr id="6" name="Picture 5">
            <a:extLst>
              <a:ext uri="{FF2B5EF4-FFF2-40B4-BE49-F238E27FC236}">
                <a16:creationId xmlns:a16="http://schemas.microsoft.com/office/drawing/2014/main" id="{CC89CDF8-11ED-D73C-A24A-0B1466116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033394"/>
            <a:ext cx="8171374" cy="4352788"/>
          </a:xfrm>
          <a:prstGeom prst="rect">
            <a:avLst/>
          </a:prstGeom>
        </p:spPr>
      </p:pic>
      <p:pic>
        <p:nvPicPr>
          <p:cNvPr id="7" name="Picture 6">
            <a:extLst>
              <a:ext uri="{FF2B5EF4-FFF2-40B4-BE49-F238E27FC236}">
                <a16:creationId xmlns:a16="http://schemas.microsoft.com/office/drawing/2014/main" id="{1F25D3FF-9965-9919-4C6E-E90477B4C4A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1358487" y="811484"/>
            <a:ext cx="5762370" cy="5113337"/>
          </a:xfrm>
          <a:prstGeom prst="rect">
            <a:avLst/>
          </a:prstGeom>
        </p:spPr>
      </p:pic>
      <p:pic>
        <p:nvPicPr>
          <p:cNvPr id="8" name="Picture 7">
            <a:extLst>
              <a:ext uri="{FF2B5EF4-FFF2-40B4-BE49-F238E27FC236}">
                <a16:creationId xmlns:a16="http://schemas.microsoft.com/office/drawing/2014/main" id="{0CD64AC5-C2BF-84EC-DE64-3912CFC460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29200" y="6096543"/>
            <a:ext cx="8610600" cy="3185331"/>
          </a:xfrm>
          <a:prstGeom prst="rect">
            <a:avLst/>
          </a:prstGeom>
        </p:spPr>
      </p:pic>
      <p:sp>
        <p:nvSpPr>
          <p:cNvPr id="5" name="TextBox 4">
            <a:extLst>
              <a:ext uri="{FF2B5EF4-FFF2-40B4-BE49-F238E27FC236}">
                <a16:creationId xmlns:a16="http://schemas.microsoft.com/office/drawing/2014/main" id="{9811AE96-D954-01C5-AA2F-491EAD6D4A2E}"/>
              </a:ext>
            </a:extLst>
          </p:cNvPr>
          <p:cNvSpPr txBox="1"/>
          <p:nvPr/>
        </p:nvSpPr>
        <p:spPr>
          <a:xfrm>
            <a:off x="3505200" y="5366707"/>
            <a:ext cx="4761271" cy="615553"/>
          </a:xfrm>
          <a:prstGeom prst="rect">
            <a:avLst/>
          </a:prstGeom>
          <a:noFill/>
        </p:spPr>
        <p:txBody>
          <a:bodyPr wrap="square">
            <a:spAutoFit/>
          </a:bodyPr>
          <a:lstStyle/>
          <a:p>
            <a:pPr algn="just"/>
            <a:r>
              <a:rPr lang="en-US" b="1" dirty="0">
                <a:effectLst/>
                <a:latin typeface="Times New Roman" panose="02020603050405020304" pitchFamily="18" charset="0"/>
                <a:ea typeface="Times New Roman" panose="02020603050405020304" pitchFamily="18" charset="0"/>
              </a:rPr>
              <a:t>Wicket Keeper For The Final 11-MS Dhoni</a:t>
            </a:r>
            <a:endParaRPr lang="en-IN" b="1" dirty="0">
              <a:effectLst/>
              <a:latin typeface="Times New Roman" panose="02020603050405020304" pitchFamily="18" charset="0"/>
              <a:ea typeface="Times New Roman" panose="02020603050405020304" pitchFamily="18" charset="0"/>
            </a:endParaRPr>
          </a:p>
          <a:p>
            <a:pPr algn="just"/>
            <a:endParaRPr lang="en-IN" sz="16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75A30D4C-8ED3-52C3-BC20-EBAE82C2401F}"/>
              </a:ext>
            </a:extLst>
          </p:cNvPr>
          <p:cNvSpPr txBox="1"/>
          <p:nvPr/>
        </p:nvSpPr>
        <p:spPr>
          <a:xfrm>
            <a:off x="7620000" y="9329278"/>
            <a:ext cx="4581832" cy="369332"/>
          </a:xfrm>
          <a:prstGeom prst="rect">
            <a:avLst/>
          </a:prstGeom>
          <a:noFill/>
        </p:spPr>
        <p:txBody>
          <a:bodyPr wrap="square">
            <a:spAutoFit/>
          </a:bodyPr>
          <a:lstStyle/>
          <a:p>
            <a:pPr algn="ctr"/>
            <a:r>
              <a:rPr lang="en-IN" sz="1800" b="1" dirty="0"/>
              <a:t>Formulated the Best XI Players</a:t>
            </a:r>
          </a:p>
        </p:txBody>
      </p:sp>
    </p:spTree>
    <p:extLst>
      <p:ext uri="{BB962C8B-B14F-4D97-AF65-F5344CB8AC3E}">
        <p14:creationId xmlns:p14="http://schemas.microsoft.com/office/powerpoint/2010/main" val="1429763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8DFF-EE3D-EA08-EC24-C675859D5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05C2E-B2DB-8A16-9E20-F10E3E9DE69A}"/>
              </a:ext>
            </a:extLst>
          </p:cNvPr>
          <p:cNvSpPr>
            <a:spLocks noGrp="1"/>
          </p:cNvSpPr>
          <p:nvPr>
            <p:ph type="title"/>
          </p:nvPr>
        </p:nvSpPr>
        <p:spPr>
          <a:xfrm>
            <a:off x="152400" y="-19697"/>
            <a:ext cx="15925800" cy="834449"/>
          </a:xfrm>
        </p:spPr>
        <p:txBody>
          <a:bodyPr>
            <a:normAutofit/>
          </a:bodyPr>
          <a:lstStyle/>
          <a:p>
            <a:r>
              <a:rPr lang="en-US" sz="4000" dirty="0"/>
              <a:t>OUTPUT SCREENSHOTS</a:t>
            </a:r>
            <a:endParaRPr lang="en-SG" sz="4000" dirty="0"/>
          </a:p>
        </p:txBody>
      </p:sp>
      <p:sp>
        <p:nvSpPr>
          <p:cNvPr id="3" name="Slide Number Placeholder 2">
            <a:extLst>
              <a:ext uri="{FF2B5EF4-FFF2-40B4-BE49-F238E27FC236}">
                <a16:creationId xmlns:a16="http://schemas.microsoft.com/office/drawing/2014/main" id="{22DCEF19-76AC-3B53-D62C-234E967A5EC5}"/>
              </a:ext>
            </a:extLst>
          </p:cNvPr>
          <p:cNvSpPr>
            <a:spLocks noGrp="1"/>
          </p:cNvSpPr>
          <p:nvPr>
            <p:ph type="sldNum" sz="quarter" idx="11"/>
          </p:nvPr>
        </p:nvSpPr>
        <p:spPr/>
        <p:txBody>
          <a:bodyPr/>
          <a:lstStyle/>
          <a:p>
            <a:r>
              <a:rPr lang="en-US"/>
              <a:t>Slide - </a:t>
            </a:r>
            <a:fld id="{B6F15528-21DE-4FAA-801E-634DDDAF4B2B}" type="slidenum">
              <a:rPr lang="en-US" smtClean="0"/>
              <a:pPr/>
              <a:t>26</a:t>
            </a:fld>
            <a:endParaRPr lang="en-US" dirty="0"/>
          </a:p>
        </p:txBody>
      </p:sp>
      <p:sp>
        <p:nvSpPr>
          <p:cNvPr id="5" name="TextBox 4">
            <a:extLst>
              <a:ext uri="{FF2B5EF4-FFF2-40B4-BE49-F238E27FC236}">
                <a16:creationId xmlns:a16="http://schemas.microsoft.com/office/drawing/2014/main" id="{524ABD81-EC56-7BBE-05D1-36F4738BBE20}"/>
              </a:ext>
            </a:extLst>
          </p:cNvPr>
          <p:cNvSpPr txBox="1"/>
          <p:nvPr/>
        </p:nvSpPr>
        <p:spPr>
          <a:xfrm>
            <a:off x="2198074" y="9429389"/>
            <a:ext cx="13434652" cy="523220"/>
          </a:xfrm>
          <a:prstGeom prst="rect">
            <a:avLst/>
          </a:prstGeom>
          <a:noFill/>
        </p:spPr>
        <p:txBody>
          <a:bodyPr wrap="square" rtlCol="0">
            <a:spAutoFit/>
          </a:bodyPr>
          <a:lstStyle/>
          <a:p>
            <a:pPr algn="ctr"/>
            <a:r>
              <a:rPr lang="en-US" sz="2800" dirty="0">
                <a:solidFill>
                  <a:schemeClr val="bg1"/>
                </a:solidFill>
                <a:latin typeface="Glacial Indifference" panose="020B0604020202020204" charset="0"/>
              </a:rPr>
              <a:t>POWER BI DASHBOARD OF IPL DATA ANALYSIS</a:t>
            </a:r>
          </a:p>
        </p:txBody>
      </p:sp>
      <p:pic>
        <p:nvPicPr>
          <p:cNvPr id="4" name="Picture 3">
            <a:extLst>
              <a:ext uri="{FF2B5EF4-FFF2-40B4-BE49-F238E27FC236}">
                <a16:creationId xmlns:a16="http://schemas.microsoft.com/office/drawing/2014/main" id="{59719472-76EB-8021-0A44-866BE94ADA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8245" y="791400"/>
            <a:ext cx="14478000" cy="8118853"/>
          </a:xfrm>
          <a:prstGeom prst="rect">
            <a:avLst/>
          </a:prstGeom>
        </p:spPr>
      </p:pic>
    </p:spTree>
    <p:extLst>
      <p:ext uri="{BB962C8B-B14F-4D97-AF65-F5344CB8AC3E}">
        <p14:creationId xmlns:p14="http://schemas.microsoft.com/office/powerpoint/2010/main" val="3939073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6AED-FD9A-4105-3810-54B0B2D5D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17DEA-F87D-55DD-E8DC-87BC8AB5F920}"/>
              </a:ext>
            </a:extLst>
          </p:cNvPr>
          <p:cNvSpPr>
            <a:spLocks noGrp="1"/>
          </p:cNvSpPr>
          <p:nvPr>
            <p:ph type="title"/>
          </p:nvPr>
        </p:nvSpPr>
        <p:spPr>
          <a:xfrm>
            <a:off x="472872" y="238588"/>
            <a:ext cx="15925800" cy="834406"/>
          </a:xfrm>
        </p:spPr>
        <p:txBody>
          <a:bodyPr>
            <a:noAutofit/>
          </a:bodyPr>
          <a:lstStyle/>
          <a:p>
            <a:r>
              <a:rPr lang="en-US" sz="5400" dirty="0">
                <a:solidFill>
                  <a:srgbClr val="6BD4CD"/>
                </a:solidFill>
              </a:rPr>
              <a:t>SOURCE CODE – GITHUB LOCATION</a:t>
            </a:r>
            <a:endParaRPr lang="en-SG" sz="5400" dirty="0">
              <a:solidFill>
                <a:srgbClr val="6BD4CD"/>
              </a:solidFill>
            </a:endParaRPr>
          </a:p>
        </p:txBody>
      </p:sp>
      <p:sp>
        <p:nvSpPr>
          <p:cNvPr id="3" name="Slide Number Placeholder 2">
            <a:extLst>
              <a:ext uri="{FF2B5EF4-FFF2-40B4-BE49-F238E27FC236}">
                <a16:creationId xmlns:a16="http://schemas.microsoft.com/office/drawing/2014/main" id="{DF6652A6-D437-40D8-D0CD-59E321953F26}"/>
              </a:ext>
            </a:extLst>
          </p:cNvPr>
          <p:cNvSpPr>
            <a:spLocks noGrp="1"/>
          </p:cNvSpPr>
          <p:nvPr>
            <p:ph type="sldNum" sz="quarter" idx="11"/>
          </p:nvPr>
        </p:nvSpPr>
        <p:spPr/>
        <p:txBody>
          <a:bodyPr/>
          <a:lstStyle/>
          <a:p>
            <a:r>
              <a:rPr lang="en-US"/>
              <a:t>Slide - </a:t>
            </a:r>
            <a:fld id="{B6F15528-21DE-4FAA-801E-634DDDAF4B2B}" type="slidenum">
              <a:rPr lang="en-US" smtClean="0"/>
              <a:pPr/>
              <a:t>27</a:t>
            </a:fld>
            <a:endParaRPr lang="en-US" dirty="0"/>
          </a:p>
        </p:txBody>
      </p:sp>
      <p:graphicFrame>
        <p:nvGraphicFramePr>
          <p:cNvPr id="5" name="Table 4">
            <a:extLst>
              <a:ext uri="{FF2B5EF4-FFF2-40B4-BE49-F238E27FC236}">
                <a16:creationId xmlns:a16="http://schemas.microsoft.com/office/drawing/2014/main" id="{EB351635-3EEC-54EB-CDFB-5231EB0C4D31}"/>
              </a:ext>
            </a:extLst>
          </p:cNvPr>
          <p:cNvGraphicFramePr>
            <a:graphicFrameLocks noGrp="1"/>
          </p:cNvGraphicFramePr>
          <p:nvPr>
            <p:extLst>
              <p:ext uri="{D42A27DB-BD31-4B8C-83A1-F6EECF244321}">
                <p14:modId xmlns:p14="http://schemas.microsoft.com/office/powerpoint/2010/main" val="1309198204"/>
              </p:ext>
            </p:extLst>
          </p:nvPr>
        </p:nvGraphicFramePr>
        <p:xfrm>
          <a:off x="1066800" y="2298700"/>
          <a:ext cx="15925800" cy="5689600"/>
        </p:xfrm>
        <a:graphic>
          <a:graphicData uri="http://schemas.openxmlformats.org/drawingml/2006/table">
            <a:tbl>
              <a:tblPr>
                <a:tableStyleId>{8799B23B-EC83-4686-B30A-512413B5E67A}</a:tableStyleId>
              </a:tblPr>
              <a:tblGrid>
                <a:gridCol w="15925800">
                  <a:extLst>
                    <a:ext uri="{9D8B030D-6E8A-4147-A177-3AD203B41FA5}">
                      <a16:colId xmlns:a16="http://schemas.microsoft.com/office/drawing/2014/main" val="4032040818"/>
                    </a:ext>
                  </a:extLst>
                </a:gridCol>
              </a:tblGrid>
              <a:tr h="2336800">
                <a:tc>
                  <a:txBody>
                    <a:bodyPr/>
                    <a:lstStyle/>
                    <a:p>
                      <a:pPr algn="l">
                        <a:lnSpc>
                          <a:spcPct val="150000"/>
                        </a:lnSpc>
                      </a:pPr>
                      <a:endParaRPr lang="en-US" sz="2800" kern="100" dirty="0">
                        <a:solidFill>
                          <a:schemeClr val="bg1"/>
                        </a:solidFill>
                        <a:effectLst/>
                        <a:latin typeface="Glacial Indifference" panose="020B0604020202020204" charset="0"/>
                      </a:endParaRPr>
                    </a:p>
                    <a:p>
                      <a:pPr algn="ctr">
                        <a:lnSpc>
                          <a:spcPct val="150000"/>
                        </a:lnSpc>
                      </a:pPr>
                      <a:r>
                        <a:rPr lang="en-US" sz="2800" kern="100" dirty="0">
                          <a:solidFill>
                            <a:schemeClr val="bg1"/>
                          </a:solidFill>
                          <a:effectLst/>
                          <a:latin typeface="Glacial Indifference" panose="020B0604020202020204" charset="0"/>
                        </a:rPr>
                        <a:t>The Complete Source code is found in the following GitHub location: </a:t>
                      </a:r>
                    </a:p>
                    <a:p>
                      <a:pPr algn="ctr">
                        <a:lnSpc>
                          <a:spcPct val="150000"/>
                        </a:lnSpc>
                      </a:pPr>
                      <a:br>
                        <a:rPr lang="en-US" sz="2800" kern="0" dirty="0">
                          <a:solidFill>
                            <a:schemeClr val="bg1"/>
                          </a:solidFill>
                          <a:effectLst/>
                          <a:latin typeface="Glacial Indifference" panose="020B0604020202020204" charset="0"/>
                        </a:rPr>
                      </a:br>
                      <a:r>
                        <a:rPr lang="en-US" sz="2800" kern="0" dirty="0">
                          <a:solidFill>
                            <a:schemeClr val="accent5">
                              <a:lumMod val="40000"/>
                              <a:lumOff val="60000"/>
                            </a:schemeClr>
                          </a:solidFill>
                          <a:effectLst/>
                          <a:latin typeface="Glacial Indifference" panose="020B0604020202020204" charset="0"/>
                          <a:hlinkClick r:id="rId2">
                            <a:extLst>
                              <a:ext uri="{A12FA001-AC4F-418D-AE19-62706E023703}">
                                <ahyp:hlinkClr xmlns:ahyp="http://schemas.microsoft.com/office/drawing/2018/hyperlinkcolor" val="tx"/>
                              </a:ext>
                            </a:extLst>
                          </a:hlinkClick>
                        </a:rPr>
                        <a:t>https://github.com/monalikaghosh7/IPL-Data-Analysis/tree/main</a:t>
                      </a:r>
                      <a:endParaRPr lang="en-US" sz="2800" kern="0" dirty="0">
                        <a:solidFill>
                          <a:schemeClr val="accent5">
                            <a:lumMod val="40000"/>
                            <a:lumOff val="60000"/>
                          </a:schemeClr>
                        </a:solidFill>
                        <a:effectLst/>
                        <a:latin typeface="Glacial Indifference" panose="020B0604020202020204" charset="0"/>
                      </a:endParaRPr>
                    </a:p>
                    <a:p>
                      <a:pPr algn="ctr">
                        <a:lnSpc>
                          <a:spcPct val="150000"/>
                        </a:lnSpc>
                      </a:pPr>
                      <a:endParaRPr lang="en-US" sz="2800" kern="0" dirty="0">
                        <a:solidFill>
                          <a:schemeClr val="accent5">
                            <a:lumMod val="40000"/>
                            <a:lumOff val="60000"/>
                          </a:schemeClr>
                        </a:solidFill>
                        <a:effectLst/>
                        <a:latin typeface="Glacial Indifference" panose="020B0604020202020204"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lang="en-US" sz="2800" kern="100" dirty="0">
                          <a:solidFill>
                            <a:schemeClr val="bg1"/>
                          </a:solidFill>
                          <a:effectLst/>
                          <a:latin typeface="Glacial Indifference" panose="020B0604020202020204" charset="0"/>
                        </a:rPr>
                        <a:t>The Complete IPL Analysis Power BI Dashboard is found in the following GitHub location: </a:t>
                      </a:r>
                    </a:p>
                    <a:p>
                      <a:pPr marL="0" marR="0" lvl="0" indent="0" algn="ctr" defTabSz="914400" rtl="0" eaLnBrk="1" fontAlgn="auto" latinLnBrk="0" hangingPunct="1">
                        <a:lnSpc>
                          <a:spcPct val="150000"/>
                        </a:lnSpc>
                        <a:spcBef>
                          <a:spcPts val="0"/>
                        </a:spcBef>
                        <a:spcAft>
                          <a:spcPts val="0"/>
                        </a:spcAft>
                        <a:buClrTx/>
                        <a:buSzTx/>
                        <a:buFontTx/>
                        <a:buNone/>
                        <a:tabLst/>
                        <a:defRPr/>
                      </a:pPr>
                      <a:r>
                        <a:rPr lang="en-US" sz="2800" kern="100" dirty="0">
                          <a:solidFill>
                            <a:schemeClr val="accent5">
                              <a:lumMod val="60000"/>
                              <a:lumOff val="40000"/>
                            </a:schemeClr>
                          </a:solidFill>
                          <a:effectLst/>
                          <a:latin typeface="Glacial Indifference" panose="020B0604020202020204" charset="0"/>
                          <a:hlinkClick r:id="rId3">
                            <a:extLst>
                              <a:ext uri="{A12FA001-AC4F-418D-AE19-62706E023703}">
                                <ahyp:hlinkClr xmlns:ahyp="http://schemas.microsoft.com/office/drawing/2018/hyperlinkcolor" val="tx"/>
                              </a:ext>
                            </a:extLst>
                          </a:hlinkClick>
                        </a:rPr>
                        <a:t>https://github.com/monalikaghosh7/Power-BI-dashboard</a:t>
                      </a:r>
                      <a:endParaRPr lang="en-US" sz="2800" kern="100" dirty="0">
                        <a:solidFill>
                          <a:schemeClr val="accent5">
                            <a:lumMod val="60000"/>
                            <a:lumOff val="40000"/>
                          </a:schemeClr>
                        </a:solidFill>
                        <a:effectLst/>
                        <a:latin typeface="Glacial Indifference" panose="020B0604020202020204" charset="0"/>
                      </a:endParaRPr>
                    </a:p>
                    <a:p>
                      <a:pPr algn="ctr">
                        <a:lnSpc>
                          <a:spcPct val="150000"/>
                        </a:lnSpc>
                      </a:pPr>
                      <a:endParaRPr lang="en-US" sz="2800" kern="100" dirty="0">
                        <a:solidFill>
                          <a:schemeClr val="accent5">
                            <a:lumMod val="40000"/>
                            <a:lumOff val="60000"/>
                          </a:schemeClr>
                        </a:solidFill>
                        <a:effectLst/>
                        <a:latin typeface="Glacial Indifference" panose="020B0604020202020204" charset="0"/>
                      </a:endParaRPr>
                    </a:p>
                    <a:p>
                      <a:pPr algn="ctr">
                        <a:lnSpc>
                          <a:spcPct val="150000"/>
                        </a:lnSpc>
                      </a:pPr>
                      <a:endParaRPr lang="en-SG" sz="2800" kern="100" dirty="0">
                        <a:solidFill>
                          <a:schemeClr val="bg1"/>
                        </a:solidFill>
                        <a:effectLst/>
                        <a:latin typeface="Glacial Indifference" panose="020B0604020202020204" charset="0"/>
                        <a:ea typeface="Times New Roman" panose="02020603050405020304" pitchFamily="18" charset="0"/>
                        <a:cs typeface="Mangal" panose="02040503050203030202" pitchFamily="18" charset="0"/>
                      </a:endParaRPr>
                    </a:p>
                  </a:txBody>
                  <a:tcPr marL="68580" marR="68580" marT="0" marB="0">
                    <a:solidFill>
                      <a:srgbClr val="04345C"/>
                    </a:solidFill>
                  </a:tcPr>
                </a:tc>
                <a:extLst>
                  <a:ext uri="{0D108BD9-81ED-4DB2-BD59-A6C34878D82A}">
                    <a16:rowId xmlns:a16="http://schemas.microsoft.com/office/drawing/2014/main" val="1048734433"/>
                  </a:ext>
                </a:extLst>
              </a:tr>
            </a:tbl>
          </a:graphicData>
        </a:graphic>
      </p:graphicFrame>
    </p:spTree>
    <p:extLst>
      <p:ext uri="{BB962C8B-B14F-4D97-AF65-F5344CB8AC3E}">
        <p14:creationId xmlns:p14="http://schemas.microsoft.com/office/powerpoint/2010/main" val="4181425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5EDE-B0B4-A3FE-5C06-199D4AB80FDF}"/>
              </a:ext>
            </a:extLst>
          </p:cNvPr>
          <p:cNvSpPr>
            <a:spLocks noGrp="1"/>
          </p:cNvSpPr>
          <p:nvPr>
            <p:ph type="title"/>
          </p:nvPr>
        </p:nvSpPr>
        <p:spPr>
          <a:xfrm>
            <a:off x="447472" y="-48491"/>
            <a:ext cx="15925800" cy="1143000"/>
          </a:xfrm>
        </p:spPr>
        <p:txBody>
          <a:bodyPr/>
          <a:lstStyle/>
          <a:p>
            <a:r>
              <a:rPr lang="en-US" dirty="0"/>
              <a:t>CONCLUSION</a:t>
            </a:r>
            <a:endParaRPr lang="en-SG" dirty="0"/>
          </a:p>
        </p:txBody>
      </p:sp>
      <p:sp>
        <p:nvSpPr>
          <p:cNvPr id="3" name="Slide Number Placeholder 2">
            <a:extLst>
              <a:ext uri="{FF2B5EF4-FFF2-40B4-BE49-F238E27FC236}">
                <a16:creationId xmlns:a16="http://schemas.microsoft.com/office/drawing/2014/main" id="{8AC31C07-88BE-B1AE-1280-DBAE7435F7BA}"/>
              </a:ext>
            </a:extLst>
          </p:cNvPr>
          <p:cNvSpPr>
            <a:spLocks noGrp="1"/>
          </p:cNvSpPr>
          <p:nvPr>
            <p:ph type="sldNum" sz="quarter" idx="11"/>
          </p:nvPr>
        </p:nvSpPr>
        <p:spPr/>
        <p:txBody>
          <a:bodyPr/>
          <a:lstStyle/>
          <a:p>
            <a:r>
              <a:rPr lang="en-US"/>
              <a:t>Slide - </a:t>
            </a:r>
            <a:fld id="{B6F15528-21DE-4FAA-801E-634DDDAF4B2B}" type="slidenum">
              <a:rPr lang="en-US" smtClean="0"/>
              <a:pPr/>
              <a:t>28</a:t>
            </a:fld>
            <a:endParaRPr lang="en-US" dirty="0"/>
          </a:p>
        </p:txBody>
      </p:sp>
      <p:sp>
        <p:nvSpPr>
          <p:cNvPr id="4" name="Content Placeholder 2">
            <a:extLst>
              <a:ext uri="{FF2B5EF4-FFF2-40B4-BE49-F238E27FC236}">
                <a16:creationId xmlns:a16="http://schemas.microsoft.com/office/drawing/2014/main" id="{BCB60AF4-DD44-4195-8556-4C93180C7AF7}"/>
              </a:ext>
            </a:extLst>
          </p:cNvPr>
          <p:cNvSpPr txBox="1">
            <a:spLocks/>
          </p:cNvSpPr>
          <p:nvPr/>
        </p:nvSpPr>
        <p:spPr>
          <a:xfrm>
            <a:off x="323850" y="1257300"/>
            <a:ext cx="17640300" cy="8791112"/>
          </a:xfrm>
          <a:prstGeom prst="rect">
            <a:avLst/>
          </a:prstGeom>
        </p:spPr>
        <p:txBody>
          <a:bodyPr vert="horz" lIns="91440" tIns="45720" rIns="91440" bIns="45720" rtlCol="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endParaRPr lang="en-US" sz="2800" dirty="0">
              <a:solidFill>
                <a:schemeClr val="bg1"/>
              </a:solidFill>
              <a:latin typeface="Glacial Indifference" panose="020B0604020202020204" charset="0"/>
            </a:endParaRPr>
          </a:p>
          <a:p>
            <a:pPr marL="0" indent="0" algn="just">
              <a:buFont typeface="Wingdings 3" charset="2"/>
              <a:buNone/>
            </a:pPr>
            <a:r>
              <a:rPr lang="en-US" sz="2800" b="1" dirty="0">
                <a:solidFill>
                  <a:schemeClr val="bg1"/>
                </a:solidFill>
                <a:latin typeface="Glacial Indifference" panose="020B0604020202020204" charset="0"/>
              </a:rPr>
              <a:t>1</a:t>
            </a:r>
            <a:r>
              <a:rPr lang="en-US" sz="2400" b="1" dirty="0">
                <a:solidFill>
                  <a:schemeClr val="bg1"/>
                </a:solidFill>
                <a:latin typeface="Glacial Indifference" panose="020B0604020202020204" charset="0"/>
              </a:rPr>
              <a:t>. Comprehensive Approach :</a:t>
            </a:r>
          </a:p>
          <a:p>
            <a:pPr marL="0" indent="0" algn="just">
              <a:buFont typeface="Wingdings 3" charset="2"/>
              <a:buNone/>
            </a:pPr>
            <a:r>
              <a:rPr lang="en-US" sz="2400" dirty="0">
                <a:solidFill>
                  <a:schemeClr val="bg1"/>
                </a:solidFill>
                <a:latin typeface="Glacial Indifference" panose="020B0604020202020204" charset="0"/>
              </a:rPr>
              <a:t>   - The project integrates modern data analysis technologies to collect, process, and visualize cricket data effectively.</a:t>
            </a:r>
          </a:p>
          <a:p>
            <a:pPr marL="0" indent="0" algn="just">
              <a:buFont typeface="Wingdings 3" charset="2"/>
              <a:buNone/>
            </a:pPr>
            <a:r>
              <a:rPr lang="en-US" sz="2400" b="1" dirty="0">
                <a:solidFill>
                  <a:schemeClr val="bg1"/>
                </a:solidFill>
                <a:latin typeface="Glacial Indifference" panose="020B0604020202020204" charset="0"/>
              </a:rPr>
              <a:t>2. Addressing Industry Needs : </a:t>
            </a:r>
          </a:p>
          <a:p>
            <a:pPr marL="0" indent="0" algn="just">
              <a:buFont typeface="Wingdings 3" charset="2"/>
              <a:buNone/>
            </a:pPr>
            <a:r>
              <a:rPr lang="en-US" sz="2400" dirty="0">
                <a:solidFill>
                  <a:schemeClr val="bg1"/>
                </a:solidFill>
                <a:latin typeface="Glacial Indifference" panose="020B0604020202020204" charset="0"/>
              </a:rPr>
              <a:t>   - Provides data-driven insights into cricket performance metrics, match outcomes, and player statistics for analysts, coaches, teams, and fans.</a:t>
            </a:r>
          </a:p>
          <a:p>
            <a:pPr marL="0" indent="0" algn="just">
              <a:buFont typeface="Wingdings 3" charset="2"/>
              <a:buNone/>
            </a:pPr>
            <a:r>
              <a:rPr lang="en-US" sz="2400" b="1" dirty="0">
                <a:solidFill>
                  <a:schemeClr val="bg1"/>
                </a:solidFill>
                <a:latin typeface="Glacial Indifference" panose="020B0604020202020204" charset="0"/>
              </a:rPr>
              <a:t>3. Automated Data Collection : </a:t>
            </a:r>
          </a:p>
          <a:p>
            <a:pPr marL="0" indent="0" algn="just">
              <a:buFont typeface="Wingdings 3" charset="2"/>
              <a:buNone/>
            </a:pPr>
            <a:r>
              <a:rPr lang="en-US" sz="2400" dirty="0">
                <a:solidFill>
                  <a:schemeClr val="bg1"/>
                </a:solidFill>
                <a:latin typeface="Glacial Indifference" panose="020B0604020202020204" charset="0"/>
              </a:rPr>
              <a:t>   - Utilized web scraping tools (</a:t>
            </a:r>
            <a:r>
              <a:rPr lang="en-US" sz="2400" dirty="0" err="1">
                <a:solidFill>
                  <a:schemeClr val="bg1"/>
                </a:solidFill>
                <a:latin typeface="Glacial Indifference" panose="020B0604020202020204" charset="0"/>
              </a:rPr>
              <a:t>BeautifulSoup</a:t>
            </a:r>
            <a:r>
              <a:rPr lang="en-US" sz="2400" dirty="0">
                <a:solidFill>
                  <a:schemeClr val="bg1"/>
                </a:solidFill>
                <a:latin typeface="Glacial Indifference" panose="020B0604020202020204" charset="0"/>
              </a:rPr>
              <a:t>, Selenium) to gather real-time data from platforms like ESPN </a:t>
            </a:r>
            <a:r>
              <a:rPr lang="en-US" sz="2400" dirty="0" err="1">
                <a:solidFill>
                  <a:schemeClr val="bg1"/>
                </a:solidFill>
                <a:latin typeface="Glacial Indifference" panose="020B0604020202020204" charset="0"/>
              </a:rPr>
              <a:t>Cricinfo</a:t>
            </a:r>
            <a:r>
              <a:rPr lang="en-US" sz="2400" dirty="0">
                <a:solidFill>
                  <a:schemeClr val="bg1"/>
                </a:solidFill>
                <a:latin typeface="Glacial Indifference" panose="020B0604020202020204" charset="0"/>
              </a:rPr>
              <a:t> and </a:t>
            </a:r>
            <a:r>
              <a:rPr lang="en-US" sz="2400" dirty="0" err="1">
                <a:solidFill>
                  <a:schemeClr val="bg1"/>
                </a:solidFill>
                <a:latin typeface="Glacial Indifference" panose="020B0604020202020204" charset="0"/>
              </a:rPr>
              <a:t>Cricbuzz</a:t>
            </a:r>
            <a:r>
              <a:rPr lang="en-US" sz="2400" dirty="0">
                <a:solidFill>
                  <a:schemeClr val="bg1"/>
                </a:solidFill>
                <a:latin typeface="Glacial Indifference" panose="020B0604020202020204" charset="0"/>
              </a:rPr>
              <a:t> efficiently.</a:t>
            </a:r>
          </a:p>
          <a:p>
            <a:pPr marL="0" indent="0" algn="just">
              <a:buFont typeface="Wingdings 3" charset="2"/>
              <a:buNone/>
            </a:pPr>
            <a:r>
              <a:rPr lang="en-US" sz="2400" b="1" dirty="0">
                <a:solidFill>
                  <a:schemeClr val="bg1"/>
                </a:solidFill>
                <a:latin typeface="Glacial Indifference" panose="020B0604020202020204" charset="0"/>
              </a:rPr>
              <a:t>4. Data Cleaning and Preparation:</a:t>
            </a:r>
          </a:p>
          <a:p>
            <a:pPr marL="0" indent="0" algn="just">
              <a:buFont typeface="Wingdings 3" charset="2"/>
              <a:buNone/>
            </a:pPr>
            <a:r>
              <a:rPr lang="en-US" sz="2400" dirty="0">
                <a:solidFill>
                  <a:schemeClr val="bg1"/>
                </a:solidFill>
                <a:latin typeface="Glacial Indifference" panose="020B0604020202020204" charset="0"/>
              </a:rPr>
              <a:t>   - Processed raw data using Pandas to ensure consistency, accuracy, and readiness for analysis.</a:t>
            </a:r>
          </a:p>
          <a:p>
            <a:pPr marL="0" indent="0" algn="just">
              <a:buFont typeface="Wingdings 3" charset="2"/>
              <a:buNone/>
            </a:pPr>
            <a:r>
              <a:rPr lang="en-US" sz="2400" b="1" dirty="0">
                <a:solidFill>
                  <a:schemeClr val="bg1"/>
                </a:solidFill>
                <a:latin typeface="Glacial Indifference" panose="020B0604020202020204" charset="0"/>
              </a:rPr>
              <a:t>5. Exploratory Data Analysis (EDA</a:t>
            </a:r>
            <a:r>
              <a:rPr lang="en-US" sz="2400" dirty="0">
                <a:solidFill>
                  <a:schemeClr val="bg1"/>
                </a:solidFill>
                <a:latin typeface="Glacial Indifference" panose="020B0604020202020204" charset="0"/>
              </a:rPr>
              <a:t>):</a:t>
            </a:r>
          </a:p>
          <a:p>
            <a:pPr marL="0" indent="0" algn="just">
              <a:buFont typeface="Wingdings 3" charset="2"/>
              <a:buNone/>
            </a:pPr>
            <a:r>
              <a:rPr lang="en-US" sz="2400" dirty="0">
                <a:solidFill>
                  <a:schemeClr val="bg1"/>
                </a:solidFill>
                <a:latin typeface="Glacial Indifference" panose="020B0604020202020204" charset="0"/>
              </a:rPr>
              <a:t>   - Leveraged Python libraries like Matplotlib and Seaborn to uncover trends, patterns, and actionable insights.</a:t>
            </a:r>
          </a:p>
          <a:p>
            <a:pPr marL="0" indent="0" algn="just">
              <a:buFont typeface="Wingdings 3" charset="2"/>
              <a:buNone/>
            </a:pPr>
            <a:r>
              <a:rPr lang="en-US" sz="2400" b="1" dirty="0">
                <a:solidFill>
                  <a:schemeClr val="bg1"/>
                </a:solidFill>
                <a:latin typeface="Glacial Indifference" panose="020B0604020202020204" charset="0"/>
              </a:rPr>
              <a:t>6. Interactive Dashboards : </a:t>
            </a:r>
          </a:p>
          <a:p>
            <a:pPr marL="0" indent="0" algn="just">
              <a:buFont typeface="Wingdings 3" charset="2"/>
              <a:buNone/>
            </a:pPr>
            <a:r>
              <a:rPr lang="en-US" sz="2400" dirty="0">
                <a:solidFill>
                  <a:schemeClr val="bg1"/>
                </a:solidFill>
                <a:latin typeface="Glacial Indifference" panose="020B0604020202020204" charset="0"/>
              </a:rPr>
              <a:t>   - Built Power BI dashboards for user-friendly, interactive visualizations, enabling dynamic exploration and detailed analysis.</a:t>
            </a:r>
          </a:p>
          <a:p>
            <a:pPr marL="0" indent="0" algn="just">
              <a:buFont typeface="Wingdings 3" charset="2"/>
              <a:buNone/>
            </a:pPr>
            <a:r>
              <a:rPr lang="en-US" sz="2400" b="1" dirty="0">
                <a:solidFill>
                  <a:schemeClr val="bg1"/>
                </a:solidFill>
                <a:latin typeface="Glacial Indifference" panose="020B0604020202020204" charset="0"/>
              </a:rPr>
              <a:t>8. Impact on Sports Analytics  :</a:t>
            </a:r>
          </a:p>
          <a:p>
            <a:pPr marL="0" indent="0" algn="just">
              <a:buFont typeface="Wingdings 3" charset="2"/>
              <a:buNone/>
            </a:pPr>
            <a:r>
              <a:rPr lang="en-US" sz="2400" dirty="0">
                <a:solidFill>
                  <a:schemeClr val="bg1"/>
                </a:solidFill>
                <a:latin typeface="Glacial Indifference" panose="020B0604020202020204" charset="0"/>
              </a:rPr>
              <a:t>   - Demonstrates how modern data tools transform raw data into actionable insights, bridging the gap between data collection and decision-making.</a:t>
            </a:r>
          </a:p>
          <a:p>
            <a:pPr marL="0" indent="0" algn="just">
              <a:buFont typeface="Wingdings 3" charset="2"/>
              <a:buNone/>
            </a:pPr>
            <a:endParaRPr lang="en-US" sz="2200" b="1" dirty="0">
              <a:solidFill>
                <a:schemeClr val="bg1"/>
              </a:solidFill>
              <a:latin typeface="Glacial Indifference" panose="020B0604020202020204" charset="0"/>
            </a:endParaRPr>
          </a:p>
        </p:txBody>
      </p:sp>
    </p:spTree>
    <p:extLst>
      <p:ext uri="{BB962C8B-B14F-4D97-AF65-F5344CB8AC3E}">
        <p14:creationId xmlns:p14="http://schemas.microsoft.com/office/powerpoint/2010/main" val="1277789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5E69-CE4E-7277-E51D-F6EC8C2757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63B587-2CE8-256E-F14F-CF23ED546128}"/>
              </a:ext>
            </a:extLst>
          </p:cNvPr>
          <p:cNvSpPr>
            <a:spLocks noGrp="1"/>
          </p:cNvSpPr>
          <p:nvPr>
            <p:ph type="sldNum" sz="quarter" idx="11"/>
          </p:nvPr>
        </p:nvSpPr>
        <p:spPr/>
        <p:txBody>
          <a:bodyPr/>
          <a:lstStyle/>
          <a:p>
            <a:r>
              <a:rPr lang="en-US"/>
              <a:t>Slide - </a:t>
            </a:r>
            <a:fld id="{B6F15528-21DE-4FAA-801E-634DDDAF4B2B}" type="slidenum">
              <a:rPr lang="en-US" smtClean="0"/>
              <a:pPr/>
              <a:t>29</a:t>
            </a:fld>
            <a:endParaRPr lang="en-US" dirty="0"/>
          </a:p>
        </p:txBody>
      </p:sp>
      <p:sp>
        <p:nvSpPr>
          <p:cNvPr id="3" name="Title 2">
            <a:extLst>
              <a:ext uri="{FF2B5EF4-FFF2-40B4-BE49-F238E27FC236}">
                <a16:creationId xmlns:a16="http://schemas.microsoft.com/office/drawing/2014/main" id="{D7B2F15E-18D3-F6F3-AFAC-D0808A98CB53}"/>
              </a:ext>
            </a:extLst>
          </p:cNvPr>
          <p:cNvSpPr>
            <a:spLocks noGrp="1"/>
          </p:cNvSpPr>
          <p:nvPr>
            <p:ph type="title"/>
          </p:nvPr>
        </p:nvSpPr>
        <p:spPr/>
        <p:txBody>
          <a:bodyPr/>
          <a:lstStyle/>
          <a:p>
            <a:r>
              <a:rPr lang="en-US" dirty="0"/>
              <a:t>FUTURE ENHANCEMENTS</a:t>
            </a:r>
            <a:endParaRPr lang="en-SG" dirty="0"/>
          </a:p>
        </p:txBody>
      </p:sp>
      <p:grpSp>
        <p:nvGrpSpPr>
          <p:cNvPr id="10" name="Group 11">
            <a:extLst>
              <a:ext uri="{FF2B5EF4-FFF2-40B4-BE49-F238E27FC236}">
                <a16:creationId xmlns:a16="http://schemas.microsoft.com/office/drawing/2014/main" id="{B2991E87-CB53-47E2-9EB7-55DACF53D1CC}"/>
              </a:ext>
            </a:extLst>
          </p:cNvPr>
          <p:cNvGrpSpPr/>
          <p:nvPr/>
        </p:nvGrpSpPr>
        <p:grpSpPr>
          <a:xfrm>
            <a:off x="787460" y="4124092"/>
            <a:ext cx="612000" cy="612000"/>
            <a:chOff x="0" y="0"/>
            <a:chExt cx="1841389" cy="1908175"/>
          </a:xfrm>
        </p:grpSpPr>
        <p:sp>
          <p:nvSpPr>
            <p:cNvPr id="11" name="Freeform 12">
              <a:extLst>
                <a:ext uri="{FF2B5EF4-FFF2-40B4-BE49-F238E27FC236}">
                  <a16:creationId xmlns:a16="http://schemas.microsoft.com/office/drawing/2014/main" id="{86E0CE67-C711-3A45-C5D4-524151D573F9}"/>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3">
              <a:extLst>
                <a:ext uri="{FF2B5EF4-FFF2-40B4-BE49-F238E27FC236}">
                  <a16:creationId xmlns:a16="http://schemas.microsoft.com/office/drawing/2014/main" id="{BF812A8C-F27A-8FF5-5B35-5B020A60FE14}"/>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23" name="TextBox 22">
            <a:extLst>
              <a:ext uri="{FF2B5EF4-FFF2-40B4-BE49-F238E27FC236}">
                <a16:creationId xmlns:a16="http://schemas.microsoft.com/office/drawing/2014/main" id="{FFC101F9-CB6A-B2C5-0050-8469579ADF62}"/>
              </a:ext>
            </a:extLst>
          </p:cNvPr>
          <p:cNvSpPr txBox="1"/>
          <p:nvPr/>
        </p:nvSpPr>
        <p:spPr>
          <a:xfrm>
            <a:off x="1024235" y="898047"/>
            <a:ext cx="17187565" cy="9417963"/>
          </a:xfrm>
          <a:prstGeom prst="rect">
            <a:avLst/>
          </a:prstGeom>
          <a:noFill/>
        </p:spPr>
        <p:txBody>
          <a:bodyPr wrap="square">
            <a:spAutoFit/>
          </a:bodyPr>
          <a:lstStyle/>
          <a:p>
            <a:endParaRPr lang="en-US" dirty="0"/>
          </a:p>
          <a:p>
            <a:r>
              <a:rPr lang="en-US" sz="2000" dirty="0">
                <a:latin typeface="Glacial Indifference Bold" panose="020B0604020202020204" charset="0"/>
              </a:rPr>
              <a:t>1. </a:t>
            </a:r>
            <a:r>
              <a:rPr lang="en-US" sz="3200" u="sng" dirty="0">
                <a:latin typeface="Glacial Indifference Bold" panose="020B0604020202020204" charset="0"/>
              </a:rPr>
              <a:t>Integration of Machine Learning Models </a:t>
            </a:r>
            <a:r>
              <a:rPr lang="en-US" sz="3200" dirty="0">
                <a:latin typeface="Glacial Indifference Bold" panose="020B0604020202020204" charset="0"/>
              </a:rPr>
              <a:t>: </a:t>
            </a:r>
            <a:r>
              <a:rPr lang="en-US" sz="2000" dirty="0">
                <a:latin typeface="Glacial Indifference Bold" panose="020B0604020202020204" charset="0"/>
              </a:rPr>
              <a:t>Implement predictive analytics to forecast player performance, match outcomes, and team strategies.</a:t>
            </a:r>
          </a:p>
          <a:p>
            <a:endParaRPr lang="en-US" sz="2000" dirty="0">
              <a:latin typeface="Glacial Indifference Bold" panose="020B0604020202020204" charset="0"/>
            </a:endParaRPr>
          </a:p>
          <a:p>
            <a:r>
              <a:rPr lang="en-US" sz="2000" dirty="0">
                <a:latin typeface="Glacial Indifference Bold" panose="020B0604020202020204" charset="0"/>
              </a:rPr>
              <a:t>2. </a:t>
            </a:r>
            <a:r>
              <a:rPr lang="en-US" sz="3200" u="sng" dirty="0">
                <a:latin typeface="Glacial Indifference Bold" panose="020B0604020202020204" charset="0"/>
              </a:rPr>
              <a:t>Support for Multiple Cricket Formats</a:t>
            </a:r>
            <a:r>
              <a:rPr lang="en-US" sz="3200" dirty="0">
                <a:latin typeface="Glacial Indifference Bold" panose="020B0604020202020204" charset="0"/>
              </a:rPr>
              <a:t>: </a:t>
            </a:r>
            <a:r>
              <a:rPr lang="en-US" sz="2000" dirty="0">
                <a:latin typeface="Glacial Indifference Bold" panose="020B0604020202020204" charset="0"/>
              </a:rPr>
              <a:t>Extend analysis capabilities to include Test matches, ODIs, and T20 leagues globally.</a:t>
            </a:r>
          </a:p>
          <a:p>
            <a:endParaRPr lang="en-US" sz="2000" dirty="0">
              <a:latin typeface="Glacial Indifference Bold" panose="020B0604020202020204" charset="0"/>
            </a:endParaRPr>
          </a:p>
          <a:p>
            <a:r>
              <a:rPr lang="en-US" sz="2000" dirty="0">
                <a:latin typeface="Glacial Indifference Bold" panose="020B0604020202020204" charset="0"/>
              </a:rPr>
              <a:t>3. </a:t>
            </a:r>
            <a:r>
              <a:rPr lang="en-US" sz="3200" u="sng" dirty="0">
                <a:latin typeface="Glacial Indifference Bold" panose="020B0604020202020204" charset="0"/>
              </a:rPr>
              <a:t>Real-Time Data Streaming</a:t>
            </a:r>
            <a:r>
              <a:rPr lang="en-US" sz="3200" dirty="0">
                <a:latin typeface="Glacial Indifference Bold" panose="020B0604020202020204" charset="0"/>
              </a:rPr>
              <a:t>: </a:t>
            </a:r>
            <a:r>
              <a:rPr lang="en-US" sz="2000" dirty="0">
                <a:latin typeface="Glacial Indifference Bold" panose="020B0604020202020204" charset="0"/>
              </a:rPr>
              <a:t>Enable live data streaming for in-game analytics and real-time decision-making.</a:t>
            </a:r>
          </a:p>
          <a:p>
            <a:endParaRPr lang="en-US" sz="2000" dirty="0">
              <a:latin typeface="Glacial Indifference Bold" panose="020B0604020202020204" charset="0"/>
            </a:endParaRPr>
          </a:p>
          <a:p>
            <a:r>
              <a:rPr lang="en-US" sz="2000" dirty="0">
                <a:latin typeface="Glacial Indifference Bold" panose="020B0604020202020204" charset="0"/>
              </a:rPr>
              <a:t>4. </a:t>
            </a:r>
            <a:r>
              <a:rPr lang="en-US" sz="3200" u="sng" dirty="0">
                <a:latin typeface="Glacial Indifference Bold" panose="020B0604020202020204" charset="0"/>
              </a:rPr>
              <a:t>Enhanced Data Sources</a:t>
            </a:r>
            <a:r>
              <a:rPr lang="en-US" sz="3200" dirty="0">
                <a:latin typeface="Glacial Indifference Bold" panose="020B0604020202020204" charset="0"/>
              </a:rPr>
              <a:t>: </a:t>
            </a:r>
            <a:r>
              <a:rPr lang="en-US" sz="2000" dirty="0">
                <a:latin typeface="Glacial Indifference Bold" panose="020B0604020202020204" charset="0"/>
              </a:rPr>
              <a:t>Expand data collection to include more platforms, such as social media sentiment analysis and fan engagement metrics.</a:t>
            </a:r>
          </a:p>
          <a:p>
            <a:endParaRPr lang="en-US" sz="2000" dirty="0">
              <a:latin typeface="Glacial Indifference Bold" panose="020B0604020202020204" charset="0"/>
            </a:endParaRPr>
          </a:p>
          <a:p>
            <a:r>
              <a:rPr lang="en-US" sz="2000" dirty="0">
                <a:latin typeface="Glacial Indifference Bold" panose="020B0604020202020204" charset="0"/>
              </a:rPr>
              <a:t>5</a:t>
            </a:r>
            <a:r>
              <a:rPr lang="en-US" sz="3200" dirty="0">
                <a:latin typeface="Glacial Indifference Bold" panose="020B0604020202020204" charset="0"/>
              </a:rPr>
              <a:t>. </a:t>
            </a:r>
            <a:r>
              <a:rPr lang="en-US" sz="3200" u="sng" dirty="0">
                <a:latin typeface="Glacial Indifference Bold" panose="020B0604020202020204" charset="0"/>
              </a:rPr>
              <a:t>Mobile Application Development </a:t>
            </a:r>
            <a:r>
              <a:rPr lang="en-US" sz="3200" dirty="0">
                <a:latin typeface="Glacial Indifference Bold" panose="020B0604020202020204" charset="0"/>
              </a:rPr>
              <a:t>:</a:t>
            </a:r>
            <a:r>
              <a:rPr lang="en-US" sz="2000" dirty="0">
                <a:latin typeface="Glacial Indifference Bold" panose="020B0604020202020204" charset="0"/>
              </a:rPr>
              <a:t>Create a mobile-friendly interface to make dashboards accessible to a broader audience, including fans and coaches.</a:t>
            </a:r>
          </a:p>
          <a:p>
            <a:endParaRPr lang="en-US" sz="2000" dirty="0">
              <a:latin typeface="Glacial Indifference Bold" panose="020B0604020202020204" charset="0"/>
            </a:endParaRPr>
          </a:p>
          <a:p>
            <a:r>
              <a:rPr lang="en-US" sz="2000" dirty="0">
                <a:latin typeface="Glacial Indifference Bold" panose="020B0604020202020204" charset="0"/>
              </a:rPr>
              <a:t>6. </a:t>
            </a:r>
            <a:r>
              <a:rPr lang="en-US" sz="3200" u="sng" dirty="0">
                <a:latin typeface="Glacial Indifference Bold" panose="020B0604020202020204" charset="0"/>
              </a:rPr>
              <a:t>Advanced Visualizations </a:t>
            </a:r>
            <a:r>
              <a:rPr lang="en-US" sz="3200" dirty="0">
                <a:latin typeface="Glacial Indifference Bold" panose="020B0604020202020204" charset="0"/>
              </a:rPr>
              <a:t>:</a:t>
            </a:r>
            <a:r>
              <a:rPr lang="en-US" sz="2000" dirty="0">
                <a:latin typeface="Glacial Indifference Bold" panose="020B0604020202020204" charset="0"/>
              </a:rPr>
              <a:t>Add 3D and animated charts for better storytelling and deeper insights.</a:t>
            </a:r>
          </a:p>
          <a:p>
            <a:endParaRPr lang="en-US" sz="2000" dirty="0">
              <a:latin typeface="Glacial Indifference Bold" panose="020B0604020202020204" charset="0"/>
            </a:endParaRPr>
          </a:p>
          <a:p>
            <a:r>
              <a:rPr lang="en-US" sz="2000" dirty="0">
                <a:latin typeface="Glacial Indifference Bold" panose="020B0604020202020204" charset="0"/>
              </a:rPr>
              <a:t>7</a:t>
            </a:r>
            <a:r>
              <a:rPr lang="en-US" sz="3200" dirty="0">
                <a:latin typeface="Glacial Indifference Bold" panose="020B0604020202020204" charset="0"/>
              </a:rPr>
              <a:t>. </a:t>
            </a:r>
            <a:r>
              <a:rPr lang="en-US" sz="3200" u="sng" dirty="0">
                <a:latin typeface="Glacial Indifference Bold" panose="020B0604020202020204" charset="0"/>
              </a:rPr>
              <a:t>Personalized Recommendations</a:t>
            </a:r>
            <a:r>
              <a:rPr lang="en-US" sz="3200" dirty="0">
                <a:latin typeface="Glacial Indifference Bold" panose="020B0604020202020204" charset="0"/>
              </a:rPr>
              <a:t>: </a:t>
            </a:r>
            <a:r>
              <a:rPr lang="en-US" sz="2000" dirty="0">
                <a:latin typeface="Glacial Indifference Bold" panose="020B0604020202020204" charset="0"/>
              </a:rPr>
              <a:t>Develop tools for recommending team lineups, auction strategies, or training focus areas based on data trends.</a:t>
            </a:r>
          </a:p>
          <a:p>
            <a:endParaRPr lang="en-US" sz="2000" dirty="0">
              <a:latin typeface="Glacial Indifference Bold" panose="020B0604020202020204" charset="0"/>
            </a:endParaRPr>
          </a:p>
          <a:p>
            <a:r>
              <a:rPr lang="en-US" sz="2000" dirty="0">
                <a:latin typeface="Glacial Indifference Bold" panose="020B0604020202020204" charset="0"/>
              </a:rPr>
              <a:t>8. </a:t>
            </a:r>
            <a:r>
              <a:rPr lang="en-US" sz="3200" u="sng" dirty="0">
                <a:latin typeface="Glacial Indifference Bold" panose="020B0604020202020204" charset="0"/>
              </a:rPr>
              <a:t>Cloud Integration</a:t>
            </a:r>
            <a:r>
              <a:rPr lang="en-US" sz="3200" dirty="0">
                <a:latin typeface="Glacial Indifference Bold" panose="020B0604020202020204" charset="0"/>
              </a:rPr>
              <a:t>: </a:t>
            </a:r>
            <a:r>
              <a:rPr lang="en-US" sz="2000" dirty="0">
                <a:latin typeface="Glacial Indifference Bold" panose="020B0604020202020204" charset="0"/>
              </a:rPr>
              <a:t>Use cloud platforms for scalable data storage and processing, enabling analysis of larger datasets.</a:t>
            </a:r>
          </a:p>
          <a:p>
            <a:endParaRPr lang="en-US" sz="2000" dirty="0">
              <a:latin typeface="Glacial Indifference Bold" panose="020B0604020202020204" charset="0"/>
            </a:endParaRPr>
          </a:p>
          <a:p>
            <a:r>
              <a:rPr lang="en-US" sz="2000" dirty="0">
                <a:latin typeface="Glacial Indifference Bold" panose="020B0604020202020204" charset="0"/>
              </a:rPr>
              <a:t>9. </a:t>
            </a:r>
            <a:r>
              <a:rPr lang="en-US" sz="3200" u="sng" dirty="0">
                <a:latin typeface="Glacial Indifference Bold" panose="020B0604020202020204" charset="0"/>
              </a:rPr>
              <a:t>Collaboration Features</a:t>
            </a:r>
            <a:r>
              <a:rPr lang="en-US" sz="3200" dirty="0">
                <a:latin typeface="Glacial Indifference Bold" panose="020B0604020202020204" charset="0"/>
              </a:rPr>
              <a:t>:</a:t>
            </a:r>
            <a:r>
              <a:rPr lang="en-US" sz="2000" dirty="0">
                <a:latin typeface="Glacial Indifference Bold" panose="020B0604020202020204" charset="0"/>
              </a:rPr>
              <a:t> Introduce shared dashboards and collaborative tools for analysts, teams, and coaches to work together in real-time.</a:t>
            </a:r>
          </a:p>
          <a:p>
            <a:endParaRPr lang="en-US" sz="2000" dirty="0">
              <a:latin typeface="Glacial Indifference Bold" panose="020B0604020202020204" charset="0"/>
            </a:endParaRPr>
          </a:p>
        </p:txBody>
      </p:sp>
      <p:grpSp>
        <p:nvGrpSpPr>
          <p:cNvPr id="24" name="Group 11">
            <a:extLst>
              <a:ext uri="{FF2B5EF4-FFF2-40B4-BE49-F238E27FC236}">
                <a16:creationId xmlns:a16="http://schemas.microsoft.com/office/drawing/2014/main" id="{6337E82A-FACF-B99D-F5C2-0385EB17A6CC}"/>
              </a:ext>
            </a:extLst>
          </p:cNvPr>
          <p:cNvGrpSpPr/>
          <p:nvPr/>
        </p:nvGrpSpPr>
        <p:grpSpPr>
          <a:xfrm>
            <a:off x="800910" y="5244337"/>
            <a:ext cx="612000" cy="612000"/>
            <a:chOff x="0" y="0"/>
            <a:chExt cx="1841389" cy="1908175"/>
          </a:xfrm>
        </p:grpSpPr>
        <p:sp>
          <p:nvSpPr>
            <p:cNvPr id="25" name="Freeform 12">
              <a:extLst>
                <a:ext uri="{FF2B5EF4-FFF2-40B4-BE49-F238E27FC236}">
                  <a16:creationId xmlns:a16="http://schemas.microsoft.com/office/drawing/2014/main" id="{40E07B4A-21A4-95E6-B6DA-EF2C916C61FD}"/>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13">
              <a:extLst>
                <a:ext uri="{FF2B5EF4-FFF2-40B4-BE49-F238E27FC236}">
                  <a16:creationId xmlns:a16="http://schemas.microsoft.com/office/drawing/2014/main" id="{2C85055C-C641-DAF6-2BD9-18F0B1454CAD}"/>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0" name="Group 11">
            <a:extLst>
              <a:ext uri="{FF2B5EF4-FFF2-40B4-BE49-F238E27FC236}">
                <a16:creationId xmlns:a16="http://schemas.microsoft.com/office/drawing/2014/main" id="{67CDB21F-E30E-AF2F-6AB9-C1D31E29E800}"/>
              </a:ext>
            </a:extLst>
          </p:cNvPr>
          <p:cNvGrpSpPr/>
          <p:nvPr/>
        </p:nvGrpSpPr>
        <p:grpSpPr>
          <a:xfrm>
            <a:off x="787460" y="3349977"/>
            <a:ext cx="612000" cy="612000"/>
            <a:chOff x="0" y="0"/>
            <a:chExt cx="1841389" cy="1908175"/>
          </a:xfrm>
        </p:grpSpPr>
        <p:sp>
          <p:nvSpPr>
            <p:cNvPr id="31" name="Freeform 12">
              <a:extLst>
                <a:ext uri="{FF2B5EF4-FFF2-40B4-BE49-F238E27FC236}">
                  <a16:creationId xmlns:a16="http://schemas.microsoft.com/office/drawing/2014/main" id="{313EDB9B-EA28-3BB3-51AE-AD73C267F295}"/>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2" name="Freeform 13">
              <a:extLst>
                <a:ext uri="{FF2B5EF4-FFF2-40B4-BE49-F238E27FC236}">
                  <a16:creationId xmlns:a16="http://schemas.microsoft.com/office/drawing/2014/main" id="{36AC1395-068B-1674-49E3-5EF0F0FA03DD}"/>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3" name="Group 11">
            <a:extLst>
              <a:ext uri="{FF2B5EF4-FFF2-40B4-BE49-F238E27FC236}">
                <a16:creationId xmlns:a16="http://schemas.microsoft.com/office/drawing/2014/main" id="{F15A1F4B-D5BC-BEEC-BE7D-0802144678A5}"/>
              </a:ext>
            </a:extLst>
          </p:cNvPr>
          <p:cNvGrpSpPr/>
          <p:nvPr/>
        </p:nvGrpSpPr>
        <p:grpSpPr>
          <a:xfrm>
            <a:off x="718235" y="6433299"/>
            <a:ext cx="612000" cy="612000"/>
            <a:chOff x="0" y="0"/>
            <a:chExt cx="1841389" cy="1908175"/>
          </a:xfrm>
        </p:grpSpPr>
        <p:sp>
          <p:nvSpPr>
            <p:cNvPr id="34" name="Freeform 12">
              <a:extLst>
                <a:ext uri="{FF2B5EF4-FFF2-40B4-BE49-F238E27FC236}">
                  <a16:creationId xmlns:a16="http://schemas.microsoft.com/office/drawing/2014/main" id="{6FB69FD2-A79D-031B-B46B-6AA5AB4FC4DB}"/>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5" name="Freeform 13">
              <a:extLst>
                <a:ext uri="{FF2B5EF4-FFF2-40B4-BE49-F238E27FC236}">
                  <a16:creationId xmlns:a16="http://schemas.microsoft.com/office/drawing/2014/main" id="{4FFC0A70-3FED-EC2B-3B1E-AE1C50A4E4D2}"/>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6" name="Group 11">
            <a:extLst>
              <a:ext uri="{FF2B5EF4-FFF2-40B4-BE49-F238E27FC236}">
                <a16:creationId xmlns:a16="http://schemas.microsoft.com/office/drawing/2014/main" id="{BB4982C1-6E63-41AE-3A70-8115F1192C8B}"/>
              </a:ext>
            </a:extLst>
          </p:cNvPr>
          <p:cNvGrpSpPr/>
          <p:nvPr/>
        </p:nvGrpSpPr>
        <p:grpSpPr>
          <a:xfrm>
            <a:off x="657941" y="1205485"/>
            <a:ext cx="612000" cy="612000"/>
            <a:chOff x="0" y="0"/>
            <a:chExt cx="1841389" cy="1908175"/>
          </a:xfrm>
        </p:grpSpPr>
        <p:sp>
          <p:nvSpPr>
            <p:cNvPr id="37" name="Freeform 12">
              <a:extLst>
                <a:ext uri="{FF2B5EF4-FFF2-40B4-BE49-F238E27FC236}">
                  <a16:creationId xmlns:a16="http://schemas.microsoft.com/office/drawing/2014/main" id="{5BED6A92-27F1-02FB-1849-7917967AF7FC}"/>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Freeform 13">
              <a:extLst>
                <a:ext uri="{FF2B5EF4-FFF2-40B4-BE49-F238E27FC236}">
                  <a16:creationId xmlns:a16="http://schemas.microsoft.com/office/drawing/2014/main" id="{C39E3B01-125C-5BFF-24B5-4D55E87E2C4A}"/>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9" name="Group 11">
            <a:extLst>
              <a:ext uri="{FF2B5EF4-FFF2-40B4-BE49-F238E27FC236}">
                <a16:creationId xmlns:a16="http://schemas.microsoft.com/office/drawing/2014/main" id="{83A26744-EF02-288C-1484-70163F0C07C8}"/>
              </a:ext>
            </a:extLst>
          </p:cNvPr>
          <p:cNvGrpSpPr/>
          <p:nvPr/>
        </p:nvGrpSpPr>
        <p:grpSpPr>
          <a:xfrm>
            <a:off x="735506" y="2291999"/>
            <a:ext cx="612000" cy="612000"/>
            <a:chOff x="0" y="0"/>
            <a:chExt cx="1841389" cy="1908175"/>
          </a:xfrm>
        </p:grpSpPr>
        <p:sp>
          <p:nvSpPr>
            <p:cNvPr id="40" name="Freeform 12">
              <a:extLst>
                <a:ext uri="{FF2B5EF4-FFF2-40B4-BE49-F238E27FC236}">
                  <a16:creationId xmlns:a16="http://schemas.microsoft.com/office/drawing/2014/main" id="{FE1497A5-3B84-F810-FEDA-C235FCF9B3DE}"/>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1" name="Freeform 13">
              <a:extLst>
                <a:ext uri="{FF2B5EF4-FFF2-40B4-BE49-F238E27FC236}">
                  <a16:creationId xmlns:a16="http://schemas.microsoft.com/office/drawing/2014/main" id="{D99131A6-2AF5-717B-3F30-27D6FCB1AAE9}"/>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42" name="Group 11">
            <a:extLst>
              <a:ext uri="{FF2B5EF4-FFF2-40B4-BE49-F238E27FC236}">
                <a16:creationId xmlns:a16="http://schemas.microsoft.com/office/drawing/2014/main" id="{881D30CA-F2D8-4BFB-34F6-F53E3D3C1DBE}"/>
              </a:ext>
            </a:extLst>
          </p:cNvPr>
          <p:cNvGrpSpPr/>
          <p:nvPr/>
        </p:nvGrpSpPr>
        <p:grpSpPr>
          <a:xfrm>
            <a:off x="752192" y="7218573"/>
            <a:ext cx="612000" cy="612000"/>
            <a:chOff x="0" y="0"/>
            <a:chExt cx="1841389" cy="1908175"/>
          </a:xfrm>
        </p:grpSpPr>
        <p:sp>
          <p:nvSpPr>
            <p:cNvPr id="43" name="Freeform 12">
              <a:extLst>
                <a:ext uri="{FF2B5EF4-FFF2-40B4-BE49-F238E27FC236}">
                  <a16:creationId xmlns:a16="http://schemas.microsoft.com/office/drawing/2014/main" id="{CDB59401-1FA0-1557-5D51-861944DE2996}"/>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4" name="Freeform 13">
              <a:extLst>
                <a:ext uri="{FF2B5EF4-FFF2-40B4-BE49-F238E27FC236}">
                  <a16:creationId xmlns:a16="http://schemas.microsoft.com/office/drawing/2014/main" id="{75EF71E3-3A6E-1E35-5137-A30C7CB4BF62}"/>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45" name="Group 11">
            <a:extLst>
              <a:ext uri="{FF2B5EF4-FFF2-40B4-BE49-F238E27FC236}">
                <a16:creationId xmlns:a16="http://schemas.microsoft.com/office/drawing/2014/main" id="{83BE24DE-ABFF-FBF1-F05A-09F0195F9705}"/>
              </a:ext>
            </a:extLst>
          </p:cNvPr>
          <p:cNvGrpSpPr/>
          <p:nvPr/>
        </p:nvGrpSpPr>
        <p:grpSpPr>
          <a:xfrm>
            <a:off x="754064" y="8361686"/>
            <a:ext cx="612000" cy="612000"/>
            <a:chOff x="0" y="0"/>
            <a:chExt cx="1841389" cy="1908175"/>
          </a:xfrm>
        </p:grpSpPr>
        <p:sp>
          <p:nvSpPr>
            <p:cNvPr id="46" name="Freeform 12">
              <a:extLst>
                <a:ext uri="{FF2B5EF4-FFF2-40B4-BE49-F238E27FC236}">
                  <a16:creationId xmlns:a16="http://schemas.microsoft.com/office/drawing/2014/main" id="{378CE810-C865-4A16-4685-136AF2764195}"/>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Freeform 13">
              <a:extLst>
                <a:ext uri="{FF2B5EF4-FFF2-40B4-BE49-F238E27FC236}">
                  <a16:creationId xmlns:a16="http://schemas.microsoft.com/office/drawing/2014/main" id="{3680963C-A064-517F-4A0B-F363F06875C4}"/>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48" name="Group 11">
            <a:extLst>
              <a:ext uri="{FF2B5EF4-FFF2-40B4-BE49-F238E27FC236}">
                <a16:creationId xmlns:a16="http://schemas.microsoft.com/office/drawing/2014/main" id="{95C69153-E0A3-1852-4795-30DA69704C45}"/>
              </a:ext>
            </a:extLst>
          </p:cNvPr>
          <p:cNvGrpSpPr/>
          <p:nvPr/>
        </p:nvGrpSpPr>
        <p:grpSpPr>
          <a:xfrm>
            <a:off x="751702" y="9157771"/>
            <a:ext cx="612000" cy="612000"/>
            <a:chOff x="0" y="0"/>
            <a:chExt cx="1841389" cy="1908175"/>
          </a:xfrm>
        </p:grpSpPr>
        <p:sp>
          <p:nvSpPr>
            <p:cNvPr id="49" name="Freeform 12">
              <a:extLst>
                <a:ext uri="{FF2B5EF4-FFF2-40B4-BE49-F238E27FC236}">
                  <a16:creationId xmlns:a16="http://schemas.microsoft.com/office/drawing/2014/main" id="{BB69DC84-7066-DDB7-22DB-67D0B8AD49F5}"/>
                </a:ext>
              </a:extLst>
            </p:cNvPr>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0" name="Freeform 13">
              <a:extLst>
                <a:ext uri="{FF2B5EF4-FFF2-40B4-BE49-F238E27FC236}">
                  <a16:creationId xmlns:a16="http://schemas.microsoft.com/office/drawing/2014/main" id="{EF1E193F-D98F-3851-0EC2-24E9FF4EB0F0}"/>
                </a:ext>
              </a:extLst>
            </p:cNvPr>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Tree>
    <p:extLst>
      <p:ext uri="{BB962C8B-B14F-4D97-AF65-F5344CB8AC3E}">
        <p14:creationId xmlns:p14="http://schemas.microsoft.com/office/powerpoint/2010/main" val="1232285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45D2-CF92-2CBA-40C5-08D1B4680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99A73-47B3-7ECD-3D7B-89750663B585}"/>
              </a:ext>
            </a:extLst>
          </p:cNvPr>
          <p:cNvSpPr>
            <a:spLocks noGrp="1"/>
          </p:cNvSpPr>
          <p:nvPr>
            <p:ph type="title"/>
          </p:nvPr>
        </p:nvSpPr>
        <p:spPr>
          <a:xfrm>
            <a:off x="447472" y="-48491"/>
            <a:ext cx="15925800" cy="1143000"/>
          </a:xfrm>
        </p:spPr>
        <p:txBody>
          <a:bodyPr/>
          <a:lstStyle/>
          <a:p>
            <a:r>
              <a:rPr lang="en-US" dirty="0"/>
              <a:t>REFERENCES</a:t>
            </a:r>
            <a:endParaRPr lang="en-SG" dirty="0"/>
          </a:p>
        </p:txBody>
      </p:sp>
      <p:sp>
        <p:nvSpPr>
          <p:cNvPr id="3" name="Slide Number Placeholder 2">
            <a:extLst>
              <a:ext uri="{FF2B5EF4-FFF2-40B4-BE49-F238E27FC236}">
                <a16:creationId xmlns:a16="http://schemas.microsoft.com/office/drawing/2014/main" id="{B3C3F74F-B412-EC8D-00E5-419AA2F946C8}"/>
              </a:ext>
            </a:extLst>
          </p:cNvPr>
          <p:cNvSpPr>
            <a:spLocks noGrp="1"/>
          </p:cNvSpPr>
          <p:nvPr>
            <p:ph type="sldNum" sz="quarter" idx="11"/>
          </p:nvPr>
        </p:nvSpPr>
        <p:spPr/>
        <p:txBody>
          <a:bodyPr/>
          <a:lstStyle/>
          <a:p>
            <a:r>
              <a:rPr lang="en-US"/>
              <a:t>Slide - </a:t>
            </a:r>
            <a:fld id="{B6F15528-21DE-4FAA-801E-634DDDAF4B2B}" type="slidenum">
              <a:rPr lang="en-US" smtClean="0"/>
              <a:pPr/>
              <a:t>30</a:t>
            </a:fld>
            <a:endParaRPr lang="en-US" dirty="0"/>
          </a:p>
        </p:txBody>
      </p:sp>
      <p:sp>
        <p:nvSpPr>
          <p:cNvPr id="6" name="Content Placeholder 2">
            <a:extLst>
              <a:ext uri="{FF2B5EF4-FFF2-40B4-BE49-F238E27FC236}">
                <a16:creationId xmlns:a16="http://schemas.microsoft.com/office/drawing/2014/main" id="{8091A130-4C93-A467-C2A6-16D2C1F2283C}"/>
              </a:ext>
            </a:extLst>
          </p:cNvPr>
          <p:cNvSpPr txBox="1">
            <a:spLocks/>
          </p:cNvSpPr>
          <p:nvPr/>
        </p:nvSpPr>
        <p:spPr>
          <a:xfrm>
            <a:off x="536201" y="703332"/>
            <a:ext cx="7739304" cy="4135796"/>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endParaRPr lang="en-SG" dirty="0">
              <a:latin typeface="Glacial Indifference" panose="020B0604020202020204" charset="0"/>
            </a:endParaRPr>
          </a:p>
        </p:txBody>
      </p:sp>
      <p:sp>
        <p:nvSpPr>
          <p:cNvPr id="7" name="Content Placeholder 2">
            <a:extLst>
              <a:ext uri="{FF2B5EF4-FFF2-40B4-BE49-F238E27FC236}">
                <a16:creationId xmlns:a16="http://schemas.microsoft.com/office/drawing/2014/main" id="{F12ADBFB-6670-6679-62AB-6E6D9DD85899}"/>
              </a:ext>
            </a:extLst>
          </p:cNvPr>
          <p:cNvSpPr txBox="1">
            <a:spLocks/>
          </p:cNvSpPr>
          <p:nvPr/>
        </p:nvSpPr>
        <p:spPr>
          <a:xfrm>
            <a:off x="688601" y="855732"/>
            <a:ext cx="7739304" cy="4135796"/>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a:lstStyle>
          <a:p>
            <a:pPr marL="0" indent="0" algn="just">
              <a:buFont typeface="Wingdings 3" charset="2"/>
              <a:buNone/>
            </a:pPr>
            <a:endParaRPr lang="en-SG" sz="800" dirty="0">
              <a:latin typeface="Glacial Indifference" panose="020B0604020202020204" charset="0"/>
              <a:cs typeface="Calibri" panose="020F0502020204030204" pitchFamily="34" charset="0"/>
            </a:endParaRPr>
          </a:p>
        </p:txBody>
      </p:sp>
      <p:graphicFrame>
        <p:nvGraphicFramePr>
          <p:cNvPr id="11" name="Table 10">
            <a:extLst>
              <a:ext uri="{FF2B5EF4-FFF2-40B4-BE49-F238E27FC236}">
                <a16:creationId xmlns:a16="http://schemas.microsoft.com/office/drawing/2014/main" id="{0D0B1559-4DD9-370D-8C49-DACAA2B1A1B5}"/>
              </a:ext>
            </a:extLst>
          </p:cNvPr>
          <p:cNvGraphicFramePr>
            <a:graphicFrameLocks noGrp="1"/>
          </p:cNvGraphicFramePr>
          <p:nvPr>
            <p:extLst>
              <p:ext uri="{D42A27DB-BD31-4B8C-83A1-F6EECF244321}">
                <p14:modId xmlns:p14="http://schemas.microsoft.com/office/powerpoint/2010/main" val="3959777992"/>
              </p:ext>
            </p:extLst>
          </p:nvPr>
        </p:nvGraphicFramePr>
        <p:xfrm>
          <a:off x="13868400" y="7975772"/>
          <a:ext cx="4095344" cy="2346960"/>
        </p:xfrm>
        <a:graphic>
          <a:graphicData uri="http://schemas.openxmlformats.org/drawingml/2006/table">
            <a:tbl>
              <a:tblPr>
                <a:tableStyleId>{8799B23B-EC83-4686-B30A-512413B5E67A}</a:tableStyleId>
              </a:tblPr>
              <a:tblGrid>
                <a:gridCol w="4095344">
                  <a:extLst>
                    <a:ext uri="{9D8B030D-6E8A-4147-A177-3AD203B41FA5}">
                      <a16:colId xmlns:a16="http://schemas.microsoft.com/office/drawing/2014/main" val="4032040818"/>
                    </a:ext>
                  </a:extLst>
                </a:gridCol>
              </a:tblGrid>
              <a:tr h="1400426">
                <a:tc>
                  <a:txBody>
                    <a:bodyPr/>
                    <a:lstStyle/>
                    <a:p>
                      <a:pPr algn="ctr">
                        <a:lnSpc>
                          <a:spcPct val="100000"/>
                        </a:lnSpc>
                      </a:pPr>
                      <a:endParaRPr lang="en-US" sz="2000" kern="100" dirty="0">
                        <a:effectLst/>
                        <a:latin typeface="Glacial Indifference" panose="020B0604020202020204" charset="0"/>
                        <a:cs typeface="Calibri" panose="020F0502020204030204" pitchFamily="34" charset="0"/>
                      </a:endParaRPr>
                    </a:p>
                    <a:p>
                      <a:pPr algn="ctr">
                        <a:lnSpc>
                          <a:spcPct val="100000"/>
                        </a:lnSpc>
                      </a:pPr>
                      <a:r>
                        <a:rPr lang="en-US" sz="2000" kern="1200" dirty="0">
                          <a:solidFill>
                            <a:srgbClr val="FFC000"/>
                          </a:solidFill>
                          <a:latin typeface="Glacial Indifference" panose="020B0604020202020204" charset="0"/>
                          <a:ea typeface="+mn-ea"/>
                          <a:cs typeface="+mn-cs"/>
                        </a:rPr>
                        <a:t>Complete Source code is found in the following GitHub location: </a:t>
                      </a:r>
                    </a:p>
                    <a:p>
                      <a:pPr marL="0" marR="0" lvl="0" indent="0" algn="ctr" defTabSz="914400" rtl="0" eaLnBrk="1" fontAlgn="auto" latinLnBrk="0" hangingPunct="1">
                        <a:lnSpc>
                          <a:spcPct val="100000"/>
                        </a:lnSpc>
                        <a:spcBef>
                          <a:spcPts val="0"/>
                        </a:spcBef>
                        <a:spcAft>
                          <a:spcPts val="0"/>
                        </a:spcAft>
                        <a:buClrTx/>
                        <a:buSzTx/>
                        <a:buFontTx/>
                        <a:buNone/>
                        <a:tabLst/>
                        <a:defRPr/>
                      </a:pPr>
                      <a:br>
                        <a:rPr lang="en-US" sz="2000" kern="0" dirty="0">
                          <a:effectLst/>
                          <a:latin typeface="Glacial Indifference" panose="020B0604020202020204" charset="0"/>
                          <a:cs typeface="Calibri" panose="020F0502020204030204" pitchFamily="34" charset="0"/>
                        </a:rPr>
                      </a:br>
                      <a:r>
                        <a:rPr lang="en-US" sz="1800" kern="0" dirty="0">
                          <a:solidFill>
                            <a:schemeClr val="bg2"/>
                          </a:solidFill>
                          <a:effectLst/>
                          <a:latin typeface="Glacial Indifference" panose="020B0604020202020204" charset="0"/>
                          <a:hlinkClick r:id="rId2">
                            <a:extLst>
                              <a:ext uri="{A12FA001-AC4F-418D-AE19-62706E023703}">
                                <ahyp:hlinkClr xmlns:ahyp="http://schemas.microsoft.com/office/drawing/2018/hyperlinkcolor" val="tx"/>
                              </a:ext>
                            </a:extLst>
                          </a:hlinkClick>
                        </a:rPr>
                        <a:t>https://github.com/monalikaghosh7/IPL-Data-Analysis/tree/main</a:t>
                      </a:r>
                      <a:endParaRPr lang="en-US" sz="1800" kern="0" dirty="0">
                        <a:solidFill>
                          <a:schemeClr val="bg2"/>
                        </a:solidFill>
                        <a:effectLst/>
                        <a:latin typeface="Glacial Indifference" panose="020B0604020202020204" charset="0"/>
                      </a:endParaRPr>
                    </a:p>
                    <a:p>
                      <a:pPr algn="ctr">
                        <a:lnSpc>
                          <a:spcPct val="100000"/>
                        </a:lnSpc>
                      </a:pPr>
                      <a:endParaRPr lang="en-US" sz="1800" kern="100" dirty="0">
                        <a:solidFill>
                          <a:schemeClr val="bg1"/>
                        </a:solidFill>
                        <a:effectLst/>
                        <a:latin typeface="Glacial Indifference" panose="020B0604020202020204" charset="0"/>
                        <a:cs typeface="Calibri" panose="020F0502020204030204" pitchFamily="34" charset="0"/>
                      </a:endParaRPr>
                    </a:p>
                    <a:p>
                      <a:pPr algn="ctr">
                        <a:lnSpc>
                          <a:spcPct val="100000"/>
                        </a:lnSpc>
                      </a:pPr>
                      <a:endParaRPr lang="en-SG" sz="2000" kern="100" dirty="0">
                        <a:solidFill>
                          <a:srgbClr val="000000"/>
                        </a:solidFill>
                        <a:effectLst/>
                        <a:latin typeface="Glacial Indifference" panose="020B0604020202020204" charset="0"/>
                        <a:ea typeface="Times New Roman" panose="02020603050405020304" pitchFamily="18" charset="0"/>
                        <a:cs typeface="Calibri" panose="020F0502020204030204" pitchFamily="34" charset="0"/>
                      </a:endParaRPr>
                    </a:p>
                  </a:txBody>
                  <a:tcPr marL="68580" marR="68580" marT="0" marB="0">
                    <a:solidFill>
                      <a:srgbClr val="57B6B7">
                        <a:alpha val="56000"/>
                      </a:srgbClr>
                    </a:solidFill>
                  </a:tcPr>
                </a:tc>
                <a:extLst>
                  <a:ext uri="{0D108BD9-81ED-4DB2-BD59-A6C34878D82A}">
                    <a16:rowId xmlns:a16="http://schemas.microsoft.com/office/drawing/2014/main" val="1048734433"/>
                  </a:ext>
                </a:extLst>
              </a:tr>
            </a:tbl>
          </a:graphicData>
        </a:graphic>
      </p:graphicFrame>
      <p:sp>
        <p:nvSpPr>
          <p:cNvPr id="13" name="TextBox 12">
            <a:extLst>
              <a:ext uri="{FF2B5EF4-FFF2-40B4-BE49-F238E27FC236}">
                <a16:creationId xmlns:a16="http://schemas.microsoft.com/office/drawing/2014/main" id="{94CAA199-1D3C-C99F-7442-4BE4E9D539C2}"/>
              </a:ext>
            </a:extLst>
          </p:cNvPr>
          <p:cNvSpPr txBox="1"/>
          <p:nvPr/>
        </p:nvSpPr>
        <p:spPr>
          <a:xfrm>
            <a:off x="1137739" y="941573"/>
            <a:ext cx="5535114" cy="523220"/>
          </a:xfrm>
          <a:prstGeom prst="rect">
            <a:avLst/>
          </a:prstGeom>
          <a:noFill/>
        </p:spPr>
        <p:txBody>
          <a:bodyPr wrap="square" rtlCol="0">
            <a:spAutoFit/>
          </a:bodyPr>
          <a:lstStyle/>
          <a:p>
            <a:r>
              <a:rPr lang="en-US" sz="2800" dirty="0">
                <a:solidFill>
                  <a:srgbClr val="FFC000"/>
                </a:solidFill>
                <a:latin typeface="Glacial Indifference" panose="020B0604020202020204" charset="0"/>
              </a:rPr>
              <a:t>Books and Publications</a:t>
            </a:r>
            <a:endParaRPr lang="en-SG" sz="2800" dirty="0">
              <a:solidFill>
                <a:srgbClr val="FFC000"/>
              </a:solidFill>
              <a:latin typeface="Glacial Indifference" panose="020B0604020202020204" charset="0"/>
            </a:endParaRPr>
          </a:p>
        </p:txBody>
      </p:sp>
      <p:sp>
        <p:nvSpPr>
          <p:cNvPr id="14" name="TextBox 13">
            <a:extLst>
              <a:ext uri="{FF2B5EF4-FFF2-40B4-BE49-F238E27FC236}">
                <a16:creationId xmlns:a16="http://schemas.microsoft.com/office/drawing/2014/main" id="{FC1765E1-400A-D966-0001-903EF66D7036}"/>
              </a:ext>
            </a:extLst>
          </p:cNvPr>
          <p:cNvSpPr txBox="1"/>
          <p:nvPr/>
        </p:nvSpPr>
        <p:spPr>
          <a:xfrm>
            <a:off x="883932" y="1427641"/>
            <a:ext cx="15392745" cy="8125301"/>
          </a:xfrm>
          <a:prstGeom prst="rect">
            <a:avLst/>
          </a:prstGeom>
          <a:noFill/>
        </p:spPr>
        <p:txBody>
          <a:bodyPr wrap="square">
            <a:spAutoFit/>
          </a:bodyPr>
          <a:lstStyle/>
          <a:p>
            <a:r>
              <a:rPr lang="en-US" dirty="0">
                <a:solidFill>
                  <a:schemeClr val="bg2"/>
                </a:solidFill>
                <a:effectLst/>
                <a:latin typeface="Glacial Indifference Bold" panose="020B0604020202020204" charset="0"/>
                <a:ea typeface="Times New Roman" panose="02020603050405020304" pitchFamily="18" charset="0"/>
              </a:rPr>
              <a:t>[1]. Daniel </a:t>
            </a:r>
            <a:r>
              <a:rPr lang="en-US" dirty="0" err="1">
                <a:solidFill>
                  <a:schemeClr val="bg2"/>
                </a:solidFill>
                <a:effectLst/>
                <a:latin typeface="Glacial Indifference Bold" panose="020B0604020202020204" charset="0"/>
                <a:ea typeface="Times New Roman" panose="02020603050405020304" pitchFamily="18" charset="0"/>
              </a:rPr>
              <a:t>MagoVistro</a:t>
            </a:r>
            <a:r>
              <a:rPr lang="en-US" dirty="0">
                <a:solidFill>
                  <a:schemeClr val="bg2"/>
                </a:solidFill>
                <a:effectLst/>
                <a:latin typeface="Glacial Indifference Bold" panose="020B0604020202020204" charset="0"/>
                <a:ea typeface="Times New Roman" panose="02020603050405020304" pitchFamily="18" charset="0"/>
              </a:rPr>
              <a:t>, Faizan Rasheed, Leo Gertrude David, “</a:t>
            </a:r>
            <a:r>
              <a:rPr lang="en-US" i="1" dirty="0">
                <a:solidFill>
                  <a:schemeClr val="bg2"/>
                </a:solidFill>
                <a:effectLst/>
                <a:latin typeface="Glacial Indifference Bold" panose="020B0604020202020204" charset="0"/>
                <a:ea typeface="Times New Roman" panose="02020603050405020304" pitchFamily="18" charset="0"/>
              </a:rPr>
              <a:t>The Cricket Winner Prediction With Application of Machine Learning And Data Analytics</a:t>
            </a:r>
            <a:r>
              <a:rPr lang="en-US" dirty="0">
                <a:solidFill>
                  <a:schemeClr val="bg2"/>
                </a:solidFill>
                <a:effectLst/>
                <a:latin typeface="Glacial Indifference Bold" panose="020B0604020202020204" charset="0"/>
                <a:ea typeface="Times New Roman" panose="02020603050405020304" pitchFamily="18" charset="0"/>
              </a:rPr>
              <a:t>” International Journal of Scientific &amp; Technology Research (2019) </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[2]. Madan Gopal </a:t>
            </a:r>
            <a:r>
              <a:rPr lang="en-US" dirty="0" err="1">
                <a:solidFill>
                  <a:schemeClr val="bg2"/>
                </a:solidFill>
                <a:effectLst/>
                <a:latin typeface="Glacial Indifference Bold" panose="020B0604020202020204" charset="0"/>
                <a:ea typeface="Times New Roman" panose="02020603050405020304" pitchFamily="18" charset="0"/>
              </a:rPr>
              <a:t>Jhanwar</a:t>
            </a:r>
            <a:r>
              <a:rPr lang="en-US" dirty="0">
                <a:solidFill>
                  <a:schemeClr val="bg2"/>
                </a:solidFill>
                <a:effectLst/>
                <a:latin typeface="Glacial Indifference Bold" panose="020B0604020202020204" charset="0"/>
                <a:ea typeface="Times New Roman" panose="02020603050405020304" pitchFamily="18" charset="0"/>
              </a:rPr>
              <a:t> and </a:t>
            </a:r>
            <a:r>
              <a:rPr lang="en-US" dirty="0" err="1">
                <a:solidFill>
                  <a:schemeClr val="bg2"/>
                </a:solidFill>
                <a:effectLst/>
                <a:latin typeface="Glacial Indifference Bold" panose="020B0604020202020204" charset="0"/>
                <a:ea typeface="Times New Roman" panose="02020603050405020304" pitchFamily="18" charset="0"/>
              </a:rPr>
              <a:t>VikramPudi</a:t>
            </a:r>
            <a:r>
              <a:rPr lang="en-US" dirty="0">
                <a:solidFill>
                  <a:schemeClr val="bg2"/>
                </a:solidFill>
                <a:effectLst/>
                <a:latin typeface="Glacial Indifference Bold" panose="020B0604020202020204" charset="0"/>
                <a:ea typeface="Times New Roman" panose="02020603050405020304" pitchFamily="18" charset="0"/>
              </a:rPr>
              <a:t>, “</a:t>
            </a:r>
            <a:r>
              <a:rPr lang="en-US" i="1" dirty="0">
                <a:solidFill>
                  <a:schemeClr val="bg2"/>
                </a:solidFill>
                <a:effectLst/>
                <a:latin typeface="Glacial Indifference Bold" panose="020B0604020202020204" charset="0"/>
                <a:ea typeface="Times New Roman" panose="02020603050405020304" pitchFamily="18" charset="0"/>
              </a:rPr>
              <a:t>Predicting the Outcome of ODI Cricket Matches: A Team Composition Based Approach</a:t>
            </a:r>
            <a:r>
              <a:rPr lang="en-US" dirty="0">
                <a:solidFill>
                  <a:schemeClr val="bg2"/>
                </a:solidFill>
                <a:effectLst/>
                <a:latin typeface="Glacial Indifference Bold" panose="020B0604020202020204" charset="0"/>
                <a:ea typeface="Times New Roman" panose="02020603050405020304" pitchFamily="18" charset="0"/>
              </a:rPr>
              <a:t>” International Institution of Information Technology (2017)</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 [3]. I. P. </a:t>
            </a:r>
            <a:r>
              <a:rPr lang="en-US" dirty="0" err="1">
                <a:solidFill>
                  <a:schemeClr val="bg2"/>
                </a:solidFill>
                <a:effectLst/>
                <a:latin typeface="Glacial Indifference Bold" panose="020B0604020202020204" charset="0"/>
                <a:ea typeface="Times New Roman" panose="02020603050405020304" pitchFamily="18" charset="0"/>
              </a:rPr>
              <a:t>Wickramasingheet</a:t>
            </a:r>
            <a:r>
              <a:rPr lang="en-US" dirty="0">
                <a:solidFill>
                  <a:schemeClr val="bg2"/>
                </a:solidFill>
                <a:effectLst/>
                <a:latin typeface="Glacial Indifference Bold" panose="020B0604020202020204" charset="0"/>
                <a:ea typeface="Times New Roman" panose="02020603050405020304" pitchFamily="18" charset="0"/>
              </a:rPr>
              <a:t>. al, </a:t>
            </a:r>
            <a:r>
              <a:rPr lang="en-US" i="1" dirty="0">
                <a:solidFill>
                  <a:schemeClr val="bg2"/>
                </a:solidFill>
                <a:effectLst/>
                <a:latin typeface="Glacial Indifference Bold" panose="020B0604020202020204" charset="0"/>
                <a:ea typeface="Times New Roman" panose="02020603050405020304" pitchFamily="18" charset="0"/>
              </a:rPr>
              <a:t>"Predicting the performance of batsmen in test cricket," Journal of Human Sport &amp; Exercise</a:t>
            </a:r>
            <a:r>
              <a:rPr lang="en-US" dirty="0">
                <a:solidFill>
                  <a:schemeClr val="bg2"/>
                </a:solidFill>
                <a:effectLst/>
                <a:latin typeface="Glacial Indifference Bold" panose="020B0604020202020204" charset="0"/>
                <a:ea typeface="Times New Roman" panose="02020603050405020304" pitchFamily="18" charset="0"/>
              </a:rPr>
              <a:t>”, vol. 9, no. 4, pp. (2017)</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 [4]. R. P. Schumaker, O. K. </a:t>
            </a:r>
            <a:r>
              <a:rPr lang="en-US" dirty="0" err="1">
                <a:solidFill>
                  <a:schemeClr val="bg2"/>
                </a:solidFill>
                <a:effectLst/>
                <a:latin typeface="Glacial Indifference Bold" panose="020B0604020202020204" charset="0"/>
                <a:ea typeface="Times New Roman" panose="02020603050405020304" pitchFamily="18" charset="0"/>
              </a:rPr>
              <a:t>Solieman</a:t>
            </a:r>
            <a:r>
              <a:rPr lang="en-US" dirty="0">
                <a:solidFill>
                  <a:schemeClr val="bg2"/>
                </a:solidFill>
                <a:effectLst/>
                <a:latin typeface="Glacial Indifference Bold" panose="020B0604020202020204" charset="0"/>
                <a:ea typeface="Times New Roman" panose="02020603050405020304" pitchFamily="18" charset="0"/>
              </a:rPr>
              <a:t> and H. Chen, "</a:t>
            </a:r>
            <a:r>
              <a:rPr lang="en-US" i="1" dirty="0">
                <a:solidFill>
                  <a:schemeClr val="bg2"/>
                </a:solidFill>
                <a:effectLst/>
                <a:latin typeface="Glacial Indifference Bold" panose="020B0604020202020204" charset="0"/>
                <a:ea typeface="Times New Roman" panose="02020603050405020304" pitchFamily="18" charset="0"/>
              </a:rPr>
              <a:t>Predictive Modeling for Sports and Gaming</a:t>
            </a:r>
            <a:r>
              <a:rPr lang="en-US" dirty="0">
                <a:solidFill>
                  <a:schemeClr val="bg2"/>
                </a:solidFill>
                <a:effectLst/>
                <a:latin typeface="Glacial Indifference Bold" panose="020B0604020202020204" charset="0"/>
                <a:ea typeface="Times New Roman" panose="02020603050405020304" pitchFamily="18" charset="0"/>
              </a:rPr>
              <a:t>” in Sports Data Mining, vol. 26, Boston, Massachusetts: Springer, (2016) </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[5]. J. McCullagh, "</a:t>
            </a:r>
            <a:r>
              <a:rPr lang="en-US" i="1" dirty="0">
                <a:solidFill>
                  <a:schemeClr val="bg2"/>
                </a:solidFill>
                <a:effectLst/>
                <a:latin typeface="Glacial Indifference Bold" panose="020B0604020202020204" charset="0"/>
                <a:ea typeface="Times New Roman" panose="02020603050405020304" pitchFamily="18" charset="0"/>
              </a:rPr>
              <a:t>Data Mining in Sport: A Neural Network Approach</a:t>
            </a:r>
            <a:r>
              <a:rPr lang="en-US" dirty="0">
                <a:solidFill>
                  <a:schemeClr val="bg2"/>
                </a:solidFill>
                <a:effectLst/>
                <a:latin typeface="Glacial Indifference Bold" panose="020B0604020202020204" charset="0"/>
                <a:ea typeface="Times New Roman" panose="02020603050405020304" pitchFamily="18" charset="0"/>
              </a:rPr>
              <a:t>," International Journal of Sports Science and Engineering, vol. 4, no. 3 (2016)</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 [6]. Bunker, Rory &amp;</a:t>
            </a:r>
            <a:r>
              <a:rPr lang="en-US" dirty="0" err="1">
                <a:solidFill>
                  <a:schemeClr val="bg2"/>
                </a:solidFill>
                <a:effectLst/>
                <a:latin typeface="Glacial Indifference Bold" panose="020B0604020202020204" charset="0"/>
                <a:ea typeface="Times New Roman" panose="02020603050405020304" pitchFamily="18" charset="0"/>
              </a:rPr>
              <a:t>Thabtah</a:t>
            </a:r>
            <a:r>
              <a:rPr lang="en-US" dirty="0">
                <a:solidFill>
                  <a:schemeClr val="bg2"/>
                </a:solidFill>
                <a:effectLst/>
                <a:latin typeface="Glacial Indifference Bold" panose="020B0604020202020204" charset="0"/>
                <a:ea typeface="Times New Roman" panose="02020603050405020304" pitchFamily="18" charset="0"/>
              </a:rPr>
              <a:t>, Fadi. “</a:t>
            </a:r>
            <a:r>
              <a:rPr lang="en-US" i="1" dirty="0">
                <a:solidFill>
                  <a:schemeClr val="bg2"/>
                </a:solidFill>
                <a:effectLst/>
                <a:latin typeface="Glacial Indifference Bold" panose="020B0604020202020204" charset="0"/>
                <a:ea typeface="Times New Roman" panose="02020603050405020304" pitchFamily="18" charset="0"/>
              </a:rPr>
              <a:t>A Machine Learning Framework for Sport Result Prediction. Applied Computing and Informatics</a:t>
            </a:r>
            <a:r>
              <a:rPr lang="en-US" dirty="0">
                <a:solidFill>
                  <a:schemeClr val="bg2"/>
                </a:solidFill>
                <a:effectLst/>
                <a:latin typeface="Glacial Indifference Bold" panose="020B0604020202020204" charset="0"/>
                <a:ea typeface="Times New Roman" panose="02020603050405020304" pitchFamily="18" charset="0"/>
              </a:rPr>
              <a:t>”. (2017) </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[7] Kulkarni, V. &amp; Sinha, P., n.d. Effective Learning and Classification using Random Forest Algorithm. International Journal of Engineering and Innovative Technology (IJEIT).</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 [8] </a:t>
            </a:r>
            <a:r>
              <a:rPr lang="en-US" dirty="0" err="1">
                <a:solidFill>
                  <a:schemeClr val="bg2"/>
                </a:solidFill>
                <a:effectLst/>
                <a:latin typeface="Glacial Indifference Bold" panose="020B0604020202020204" charset="0"/>
                <a:ea typeface="Times New Roman" panose="02020603050405020304" pitchFamily="18" charset="0"/>
              </a:rPr>
              <a:t>Lokhande</a:t>
            </a:r>
            <a:r>
              <a:rPr lang="en-US" dirty="0">
                <a:solidFill>
                  <a:schemeClr val="bg2"/>
                </a:solidFill>
                <a:effectLst/>
                <a:latin typeface="Glacial Indifference Bold" panose="020B0604020202020204" charset="0"/>
                <a:ea typeface="Times New Roman" panose="02020603050405020304" pitchFamily="18" charset="0"/>
              </a:rPr>
              <a:t>, A., </a:t>
            </a:r>
            <a:r>
              <a:rPr lang="en-US" dirty="0" err="1">
                <a:solidFill>
                  <a:schemeClr val="bg2"/>
                </a:solidFill>
                <a:effectLst/>
                <a:latin typeface="Glacial Indifference Bold" panose="020B0604020202020204" charset="0"/>
                <a:ea typeface="Times New Roman" panose="02020603050405020304" pitchFamily="18" charset="0"/>
              </a:rPr>
              <a:t>Chawan</a:t>
            </a:r>
            <a:r>
              <a:rPr lang="en-US" dirty="0">
                <a:solidFill>
                  <a:schemeClr val="bg2"/>
                </a:solidFill>
                <a:effectLst/>
                <a:latin typeface="Glacial Indifference Bold" panose="020B0604020202020204" charset="0"/>
                <a:ea typeface="Times New Roman" panose="02020603050405020304" pitchFamily="18" charset="0"/>
              </a:rPr>
              <a:t>, R. &amp;. &amp;Pramila&amp;, S., 2018. Prediction of Live Cricket Score and Winning. Computer and IT Dept, </a:t>
            </a:r>
            <a:r>
              <a:rPr lang="en-US" dirty="0" err="1">
                <a:solidFill>
                  <a:schemeClr val="bg2"/>
                </a:solidFill>
                <a:effectLst/>
                <a:latin typeface="Glacial Indifference Bold" panose="020B0604020202020204" charset="0"/>
                <a:ea typeface="Times New Roman" panose="02020603050405020304" pitchFamily="18" charset="0"/>
              </a:rPr>
              <a:t>VeermataJeejabai</a:t>
            </a:r>
            <a:r>
              <a:rPr lang="en-US" dirty="0">
                <a:solidFill>
                  <a:schemeClr val="bg2"/>
                </a:solidFill>
                <a:effectLst/>
                <a:latin typeface="Glacial Indifference Bold" panose="020B0604020202020204" charset="0"/>
                <a:ea typeface="Times New Roman" panose="02020603050405020304" pitchFamily="18" charset="0"/>
              </a:rPr>
              <a:t> Technological Institute, Mumbai, India, 5(4)(2394-9333).</a:t>
            </a:r>
          </a:p>
          <a:p>
            <a:r>
              <a:rPr lang="en-US" dirty="0">
                <a:solidFill>
                  <a:schemeClr val="bg2"/>
                </a:solidFill>
                <a:effectLst/>
                <a:latin typeface="Glacial Indifference Bold" panose="020B0604020202020204" charset="0"/>
                <a:ea typeface="Times New Roman" panose="02020603050405020304" pitchFamily="18" charset="0"/>
              </a:rPr>
              <a:t> </a:t>
            </a:r>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[9] Mitchel, M. T., 1997. Machine learning. Burr Ridge, IL: McGraw Hill, 45, 1997.</a:t>
            </a:r>
          </a:p>
          <a:p>
            <a:endParaRPr lang="en-IN" dirty="0">
              <a:solidFill>
                <a:schemeClr val="bg2"/>
              </a:solidFill>
              <a:effectLst/>
              <a:latin typeface="Glacial Indifference Bold" panose="020B0604020202020204" charset="0"/>
              <a:ea typeface="Times New Roman" panose="02020603050405020304" pitchFamily="18" charset="0"/>
            </a:endParaRPr>
          </a:p>
          <a:p>
            <a:r>
              <a:rPr lang="en-US" dirty="0">
                <a:solidFill>
                  <a:schemeClr val="bg2"/>
                </a:solidFill>
                <a:effectLst/>
                <a:latin typeface="Glacial Indifference Bold" panose="020B0604020202020204" charset="0"/>
                <a:ea typeface="Times New Roman" panose="02020603050405020304" pitchFamily="18" charset="0"/>
              </a:rPr>
              <a:t> [10] Murphy, K. P., 2006. Naive bayes classifiers. University of British Columbia</a:t>
            </a:r>
            <a:r>
              <a:rPr lang="en-US" dirty="0">
                <a:solidFill>
                  <a:srgbClr val="6BD4CD"/>
                </a:solidFill>
                <a:effectLst/>
                <a:latin typeface="Glacial Indifference Bold" panose="020B0604020202020204" charset="0"/>
                <a:ea typeface="Times New Roman" panose="02020603050405020304" pitchFamily="18" charset="0"/>
              </a:rPr>
              <a:t>.</a:t>
            </a:r>
          </a:p>
          <a:p>
            <a:r>
              <a:rPr lang="en-US" dirty="0">
                <a:solidFill>
                  <a:srgbClr val="6BD4CD"/>
                </a:solidFill>
                <a:effectLst/>
                <a:latin typeface="Glacial Indifference Bold" panose="020B0604020202020204" charset="0"/>
                <a:ea typeface="Times New Roman" panose="02020603050405020304" pitchFamily="18" charset="0"/>
              </a:rPr>
              <a:t> </a:t>
            </a:r>
            <a:endParaRPr lang="en-IN" dirty="0">
              <a:solidFill>
                <a:srgbClr val="6BD4CD"/>
              </a:solidFill>
              <a:effectLst/>
              <a:latin typeface="Glacial Indifference Bold" panose="020B0604020202020204" charset="0"/>
              <a:ea typeface="Times New Roman" panose="02020603050405020304" pitchFamily="18" charset="0"/>
            </a:endParaRPr>
          </a:p>
          <a:p>
            <a:endParaRPr lang="en-IN" sz="1800" dirty="0">
              <a:solidFill>
                <a:srgbClr val="6BD4CD"/>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3857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0B9E-E943-DAEF-4185-4BE39A7F0ABA}"/>
              </a:ext>
            </a:extLst>
          </p:cNvPr>
          <p:cNvSpPr>
            <a:spLocks noGrp="1"/>
          </p:cNvSpPr>
          <p:nvPr>
            <p:ph type="ctrTitle"/>
          </p:nvPr>
        </p:nvSpPr>
        <p:spPr>
          <a:xfrm>
            <a:off x="5257800" y="4408487"/>
            <a:ext cx="7772400" cy="1470025"/>
          </a:xfrm>
        </p:spPr>
        <p:txBody>
          <a:bodyPr>
            <a:normAutofit/>
          </a:bodyPr>
          <a:lstStyle/>
          <a:p>
            <a:r>
              <a:rPr lang="en-US" sz="7200" dirty="0"/>
              <a:t>THANK YOU</a:t>
            </a:r>
            <a:endParaRPr lang="en-SG" sz="7200" dirty="0"/>
          </a:p>
        </p:txBody>
      </p:sp>
      <p:pic>
        <p:nvPicPr>
          <p:cNvPr id="4" name="Picture 3">
            <a:extLst>
              <a:ext uri="{FF2B5EF4-FFF2-40B4-BE49-F238E27FC236}">
                <a16:creationId xmlns:a16="http://schemas.microsoft.com/office/drawing/2014/main" id="{2B876F8F-E192-79DF-98A3-1CEA957B7D2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4325600" y="0"/>
            <a:ext cx="3810000" cy="3810000"/>
          </a:xfrm>
          <a:prstGeom prst="rect">
            <a:avLst/>
          </a:prstGeom>
        </p:spPr>
      </p:pic>
    </p:spTree>
    <p:extLst>
      <p:ext uri="{BB962C8B-B14F-4D97-AF65-F5344CB8AC3E}">
        <p14:creationId xmlns:p14="http://schemas.microsoft.com/office/powerpoint/2010/main" val="548186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2101</TotalTime>
  <Words>3299</Words>
  <Application>Microsoft Office PowerPoint</Application>
  <PresentationFormat>Custom</PresentationFormat>
  <Paragraphs>400</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Wingdings</vt:lpstr>
      <vt:lpstr>Times New Roman</vt:lpstr>
      <vt:lpstr>Wingdings 3</vt:lpstr>
      <vt:lpstr>Calibri</vt:lpstr>
      <vt:lpstr>Arial</vt:lpstr>
      <vt:lpstr>Roboto Slab</vt:lpstr>
      <vt:lpstr>Glacial Indifference Bold</vt:lpstr>
      <vt:lpstr>Glacial Indifference</vt:lpstr>
      <vt:lpstr>Office Theme</vt:lpstr>
      <vt:lpstr>PowerPoint Presentation</vt:lpstr>
      <vt:lpstr> CRICKET DATA ANALYSIS PROJECT USING WEB SCRAPING, PYTHON, PANDAS &amp; POWER-BI</vt:lpstr>
      <vt:lpstr>CONTENTS</vt:lpstr>
      <vt:lpstr>ABSTRACT</vt:lpstr>
      <vt:lpstr>INTRODUCTION</vt:lpstr>
      <vt:lpstr>INTRODUCTION</vt:lpstr>
      <vt:lpstr>PROJECT SCOPE</vt:lpstr>
      <vt:lpstr>PROJECT SCOPE</vt:lpstr>
      <vt:lpstr>UML Diagram </vt:lpstr>
      <vt:lpstr>FEATURES</vt:lpstr>
      <vt:lpstr>FEATURES</vt:lpstr>
      <vt:lpstr>MODULE DESCRIPTION</vt:lpstr>
      <vt:lpstr>MODULE DESCRIPTION</vt:lpstr>
      <vt:lpstr>MODULE DESCRIPTION</vt:lpstr>
      <vt:lpstr>MODULE DESCRIPTION</vt:lpstr>
      <vt:lpstr>SYSTEM REQUIREMENTS</vt:lpstr>
      <vt:lpstr>PowerPoint Presentation</vt:lpstr>
      <vt:lpstr>PROPOSED SYSTEM</vt:lpstr>
      <vt:lpstr>DFD DIAGRAM- POWER BI</vt:lpstr>
      <vt:lpstr>OUTPUT SCREENSHOTS- Visualization of Batters data</vt:lpstr>
      <vt:lpstr>OUTPUT SCREENSHOTS- Visualization of Bowlers data</vt:lpstr>
      <vt:lpstr>OUTPUT SCREENSHOTS- Visualization of allrounders data</vt:lpstr>
      <vt:lpstr>OUTPUT SCREENSHOTS- Visualization of Keepers data</vt:lpstr>
      <vt:lpstr>OUTPUT SCREENSHOTS - Formulating the Best XI </vt:lpstr>
      <vt:lpstr>OUTPUT SCREENSHOTS- Formulating the Best XI</vt:lpstr>
      <vt:lpstr>OUTPUT SCREENSHOTS</vt:lpstr>
      <vt:lpstr>SOURCE CODE – GITHUB LOCATION</vt:lpstr>
      <vt:lpstr>CONCLUSION</vt:lpstr>
      <vt:lpstr>FUTURE ENHANCEMENTS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Aadhan Navilan</dc:creator>
  <cp:lastModifiedBy>Monalika Ghosh</cp:lastModifiedBy>
  <cp:revision>119</cp:revision>
  <dcterms:created xsi:type="dcterms:W3CDTF">2006-08-16T00:00:00Z</dcterms:created>
  <dcterms:modified xsi:type="dcterms:W3CDTF">2025-01-11T14:44:42Z</dcterms:modified>
  <dc:identifier>DAF3HU4MsMc</dc:identifier>
</cp:coreProperties>
</file>